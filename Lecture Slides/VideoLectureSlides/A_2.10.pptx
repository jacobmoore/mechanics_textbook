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0"/>
  </p:notesMasterIdLst>
  <p:sldIdLst>
    <p:sldId id="256" r:id="rId5"/>
    <p:sldId id="312" r:id="rId6"/>
    <p:sldId id="316" r:id="rId7"/>
    <p:sldId id="313" r:id="rId8"/>
    <p:sldId id="317" r:id="rId9"/>
    <p:sldId id="333" r:id="rId10"/>
    <p:sldId id="315" r:id="rId11"/>
    <p:sldId id="320" r:id="rId12"/>
    <p:sldId id="322" r:id="rId13"/>
    <p:sldId id="337" r:id="rId14"/>
    <p:sldId id="287" r:id="rId15"/>
    <p:sldId id="338" r:id="rId16"/>
    <p:sldId id="339" r:id="rId17"/>
    <p:sldId id="340" r:id="rId18"/>
    <p:sldId id="34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D0D"/>
    <a:srgbClr val="DDDDDD"/>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56" autoAdjust="0"/>
    <p:restoredTop sz="54101" autoAdjust="0"/>
  </p:normalViewPr>
  <p:slideViewPr>
    <p:cSldViewPr snapToGrid="0">
      <p:cViewPr varScale="1">
        <p:scale>
          <a:sx n="74" d="100"/>
          <a:sy n="74" d="100"/>
        </p:scale>
        <p:origin x="2148" y="88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0" d="100"/>
          <a:sy n="70" d="100"/>
        </p:scale>
        <p:origin x="-329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A1AB63-216F-4D5B-8811-CCB935E98D4A}" type="datetimeFigureOut">
              <a:rPr lang="en-US" smtClean="0"/>
              <a:t>8/22/2025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8" name="Slide Number Placeholder 7"/>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71503E-B3EF-424C-B3CC-B319B8E34A61}" type="slidenum">
              <a:rPr lang="en-US" smtClean="0"/>
              <a:t>‹#›</a:t>
            </a:fld>
            <a:endParaRPr lang="en-US"/>
          </a:p>
        </p:txBody>
      </p:sp>
    </p:spTree>
    <p:extLst>
      <p:ext uri="{BB962C8B-B14F-4D97-AF65-F5344CB8AC3E}">
        <p14:creationId xmlns:p14="http://schemas.microsoft.com/office/powerpoint/2010/main" val="1919846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DDDDDD"/>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0"/>
            <a:ext cx="7772400" cy="1470025"/>
          </a:xfrm>
        </p:spPr>
        <p:txBody>
          <a:bodyPr/>
          <a:lstStyle>
            <a:lvl1pPr>
              <a:defRPr>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371600" y="3051175"/>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4" name="Picture 2" descr="Adaptive Map Logo">
            <a:extLst>
              <a:ext uri="{FF2B5EF4-FFF2-40B4-BE49-F238E27FC236}">
                <a16:creationId xmlns:a16="http://schemas.microsoft.com/office/drawing/2014/main" id="{47EE881C-8EE7-446C-91D5-BB734D80EE0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48000" y="5089525"/>
            <a:ext cx="3048000" cy="762000"/>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DEDE0CC1-27C1-4221-84FE-9FC7EEBDE843}"/>
              </a:ext>
            </a:extLst>
          </p:cNvPr>
          <p:cNvSpPr txBox="1">
            <a:spLocks/>
          </p:cNvSpPr>
          <p:nvPr userDrawn="1"/>
        </p:nvSpPr>
        <p:spPr>
          <a:xfrm>
            <a:off x="2019300" y="5943600"/>
            <a:ext cx="5105400" cy="762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2400" dirty="0"/>
              <a:t>mechanicsmap.psu.edu</a:t>
            </a:r>
          </a:p>
        </p:txBody>
      </p:sp>
    </p:spTree>
    <p:extLst>
      <p:ext uri="{BB962C8B-B14F-4D97-AF65-F5344CB8AC3E}">
        <p14:creationId xmlns:p14="http://schemas.microsoft.com/office/powerpoint/2010/main" val="250904800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accent1">
                    <a:lumMod val="50000"/>
                  </a:schemeClr>
                </a:solidFill>
              </a:defRPr>
            </a:lvl1pPr>
          </a:lstStyle>
          <a:p>
            <a:fld id="{929262FE-7F58-4A1E-8AF3-5A510A86DEBD}" type="slidenum">
              <a:rPr lang="en-US" smtClean="0"/>
              <a:t>‹#›</a:t>
            </a:fld>
            <a:endParaRPr lang="en-US"/>
          </a:p>
        </p:txBody>
      </p:sp>
    </p:spTree>
    <p:extLst>
      <p:ext uri="{BB962C8B-B14F-4D97-AF65-F5344CB8AC3E}">
        <p14:creationId xmlns:p14="http://schemas.microsoft.com/office/powerpoint/2010/main" val="744047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1643210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213380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4285172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124642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3085011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317707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7316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3085812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061013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262FE-7F58-4A1E-8AF3-5A510A86DEBD}" type="slidenum">
              <a:rPr lang="en-US" smtClean="0"/>
              <a:t>‹#›</a:t>
            </a:fld>
            <a:endParaRPr lang="en-US"/>
          </a:p>
        </p:txBody>
      </p:sp>
    </p:spTree>
    <p:extLst>
      <p:ext uri="{BB962C8B-B14F-4D97-AF65-F5344CB8AC3E}">
        <p14:creationId xmlns:p14="http://schemas.microsoft.com/office/powerpoint/2010/main" val="3784105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accent1">
              <a:lumMod val="50000"/>
            </a:schemeClr>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50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1">
              <a:lumMod val="50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1">
              <a:lumMod val="50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1">
              <a:lumMod val="50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accent1">
              <a:lumMod val="50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Mass Moments of Inertia via The Method of Composite Parts</a:t>
            </a:r>
          </a:p>
        </p:txBody>
      </p:sp>
      <p:sp>
        <p:nvSpPr>
          <p:cNvPr id="3" name="Subtitle 2"/>
          <p:cNvSpPr>
            <a:spLocks noGrp="1"/>
          </p:cNvSpPr>
          <p:nvPr>
            <p:ph type="subTitle" idx="1"/>
          </p:nvPr>
        </p:nvSpPr>
        <p:spPr/>
        <p:txBody>
          <a:bodyPr>
            <a:noAutofit/>
          </a:bodyPr>
          <a:lstStyle/>
          <a:p>
            <a:r>
              <a:rPr lang="en-US" sz="2400" dirty="0"/>
              <a:t>Dr. Jacob Moore</a:t>
            </a:r>
          </a:p>
          <a:p>
            <a:r>
              <a:rPr lang="en-US" sz="2400" dirty="0"/>
              <a:t>Associate Professor of Mechanical Engineering</a:t>
            </a:r>
          </a:p>
          <a:p>
            <a:r>
              <a:rPr lang="en-US" sz="2400" dirty="0"/>
              <a:t>Penn State Mont Alto</a:t>
            </a:r>
          </a:p>
        </p:txBody>
      </p:sp>
    </p:spTree>
    <p:extLst>
      <p:ext uri="{BB962C8B-B14F-4D97-AF65-F5344CB8AC3E}">
        <p14:creationId xmlns:p14="http://schemas.microsoft.com/office/powerpoint/2010/main" val="3080430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Finding Moments of Inertia for Composite Areas or Bodies</a:t>
            </a:r>
          </a:p>
        </p:txBody>
      </p:sp>
      <p:sp>
        <p:nvSpPr>
          <p:cNvPr id="3" name="Content Placeholder 2"/>
          <p:cNvSpPr>
            <a:spLocks noGrp="1"/>
          </p:cNvSpPr>
          <p:nvPr>
            <p:ph idx="1"/>
          </p:nvPr>
        </p:nvSpPr>
        <p:spPr/>
        <p:txBody>
          <a:bodyPr>
            <a:normAutofit fontScale="92500"/>
          </a:bodyPr>
          <a:lstStyle/>
          <a:p>
            <a:r>
              <a:rPr lang="en-US" dirty="0"/>
              <a:t>As an alternative to the use of integration for finding area or mass moments of inertia, we can use </a:t>
            </a:r>
            <a:r>
              <a:rPr lang="en-US" b="1" dirty="0"/>
              <a:t>lookup tables</a:t>
            </a:r>
            <a:r>
              <a:rPr lang="en-US" dirty="0"/>
              <a:t> along with the </a:t>
            </a:r>
            <a:r>
              <a:rPr lang="en-US" b="1" dirty="0"/>
              <a:t>parallel axis theorem</a:t>
            </a:r>
            <a:r>
              <a:rPr lang="en-US" dirty="0"/>
              <a:t> to find a </a:t>
            </a:r>
            <a:r>
              <a:rPr lang="en-US" b="1" dirty="0"/>
              <a:t>combined moment of inertia</a:t>
            </a:r>
            <a:r>
              <a:rPr lang="en-US" dirty="0"/>
              <a:t> for a composite body.</a:t>
            </a:r>
          </a:p>
          <a:p>
            <a:r>
              <a:rPr lang="en-US" dirty="0"/>
              <a:t>In this way, we can skip the integration, instead using the work of others as a shortcut.</a:t>
            </a:r>
          </a:p>
          <a:p>
            <a:r>
              <a:rPr lang="en-US" dirty="0"/>
              <a:t>This is similar to the method we used to find the centroid or center of mass of a composite body.</a:t>
            </a:r>
          </a:p>
        </p:txBody>
      </p:sp>
      <p:sp>
        <p:nvSpPr>
          <p:cNvPr id="4" name="Slide Number Placeholder 3"/>
          <p:cNvSpPr>
            <a:spLocks noGrp="1"/>
          </p:cNvSpPr>
          <p:nvPr>
            <p:ph type="sldNum" sz="quarter" idx="12"/>
          </p:nvPr>
        </p:nvSpPr>
        <p:spPr/>
        <p:txBody>
          <a:bodyPr/>
          <a:lstStyle/>
          <a:p>
            <a:fld id="{929262FE-7F58-4A1E-8AF3-5A510A86DEBD}" type="slidenum">
              <a:rPr lang="en-US" smtClean="0"/>
              <a:t>2</a:t>
            </a:fld>
            <a:endParaRPr lang="en-US"/>
          </a:p>
        </p:txBody>
      </p:sp>
    </p:spTree>
    <p:extLst>
      <p:ext uri="{BB962C8B-B14F-4D97-AF65-F5344CB8AC3E}">
        <p14:creationId xmlns:p14="http://schemas.microsoft.com/office/powerpoint/2010/main" val="549000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Finding Moments of Inertia for Composite Bodies or Areas</a:t>
            </a:r>
          </a:p>
        </p:txBody>
      </p:sp>
      <p:sp>
        <p:nvSpPr>
          <p:cNvPr id="3" name="Content Placeholder 2"/>
          <p:cNvSpPr>
            <a:spLocks noGrp="1"/>
          </p:cNvSpPr>
          <p:nvPr>
            <p:ph idx="1"/>
          </p:nvPr>
        </p:nvSpPr>
        <p:spPr/>
        <p:txBody>
          <a:bodyPr>
            <a:normAutofit fontScale="85000" lnSpcReduction="20000"/>
          </a:bodyPr>
          <a:lstStyle/>
          <a:p>
            <a:r>
              <a:rPr lang="en-US" dirty="0"/>
              <a:t>The overall process is as follows</a:t>
            </a:r>
          </a:p>
          <a:p>
            <a:endParaRPr lang="en-US" dirty="0"/>
          </a:p>
          <a:p>
            <a:pPr marL="514350" indent="-514350">
              <a:buFont typeface="+mj-lt"/>
              <a:buAutoNum type="arabicPeriod"/>
            </a:pPr>
            <a:r>
              <a:rPr lang="en-US" dirty="0"/>
              <a:t>Break the composite body down into simple shapes that are in the lookup tables.</a:t>
            </a:r>
          </a:p>
          <a:p>
            <a:pPr marL="514350" indent="-514350">
              <a:buFont typeface="+mj-lt"/>
              <a:buAutoNum type="arabicPeriod"/>
            </a:pPr>
            <a:r>
              <a:rPr lang="en-US" dirty="0"/>
              <a:t>Look up the moments of inertia for each individual shape using the moment of inertia tables.</a:t>
            </a:r>
          </a:p>
          <a:p>
            <a:pPr marL="514350" indent="-514350">
              <a:buFont typeface="+mj-lt"/>
              <a:buAutoNum type="arabicPeriod"/>
            </a:pPr>
            <a:r>
              <a:rPr lang="en-US" dirty="0"/>
              <a:t>Use the parallel axis theorem to adjust moments of inertia to the common origin point.</a:t>
            </a:r>
          </a:p>
          <a:p>
            <a:pPr marL="514350" indent="-514350">
              <a:buFont typeface="+mj-lt"/>
              <a:buAutoNum type="arabicPeriod"/>
            </a:pPr>
            <a:r>
              <a:rPr lang="en-US" dirty="0"/>
              <a:t>Add the adjusted moments of inertia together to find the overall moment of inertia for the combined shape.</a:t>
            </a:r>
          </a:p>
        </p:txBody>
      </p:sp>
      <p:sp>
        <p:nvSpPr>
          <p:cNvPr id="4" name="Slide Number Placeholder 3"/>
          <p:cNvSpPr>
            <a:spLocks noGrp="1"/>
          </p:cNvSpPr>
          <p:nvPr>
            <p:ph type="sldNum" sz="quarter" idx="12"/>
          </p:nvPr>
        </p:nvSpPr>
        <p:spPr/>
        <p:txBody>
          <a:bodyPr/>
          <a:lstStyle/>
          <a:p>
            <a:fld id="{929262FE-7F58-4A1E-8AF3-5A510A86DEBD}" type="slidenum">
              <a:rPr lang="en-US" smtClean="0"/>
              <a:t>3</a:t>
            </a:fld>
            <a:endParaRPr lang="en-US"/>
          </a:p>
        </p:txBody>
      </p:sp>
    </p:spTree>
    <p:extLst>
      <p:ext uri="{BB962C8B-B14F-4D97-AF65-F5344CB8AC3E}">
        <p14:creationId xmlns:p14="http://schemas.microsoft.com/office/powerpoint/2010/main" val="4161902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of Composite Parts</a:t>
            </a:r>
          </a:p>
        </p:txBody>
      </p:sp>
      <p:sp>
        <p:nvSpPr>
          <p:cNvPr id="3" name="Content Placeholder 2"/>
          <p:cNvSpPr>
            <a:spLocks noGrp="1"/>
          </p:cNvSpPr>
          <p:nvPr>
            <p:ph idx="1"/>
          </p:nvPr>
        </p:nvSpPr>
        <p:spPr>
          <a:xfrm>
            <a:off x="457200" y="1600200"/>
            <a:ext cx="4561840" cy="4983161"/>
          </a:xfrm>
        </p:spPr>
        <p:txBody>
          <a:bodyPr>
            <a:normAutofit fontScale="92500" lnSpcReduction="20000"/>
          </a:bodyPr>
          <a:lstStyle/>
          <a:p>
            <a:r>
              <a:rPr lang="en-US" dirty="0"/>
              <a:t>The first step in finding the combined moment of inertia, is to break our complex shape into simple shapes that are in our moment of inertia tables.</a:t>
            </a:r>
          </a:p>
          <a:p>
            <a:pPr lvl="1"/>
            <a:r>
              <a:rPr lang="en-US" dirty="0"/>
              <a:t>Holes or cutouts can be negative areas/masses </a:t>
            </a:r>
          </a:p>
          <a:p>
            <a:pPr lvl="1"/>
            <a:r>
              <a:rPr lang="en-US" dirty="0"/>
              <a:t>It is also useful to identify axes, and an origin point at this point to use in calculations</a:t>
            </a:r>
          </a:p>
        </p:txBody>
      </p:sp>
      <p:sp>
        <p:nvSpPr>
          <p:cNvPr id="4" name="Slide Number Placeholder 3"/>
          <p:cNvSpPr>
            <a:spLocks noGrp="1"/>
          </p:cNvSpPr>
          <p:nvPr>
            <p:ph type="sldNum" sz="quarter" idx="12"/>
          </p:nvPr>
        </p:nvSpPr>
        <p:spPr/>
        <p:txBody>
          <a:bodyPr/>
          <a:lstStyle/>
          <a:p>
            <a:fld id="{929262FE-7F58-4A1E-8AF3-5A510A86DEBD}" type="slidenum">
              <a:rPr lang="en-US" smtClean="0"/>
              <a:t>4</a:t>
            </a:fld>
            <a:endParaRPr lang="en-US"/>
          </a:p>
        </p:txBody>
      </p:sp>
      <p:grpSp>
        <p:nvGrpSpPr>
          <p:cNvPr id="30" name="Group 29">
            <a:extLst>
              <a:ext uri="{FF2B5EF4-FFF2-40B4-BE49-F238E27FC236}">
                <a16:creationId xmlns:a16="http://schemas.microsoft.com/office/drawing/2014/main" id="{1864883D-B218-7AAF-B4CE-BF478E513216}"/>
              </a:ext>
            </a:extLst>
          </p:cNvPr>
          <p:cNvGrpSpPr/>
          <p:nvPr/>
        </p:nvGrpSpPr>
        <p:grpSpPr>
          <a:xfrm>
            <a:off x="5215155" y="1416827"/>
            <a:ext cx="2743099" cy="4939523"/>
            <a:chOff x="5215155" y="1416827"/>
            <a:chExt cx="2743099" cy="4939523"/>
          </a:xfrm>
        </p:grpSpPr>
        <p:sp>
          <p:nvSpPr>
            <p:cNvPr id="18" name="Cylinder 17">
              <a:extLst>
                <a:ext uri="{FF2B5EF4-FFF2-40B4-BE49-F238E27FC236}">
                  <a16:creationId xmlns:a16="http://schemas.microsoft.com/office/drawing/2014/main" id="{F98B61F1-7A9C-1B9D-75A0-A0C4EA1EA248}"/>
                </a:ext>
              </a:extLst>
            </p:cNvPr>
            <p:cNvSpPr/>
            <p:nvPr/>
          </p:nvSpPr>
          <p:spPr>
            <a:xfrm>
              <a:off x="6553200" y="2061699"/>
              <a:ext cx="512957" cy="3929526"/>
            </a:xfrm>
            <a:prstGeom prst="can">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ube 18">
              <a:extLst>
                <a:ext uri="{FF2B5EF4-FFF2-40B4-BE49-F238E27FC236}">
                  <a16:creationId xmlns:a16="http://schemas.microsoft.com/office/drawing/2014/main" id="{7FD21A32-AE97-1A68-6A42-EACACCE313C1}"/>
                </a:ext>
              </a:extLst>
            </p:cNvPr>
            <p:cNvSpPr/>
            <p:nvPr/>
          </p:nvSpPr>
          <p:spPr>
            <a:xfrm>
              <a:off x="5661102" y="1841462"/>
              <a:ext cx="2297152" cy="1222413"/>
            </a:xfrm>
            <a:prstGeom prst="cub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F2E43A5-8C1C-240F-CC4D-09B9213F8972}"/>
                </a:ext>
              </a:extLst>
            </p:cNvPr>
            <p:cNvSpPr/>
            <p:nvPr/>
          </p:nvSpPr>
          <p:spPr>
            <a:xfrm>
              <a:off x="6553200" y="1882283"/>
              <a:ext cx="512957" cy="202717"/>
            </a:xfrm>
            <a:prstGeom prst="ellipse">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A9854076-9F45-20EC-8C32-4231D892AF87}"/>
                </a:ext>
              </a:extLst>
            </p:cNvPr>
            <p:cNvCxnSpPr/>
            <p:nvPr/>
          </p:nvCxnSpPr>
          <p:spPr>
            <a:xfrm>
              <a:off x="6772508" y="5931988"/>
              <a:ext cx="609600" cy="583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2724B5F0-FA57-9FD0-860B-A7525799EA58}"/>
                </a:ext>
              </a:extLst>
            </p:cNvPr>
            <p:cNvCxnSpPr/>
            <p:nvPr/>
          </p:nvCxnSpPr>
          <p:spPr>
            <a:xfrm flipV="1">
              <a:off x="6772508" y="5243186"/>
              <a:ext cx="0" cy="67266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DE6CAB83-4F56-F6D7-D801-C6085A7ABCBF}"/>
                </a:ext>
              </a:extLst>
            </p:cNvPr>
            <p:cNvSpPr txBox="1"/>
            <p:nvPr/>
          </p:nvSpPr>
          <p:spPr>
            <a:xfrm>
              <a:off x="7376116" y="5750239"/>
              <a:ext cx="338554" cy="369332"/>
            </a:xfrm>
            <a:prstGeom prst="rect">
              <a:avLst/>
            </a:prstGeom>
            <a:noFill/>
          </p:spPr>
          <p:txBody>
            <a:bodyPr wrap="none" rtlCol="0">
              <a:spAutoFit/>
            </a:bodyPr>
            <a:lstStyle/>
            <a:p>
              <a:r>
                <a:rPr lang="en-US" b="1" dirty="0"/>
                <a:t>X</a:t>
              </a:r>
              <a:endParaRPr lang="en-US" dirty="0"/>
            </a:p>
          </p:txBody>
        </p:sp>
        <p:sp>
          <p:nvSpPr>
            <p:cNvPr id="24" name="TextBox 23">
              <a:extLst>
                <a:ext uri="{FF2B5EF4-FFF2-40B4-BE49-F238E27FC236}">
                  <a16:creationId xmlns:a16="http://schemas.microsoft.com/office/drawing/2014/main" id="{56B29DE9-8AD6-766E-BE8B-DCF7E6BDE7B1}"/>
                </a:ext>
              </a:extLst>
            </p:cNvPr>
            <p:cNvSpPr txBox="1"/>
            <p:nvPr/>
          </p:nvSpPr>
          <p:spPr>
            <a:xfrm>
              <a:off x="6264677" y="5196241"/>
              <a:ext cx="338554" cy="369332"/>
            </a:xfrm>
            <a:prstGeom prst="rect">
              <a:avLst/>
            </a:prstGeom>
            <a:noFill/>
          </p:spPr>
          <p:txBody>
            <a:bodyPr wrap="none" rtlCol="0">
              <a:spAutoFit/>
            </a:bodyPr>
            <a:lstStyle/>
            <a:p>
              <a:r>
                <a:rPr lang="en-US" b="1" dirty="0"/>
                <a:t>Y</a:t>
              </a:r>
              <a:endParaRPr lang="en-US" dirty="0"/>
            </a:p>
          </p:txBody>
        </p:sp>
        <p:cxnSp>
          <p:nvCxnSpPr>
            <p:cNvPr id="25" name="Straight Arrow Connector 24">
              <a:extLst>
                <a:ext uri="{FF2B5EF4-FFF2-40B4-BE49-F238E27FC236}">
                  <a16:creationId xmlns:a16="http://schemas.microsoft.com/office/drawing/2014/main" id="{BBC48A13-0EB5-3D92-6D76-EF8A35A0A82F}"/>
                </a:ext>
              </a:extLst>
            </p:cNvPr>
            <p:cNvCxnSpPr>
              <a:cxnSpLocks/>
            </p:cNvCxnSpPr>
            <p:nvPr/>
          </p:nvCxnSpPr>
          <p:spPr>
            <a:xfrm flipH="1">
              <a:off x="6500025" y="5933761"/>
              <a:ext cx="272483" cy="2719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5732828B-E297-F07B-F91C-2ED6F8992F48}"/>
                </a:ext>
              </a:extLst>
            </p:cNvPr>
            <p:cNvSpPr txBox="1"/>
            <p:nvPr/>
          </p:nvSpPr>
          <p:spPr>
            <a:xfrm>
              <a:off x="6178164" y="5987018"/>
              <a:ext cx="295274" cy="369332"/>
            </a:xfrm>
            <a:prstGeom prst="rect">
              <a:avLst/>
            </a:prstGeom>
            <a:noFill/>
          </p:spPr>
          <p:txBody>
            <a:bodyPr wrap="none" rtlCol="0">
              <a:spAutoFit/>
            </a:bodyPr>
            <a:lstStyle/>
            <a:p>
              <a:r>
                <a:rPr lang="en-US" b="1" dirty="0"/>
                <a:t>Z</a:t>
              </a:r>
              <a:endParaRPr lang="en-US" dirty="0"/>
            </a:p>
          </p:txBody>
        </p:sp>
        <p:sp>
          <p:nvSpPr>
            <p:cNvPr id="27" name="TextBox 26">
              <a:extLst>
                <a:ext uri="{FF2B5EF4-FFF2-40B4-BE49-F238E27FC236}">
                  <a16:creationId xmlns:a16="http://schemas.microsoft.com/office/drawing/2014/main" id="{A835D8FF-CA2B-3485-3EE4-CEB59E45F140}"/>
                </a:ext>
              </a:extLst>
            </p:cNvPr>
            <p:cNvSpPr txBox="1"/>
            <p:nvPr/>
          </p:nvSpPr>
          <p:spPr>
            <a:xfrm>
              <a:off x="5215155" y="2369634"/>
              <a:ext cx="301686" cy="369332"/>
            </a:xfrm>
            <a:prstGeom prst="rect">
              <a:avLst/>
            </a:prstGeom>
            <a:noFill/>
          </p:spPr>
          <p:txBody>
            <a:bodyPr wrap="none" rtlCol="0">
              <a:spAutoFit/>
            </a:bodyPr>
            <a:lstStyle/>
            <a:p>
              <a:r>
                <a:rPr lang="en-US" dirty="0"/>
                <a:t>1</a:t>
              </a:r>
            </a:p>
          </p:txBody>
        </p:sp>
        <p:sp>
          <p:nvSpPr>
            <p:cNvPr id="28" name="TextBox 27">
              <a:extLst>
                <a:ext uri="{FF2B5EF4-FFF2-40B4-BE49-F238E27FC236}">
                  <a16:creationId xmlns:a16="http://schemas.microsoft.com/office/drawing/2014/main" id="{1FC36C22-83CC-3510-E1D5-9E30E60F01B7}"/>
                </a:ext>
              </a:extLst>
            </p:cNvPr>
            <p:cNvSpPr txBox="1"/>
            <p:nvPr/>
          </p:nvSpPr>
          <p:spPr>
            <a:xfrm>
              <a:off x="6687719" y="1416827"/>
              <a:ext cx="301686" cy="369332"/>
            </a:xfrm>
            <a:prstGeom prst="rect">
              <a:avLst/>
            </a:prstGeom>
            <a:noFill/>
          </p:spPr>
          <p:txBody>
            <a:bodyPr wrap="none" rtlCol="0">
              <a:spAutoFit/>
            </a:bodyPr>
            <a:lstStyle/>
            <a:p>
              <a:r>
                <a:rPr lang="en-US" dirty="0"/>
                <a:t>2</a:t>
              </a:r>
            </a:p>
          </p:txBody>
        </p:sp>
        <p:sp>
          <p:nvSpPr>
            <p:cNvPr id="29" name="TextBox 28">
              <a:extLst>
                <a:ext uri="{FF2B5EF4-FFF2-40B4-BE49-F238E27FC236}">
                  <a16:creationId xmlns:a16="http://schemas.microsoft.com/office/drawing/2014/main" id="{0F4D1CE8-CA5C-2AC1-83E0-DD5DFCE04DBA}"/>
                </a:ext>
              </a:extLst>
            </p:cNvPr>
            <p:cNvSpPr txBox="1"/>
            <p:nvPr/>
          </p:nvSpPr>
          <p:spPr>
            <a:xfrm>
              <a:off x="7108585" y="4607312"/>
              <a:ext cx="301686" cy="369332"/>
            </a:xfrm>
            <a:prstGeom prst="rect">
              <a:avLst/>
            </a:prstGeom>
            <a:noFill/>
          </p:spPr>
          <p:txBody>
            <a:bodyPr wrap="none" rtlCol="0">
              <a:spAutoFit/>
            </a:bodyPr>
            <a:lstStyle/>
            <a:p>
              <a:r>
                <a:rPr lang="en-US" dirty="0"/>
                <a:t>3</a:t>
              </a:r>
            </a:p>
          </p:txBody>
        </p:sp>
      </p:grpSp>
    </p:spTree>
    <p:extLst>
      <p:ext uri="{BB962C8B-B14F-4D97-AF65-F5344CB8AC3E}">
        <p14:creationId xmlns:p14="http://schemas.microsoft.com/office/powerpoint/2010/main" val="1481226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of Composite Parts</a:t>
            </a:r>
          </a:p>
        </p:txBody>
      </p:sp>
      <p:sp>
        <p:nvSpPr>
          <p:cNvPr id="4" name="Slide Number Placeholder 3"/>
          <p:cNvSpPr>
            <a:spLocks noGrp="1"/>
          </p:cNvSpPr>
          <p:nvPr>
            <p:ph type="sldNum" sz="quarter" idx="12"/>
          </p:nvPr>
        </p:nvSpPr>
        <p:spPr/>
        <p:txBody>
          <a:bodyPr/>
          <a:lstStyle/>
          <a:p>
            <a:fld id="{929262FE-7F58-4A1E-8AF3-5A510A86DEBD}" type="slidenum">
              <a:rPr lang="en-US" smtClean="0"/>
              <a:t>5</a:t>
            </a:fld>
            <a:endParaRPr lang="en-US"/>
          </a:p>
        </p:txBody>
      </p:sp>
      <p:sp>
        <p:nvSpPr>
          <p:cNvPr id="3" name="Content Placeholder 2"/>
          <p:cNvSpPr>
            <a:spLocks noGrp="1"/>
          </p:cNvSpPr>
          <p:nvPr>
            <p:ph idx="1"/>
          </p:nvPr>
        </p:nvSpPr>
        <p:spPr>
          <a:xfrm>
            <a:off x="457200" y="1600200"/>
            <a:ext cx="5334000" cy="3048000"/>
          </a:xfrm>
        </p:spPr>
        <p:txBody>
          <a:bodyPr>
            <a:normAutofit fontScale="85000" lnSpcReduction="10000"/>
          </a:bodyPr>
          <a:lstStyle/>
          <a:p>
            <a:r>
              <a:rPr lang="en-US" dirty="0"/>
              <a:t>Next you are going to create a table to keep track of the various values.</a:t>
            </a:r>
          </a:p>
          <a:p>
            <a:pPr lvl="1"/>
            <a:r>
              <a:rPr lang="en-US" dirty="0"/>
              <a:t>Each row will be used for one part</a:t>
            </a:r>
          </a:p>
          <a:p>
            <a:pPr lvl="1"/>
            <a:r>
              <a:rPr lang="en-US" dirty="0"/>
              <a:t>The columns will vary from problem to problem but generally follow the format below.</a:t>
            </a:r>
          </a:p>
          <a:p>
            <a:endParaRPr lang="en-US" dirty="0"/>
          </a:p>
        </p:txBody>
      </p:sp>
      <mc:AlternateContent xmlns:mc="http://schemas.openxmlformats.org/markup-compatibility/2006" xmlns:a14="http://schemas.microsoft.com/office/drawing/2010/main">
        <mc:Choice Requires="a14">
          <p:graphicFrame>
            <p:nvGraphicFramePr>
              <p:cNvPr id="12" name="Table 17">
                <a:extLst>
                  <a:ext uri="{FF2B5EF4-FFF2-40B4-BE49-F238E27FC236}">
                    <a16:creationId xmlns:a16="http://schemas.microsoft.com/office/drawing/2014/main" id="{3FDAD943-A963-4A6F-B593-1DDD7D34991D}"/>
                  </a:ext>
                </a:extLst>
              </p:cNvPr>
              <p:cNvGraphicFramePr>
                <a:graphicFrameLocks noGrp="1"/>
              </p:cNvGraphicFramePr>
              <p:nvPr>
                <p:extLst>
                  <p:ext uri="{D42A27DB-BD31-4B8C-83A1-F6EECF244321}">
                    <p14:modId xmlns:p14="http://schemas.microsoft.com/office/powerpoint/2010/main" val="684450740"/>
                  </p:ext>
                </p:extLst>
              </p:nvPr>
            </p:nvGraphicFramePr>
            <p:xfrm>
              <a:off x="1713496" y="4773147"/>
              <a:ext cx="5717007" cy="1850898"/>
            </p:xfrm>
            <a:graphic>
              <a:graphicData uri="http://schemas.openxmlformats.org/drawingml/2006/table">
                <a:tbl>
                  <a:tblPr firstRow="1" bandRow="1">
                    <a:tableStyleId>{5940675A-B579-460E-94D1-54222C63F5DA}</a:tableStyleId>
                  </a:tblPr>
                  <a:tblGrid>
                    <a:gridCol w="1111160">
                      <a:extLst>
                        <a:ext uri="{9D8B030D-6E8A-4147-A177-3AD203B41FA5}">
                          <a16:colId xmlns:a16="http://schemas.microsoft.com/office/drawing/2014/main" val="211987312"/>
                        </a:ext>
                      </a:extLst>
                    </a:gridCol>
                    <a:gridCol w="769264">
                      <a:extLst>
                        <a:ext uri="{9D8B030D-6E8A-4147-A177-3AD203B41FA5}">
                          <a16:colId xmlns:a16="http://schemas.microsoft.com/office/drawing/2014/main" val="2161274486"/>
                        </a:ext>
                      </a:extLst>
                    </a:gridCol>
                    <a:gridCol w="497156">
                      <a:extLst>
                        <a:ext uri="{9D8B030D-6E8A-4147-A177-3AD203B41FA5}">
                          <a16:colId xmlns:a16="http://schemas.microsoft.com/office/drawing/2014/main" val="660411794"/>
                        </a:ext>
                      </a:extLst>
                    </a:gridCol>
                    <a:gridCol w="1120896">
                      <a:extLst>
                        <a:ext uri="{9D8B030D-6E8A-4147-A177-3AD203B41FA5}">
                          <a16:colId xmlns:a16="http://schemas.microsoft.com/office/drawing/2014/main" val="787635511"/>
                        </a:ext>
                      </a:extLst>
                    </a:gridCol>
                    <a:gridCol w="936424">
                      <a:extLst>
                        <a:ext uri="{9D8B030D-6E8A-4147-A177-3AD203B41FA5}">
                          <a16:colId xmlns:a16="http://schemas.microsoft.com/office/drawing/2014/main" val="3403652858"/>
                        </a:ext>
                      </a:extLst>
                    </a:gridCol>
                    <a:gridCol w="1282107">
                      <a:extLst>
                        <a:ext uri="{9D8B030D-6E8A-4147-A177-3AD203B41FA5}">
                          <a16:colId xmlns:a16="http://schemas.microsoft.com/office/drawing/2014/main" val="789926030"/>
                        </a:ext>
                      </a:extLst>
                    </a:gridCol>
                  </a:tblGrid>
                  <a:tr h="0">
                    <a:tc>
                      <a:txBody>
                        <a:bodyPr/>
                        <a:lstStyle/>
                        <a:p>
                          <a:pPr algn="ctr"/>
                          <a:r>
                            <a:rPr lang="en-US" dirty="0"/>
                            <a:t>Shape</a:t>
                          </a:r>
                        </a:p>
                      </a:txBody>
                      <a:tcPr anchor="ctr">
                        <a:solidFill>
                          <a:schemeClr val="bg1"/>
                        </a:solidFill>
                      </a:tcPr>
                    </a:tc>
                    <a:tc>
                      <a:txBody>
                        <a:bodyPr/>
                        <a:lstStyle/>
                        <a:p>
                          <a:pPr algn="ctr"/>
                          <a:r>
                            <a:rPr lang="en-US" dirty="0"/>
                            <a:t>mass</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𝑌</m:t>
                                    </m:r>
                                  </m:e>
                                </m:acc>
                              </m:oMath>
                            </m:oMathPara>
                          </a14:m>
                          <a:endParaRPr lang="en-US" dirty="0"/>
                        </a:p>
                      </a:txBody>
                      <a:tcPr anchor="c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𝑧𝑧</m:t>
                                    </m:r>
                                    <m:r>
                                      <a:rPr lang="en-US" b="0" i="1" smtClean="0">
                                        <a:latin typeface="Cambria Math" panose="02040503050406030204" pitchFamily="18" charset="0"/>
                                      </a:rPr>
                                      <m:t> </m:t>
                                    </m:r>
                                    <m:r>
                                      <a:rPr lang="en-US" b="0" i="1" smtClean="0">
                                        <a:latin typeface="Cambria Math" panose="02040503050406030204" pitchFamily="18" charset="0"/>
                                      </a:rPr>
                                      <m:t>𝑐</m:t>
                                    </m:r>
                                  </m:sub>
                                </m:sSub>
                              </m:oMath>
                            </m:oMathPara>
                          </a14:m>
                          <a:endParaRPr lang="en-US" dirty="0"/>
                        </a:p>
                      </a:txBody>
                      <a:tcPr anchor="c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𝑥</m:t>
                                    </m:r>
                                  </m:sub>
                                </m:sSub>
                              </m:oMath>
                            </m:oMathPara>
                          </a14:m>
                          <a:endParaRPr lang="en-US"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𝑧𝑧</m:t>
                                    </m:r>
                                    <m:r>
                                      <a:rPr lang="en-US" b="0" i="1" smtClean="0">
                                        <a:latin typeface="Cambria Math" panose="02040503050406030204" pitchFamily="18" charset="0"/>
                                      </a:rPr>
                                      <m:t> </m:t>
                                    </m:r>
                                    <m:r>
                                      <a:rPr lang="en-US" b="0" i="1" smtClean="0">
                                        <a:latin typeface="Cambria Math" panose="02040503050406030204" pitchFamily="18" charset="0"/>
                                      </a:rPr>
                                      <m:t>𝑎𝑑𝑗</m:t>
                                    </m:r>
                                  </m:sub>
                                </m:sSub>
                              </m:oMath>
                            </m:oMathPara>
                          </a14:m>
                          <a:endParaRPr lang="en-US" dirty="0"/>
                        </a:p>
                      </a:txBody>
                      <a:tcPr anchor="ctr">
                        <a:solidFill>
                          <a:schemeClr val="bg1"/>
                        </a:solidFill>
                      </a:tcPr>
                    </a:tc>
                    <a:extLst>
                      <a:ext uri="{0D108BD9-81ED-4DB2-BD59-A6C34878D82A}">
                        <a16:rowId xmlns:a16="http://schemas.microsoft.com/office/drawing/2014/main" val="1214710174"/>
                      </a:ext>
                    </a:extLst>
                  </a:tr>
                  <a:tr h="0">
                    <a:tc>
                      <a:txBody>
                        <a:bodyPr/>
                        <a:lstStyle/>
                        <a:p>
                          <a:r>
                            <a:rPr lang="en-US" dirty="0"/>
                            <a:t>1</a:t>
                          </a:r>
                        </a:p>
                      </a:txBody>
                      <a:tcPr>
                        <a:solidFill>
                          <a:schemeClr val="bg1"/>
                        </a:solidFill>
                      </a:tcPr>
                    </a:tc>
                    <a:tc>
                      <a:txBody>
                        <a:bodyPr/>
                        <a:lstStyle/>
                        <a:p>
                          <a:endParaRPr lang="en-US" dirty="0"/>
                        </a:p>
                      </a:txBody>
                      <a:tcPr>
                        <a:solidFill>
                          <a:schemeClr val="bg1"/>
                        </a:solidFill>
                      </a:tcPr>
                    </a:tc>
                    <a:tc>
                      <a:txBody>
                        <a:bodyPr/>
                        <a:lstStyle/>
                        <a:p>
                          <a:endParaRPr lang="en-US"/>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355658301"/>
                      </a:ext>
                    </a:extLst>
                  </a:tr>
                  <a:tr h="0">
                    <a:tc>
                      <a:txBody>
                        <a:bodyPr/>
                        <a:lstStyle/>
                        <a:p>
                          <a:r>
                            <a:rPr lang="en-US" dirty="0"/>
                            <a:t>2</a:t>
                          </a:r>
                        </a:p>
                      </a:txBody>
                      <a:tcPr>
                        <a:solidFill>
                          <a:schemeClr val="bg1"/>
                        </a:solidFill>
                      </a:tcPr>
                    </a:tc>
                    <a:tc>
                      <a:txBody>
                        <a:bodyPr/>
                        <a:lstStyle/>
                        <a:p>
                          <a:endParaRPr lang="en-US" dirty="0"/>
                        </a:p>
                      </a:txBody>
                      <a:tcPr>
                        <a:solidFill>
                          <a:schemeClr val="bg1"/>
                        </a:solidFill>
                      </a:tcPr>
                    </a:tc>
                    <a:tc>
                      <a:txBody>
                        <a:bodyPr/>
                        <a:lstStyle/>
                        <a:p>
                          <a:endParaRPr lang="en-US"/>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1027254420"/>
                      </a:ext>
                    </a:extLst>
                  </a:tr>
                  <a:tr h="0">
                    <a:tc>
                      <a:txBody>
                        <a:bodyPr/>
                        <a:lstStyle/>
                        <a:p>
                          <a:r>
                            <a:rPr lang="en-US" dirty="0"/>
                            <a:t>3</a:t>
                          </a:r>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extLst>
                      <a:ext uri="{0D108BD9-81ED-4DB2-BD59-A6C34878D82A}">
                        <a16:rowId xmlns:a16="http://schemas.microsoft.com/office/drawing/2014/main" val="4085176402"/>
                      </a:ext>
                    </a:extLst>
                  </a:tr>
                  <a:tr h="0">
                    <a:tc>
                      <a:txBody>
                        <a:bodyPr/>
                        <a:lstStyle/>
                        <a:p>
                          <a:r>
                            <a:rPr lang="en-US" dirty="0"/>
                            <a:t>Total</a:t>
                          </a:r>
                        </a:p>
                      </a:txBody>
                      <a:tcPr>
                        <a:solidFill>
                          <a:schemeClr val="bg1"/>
                        </a:solidFill>
                      </a:tcPr>
                    </a:tc>
                    <a:tc>
                      <a:txBody>
                        <a:bodyPr/>
                        <a:lstStyle/>
                        <a:p>
                          <a:endParaRPr lang="en-US"/>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416697505"/>
                      </a:ext>
                    </a:extLst>
                  </a:tr>
                </a:tbl>
              </a:graphicData>
            </a:graphic>
          </p:graphicFrame>
        </mc:Choice>
        <mc:Fallback xmlns="">
          <p:graphicFrame>
            <p:nvGraphicFramePr>
              <p:cNvPr id="12" name="Table 17">
                <a:extLst>
                  <a:ext uri="{FF2B5EF4-FFF2-40B4-BE49-F238E27FC236}">
                    <a16:creationId xmlns:a16="http://schemas.microsoft.com/office/drawing/2014/main" id="{3FDAD943-A963-4A6F-B593-1DDD7D34991D}"/>
                  </a:ext>
                </a:extLst>
              </p:cNvPr>
              <p:cNvGraphicFramePr>
                <a:graphicFrameLocks noGrp="1"/>
              </p:cNvGraphicFramePr>
              <p:nvPr>
                <p:extLst>
                  <p:ext uri="{D42A27DB-BD31-4B8C-83A1-F6EECF244321}">
                    <p14:modId xmlns:p14="http://schemas.microsoft.com/office/powerpoint/2010/main" val="684450740"/>
                  </p:ext>
                </p:extLst>
              </p:nvPr>
            </p:nvGraphicFramePr>
            <p:xfrm>
              <a:off x="1713496" y="4773147"/>
              <a:ext cx="5717007" cy="1850898"/>
            </p:xfrm>
            <a:graphic>
              <a:graphicData uri="http://schemas.openxmlformats.org/drawingml/2006/table">
                <a:tbl>
                  <a:tblPr firstRow="1" bandRow="1">
                    <a:tableStyleId>{5940675A-B579-460E-94D1-54222C63F5DA}</a:tableStyleId>
                  </a:tblPr>
                  <a:tblGrid>
                    <a:gridCol w="1111160">
                      <a:extLst>
                        <a:ext uri="{9D8B030D-6E8A-4147-A177-3AD203B41FA5}">
                          <a16:colId xmlns:a16="http://schemas.microsoft.com/office/drawing/2014/main" val="211987312"/>
                        </a:ext>
                      </a:extLst>
                    </a:gridCol>
                    <a:gridCol w="769264">
                      <a:extLst>
                        <a:ext uri="{9D8B030D-6E8A-4147-A177-3AD203B41FA5}">
                          <a16:colId xmlns:a16="http://schemas.microsoft.com/office/drawing/2014/main" val="2161274486"/>
                        </a:ext>
                      </a:extLst>
                    </a:gridCol>
                    <a:gridCol w="497156">
                      <a:extLst>
                        <a:ext uri="{9D8B030D-6E8A-4147-A177-3AD203B41FA5}">
                          <a16:colId xmlns:a16="http://schemas.microsoft.com/office/drawing/2014/main" val="660411794"/>
                        </a:ext>
                      </a:extLst>
                    </a:gridCol>
                    <a:gridCol w="1120896">
                      <a:extLst>
                        <a:ext uri="{9D8B030D-6E8A-4147-A177-3AD203B41FA5}">
                          <a16:colId xmlns:a16="http://schemas.microsoft.com/office/drawing/2014/main" val="787635511"/>
                        </a:ext>
                      </a:extLst>
                    </a:gridCol>
                    <a:gridCol w="936424">
                      <a:extLst>
                        <a:ext uri="{9D8B030D-6E8A-4147-A177-3AD203B41FA5}">
                          <a16:colId xmlns:a16="http://schemas.microsoft.com/office/drawing/2014/main" val="3403652858"/>
                        </a:ext>
                      </a:extLst>
                    </a:gridCol>
                    <a:gridCol w="1282107">
                      <a:extLst>
                        <a:ext uri="{9D8B030D-6E8A-4147-A177-3AD203B41FA5}">
                          <a16:colId xmlns:a16="http://schemas.microsoft.com/office/drawing/2014/main" val="789926030"/>
                        </a:ext>
                      </a:extLst>
                    </a:gridCol>
                  </a:tblGrid>
                  <a:tr h="387858">
                    <a:tc>
                      <a:txBody>
                        <a:bodyPr/>
                        <a:lstStyle/>
                        <a:p>
                          <a:pPr algn="ctr"/>
                          <a:r>
                            <a:rPr lang="en-US" dirty="0"/>
                            <a:t>Shape</a:t>
                          </a:r>
                        </a:p>
                      </a:txBody>
                      <a:tcPr anchor="ctr">
                        <a:solidFill>
                          <a:schemeClr val="bg1"/>
                        </a:solidFill>
                      </a:tcPr>
                    </a:tc>
                    <a:tc>
                      <a:txBody>
                        <a:bodyPr/>
                        <a:lstStyle/>
                        <a:p>
                          <a:pPr algn="ctr"/>
                          <a:r>
                            <a:rPr lang="en-US" dirty="0"/>
                            <a:t>mass</a:t>
                          </a:r>
                        </a:p>
                      </a:txBody>
                      <a:tcPr anchor="ctr">
                        <a:solidFill>
                          <a:schemeClr val="bg1"/>
                        </a:solidFill>
                      </a:tcPr>
                    </a:tc>
                    <a:tc>
                      <a:txBody>
                        <a:bodyPr/>
                        <a:lstStyle/>
                        <a:p>
                          <a:endParaRPr lang="en-US"/>
                        </a:p>
                      </a:txBody>
                      <a:tcPr anchor="ctr">
                        <a:blipFill>
                          <a:blip r:embed="rId2"/>
                          <a:stretch>
                            <a:fillRect l="-382716" t="-4688" r="-679012" b="-401563"/>
                          </a:stretch>
                        </a:blipFill>
                      </a:tcPr>
                    </a:tc>
                    <a:tc>
                      <a:txBody>
                        <a:bodyPr/>
                        <a:lstStyle/>
                        <a:p>
                          <a:endParaRPr lang="en-US"/>
                        </a:p>
                      </a:txBody>
                      <a:tcPr anchor="ctr">
                        <a:blipFill>
                          <a:blip r:embed="rId2"/>
                          <a:stretch>
                            <a:fillRect l="-212500" t="-4688" r="-198913" b="-401563"/>
                          </a:stretch>
                        </a:blipFill>
                      </a:tcPr>
                    </a:tc>
                    <a:tc>
                      <a:txBody>
                        <a:bodyPr/>
                        <a:lstStyle/>
                        <a:p>
                          <a:endParaRPr lang="en-US"/>
                        </a:p>
                      </a:txBody>
                      <a:tcPr anchor="ctr">
                        <a:blipFill>
                          <a:blip r:embed="rId2"/>
                          <a:stretch>
                            <a:fillRect l="-373377" t="-4688" r="-137662" b="-401563"/>
                          </a:stretch>
                        </a:blipFill>
                      </a:tcPr>
                    </a:tc>
                    <a:tc>
                      <a:txBody>
                        <a:bodyPr/>
                        <a:lstStyle/>
                        <a:p>
                          <a:endParaRPr lang="en-US"/>
                        </a:p>
                      </a:txBody>
                      <a:tcPr anchor="ctr">
                        <a:blipFill>
                          <a:blip r:embed="rId2"/>
                          <a:stretch>
                            <a:fillRect l="-347143" t="-4688" r="-952" b="-401563"/>
                          </a:stretch>
                        </a:blipFill>
                      </a:tcPr>
                    </a:tc>
                    <a:extLst>
                      <a:ext uri="{0D108BD9-81ED-4DB2-BD59-A6C34878D82A}">
                        <a16:rowId xmlns:a16="http://schemas.microsoft.com/office/drawing/2014/main" val="1214710174"/>
                      </a:ext>
                    </a:extLst>
                  </a:tr>
                  <a:tr h="365760">
                    <a:tc>
                      <a:txBody>
                        <a:bodyPr/>
                        <a:lstStyle/>
                        <a:p>
                          <a:r>
                            <a:rPr lang="en-US" dirty="0"/>
                            <a:t>1</a:t>
                          </a:r>
                        </a:p>
                      </a:txBody>
                      <a:tcPr>
                        <a:solidFill>
                          <a:schemeClr val="bg1"/>
                        </a:solidFill>
                      </a:tcPr>
                    </a:tc>
                    <a:tc>
                      <a:txBody>
                        <a:bodyPr/>
                        <a:lstStyle/>
                        <a:p>
                          <a:endParaRPr lang="en-US" dirty="0"/>
                        </a:p>
                      </a:txBody>
                      <a:tcPr>
                        <a:solidFill>
                          <a:schemeClr val="bg1"/>
                        </a:solidFill>
                      </a:tcPr>
                    </a:tc>
                    <a:tc>
                      <a:txBody>
                        <a:bodyPr/>
                        <a:lstStyle/>
                        <a:p>
                          <a:endParaRPr lang="en-US"/>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355658301"/>
                      </a:ext>
                    </a:extLst>
                  </a:tr>
                  <a:tr h="365760">
                    <a:tc>
                      <a:txBody>
                        <a:bodyPr/>
                        <a:lstStyle/>
                        <a:p>
                          <a:r>
                            <a:rPr lang="en-US" dirty="0"/>
                            <a:t>2</a:t>
                          </a:r>
                        </a:p>
                      </a:txBody>
                      <a:tcPr>
                        <a:solidFill>
                          <a:schemeClr val="bg1"/>
                        </a:solidFill>
                      </a:tcPr>
                    </a:tc>
                    <a:tc>
                      <a:txBody>
                        <a:bodyPr/>
                        <a:lstStyle/>
                        <a:p>
                          <a:endParaRPr lang="en-US" dirty="0"/>
                        </a:p>
                      </a:txBody>
                      <a:tcPr>
                        <a:solidFill>
                          <a:schemeClr val="bg1"/>
                        </a:solidFill>
                      </a:tcPr>
                    </a:tc>
                    <a:tc>
                      <a:txBody>
                        <a:bodyPr/>
                        <a:lstStyle/>
                        <a:p>
                          <a:endParaRPr lang="en-US"/>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1027254420"/>
                      </a:ext>
                    </a:extLst>
                  </a:tr>
                  <a:tr h="365760">
                    <a:tc>
                      <a:txBody>
                        <a:bodyPr/>
                        <a:lstStyle/>
                        <a:p>
                          <a:r>
                            <a:rPr lang="en-US" dirty="0"/>
                            <a:t>3</a:t>
                          </a:r>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extLst>
                      <a:ext uri="{0D108BD9-81ED-4DB2-BD59-A6C34878D82A}">
                        <a16:rowId xmlns:a16="http://schemas.microsoft.com/office/drawing/2014/main" val="4085176402"/>
                      </a:ext>
                    </a:extLst>
                  </a:tr>
                  <a:tr h="365760">
                    <a:tc>
                      <a:txBody>
                        <a:bodyPr/>
                        <a:lstStyle/>
                        <a:p>
                          <a:r>
                            <a:rPr lang="en-US" dirty="0"/>
                            <a:t>Total</a:t>
                          </a:r>
                        </a:p>
                      </a:txBody>
                      <a:tcPr>
                        <a:solidFill>
                          <a:schemeClr val="bg1"/>
                        </a:solidFill>
                      </a:tcPr>
                    </a:tc>
                    <a:tc>
                      <a:txBody>
                        <a:bodyPr/>
                        <a:lstStyle/>
                        <a:p>
                          <a:endParaRPr lang="en-US"/>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416697505"/>
                      </a:ext>
                    </a:extLst>
                  </a:tr>
                </a:tbl>
              </a:graphicData>
            </a:graphic>
          </p:graphicFrame>
        </mc:Fallback>
      </mc:AlternateContent>
      <p:pic>
        <p:nvPicPr>
          <p:cNvPr id="5" name="Picture 4">
            <a:extLst>
              <a:ext uri="{FF2B5EF4-FFF2-40B4-BE49-F238E27FC236}">
                <a16:creationId xmlns:a16="http://schemas.microsoft.com/office/drawing/2014/main" id="{B44EFB12-AA6A-3986-22E3-9FCE858CF2AF}"/>
              </a:ext>
            </a:extLst>
          </p:cNvPr>
          <p:cNvPicPr>
            <a:picLocks noChangeAspect="1"/>
          </p:cNvPicPr>
          <p:nvPr/>
        </p:nvPicPr>
        <p:blipFill>
          <a:blip r:embed="rId3"/>
          <a:stretch>
            <a:fillRect/>
          </a:stretch>
        </p:blipFill>
        <p:spPr>
          <a:xfrm>
            <a:off x="6300243" y="1417638"/>
            <a:ext cx="1792947" cy="3231971"/>
          </a:xfrm>
          <a:prstGeom prst="rect">
            <a:avLst/>
          </a:prstGeom>
        </p:spPr>
      </p:pic>
    </p:spTree>
    <p:extLst>
      <p:ext uri="{BB962C8B-B14F-4D97-AF65-F5344CB8AC3E}">
        <p14:creationId xmlns:p14="http://schemas.microsoft.com/office/powerpoint/2010/main" val="1426417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F7D84-DC3C-42DD-B376-AF5D2F93084C}"/>
              </a:ext>
            </a:extLst>
          </p:cNvPr>
          <p:cNvSpPr>
            <a:spLocks noGrp="1"/>
          </p:cNvSpPr>
          <p:nvPr>
            <p:ph type="title"/>
          </p:nvPr>
        </p:nvSpPr>
        <p:spPr/>
        <p:txBody>
          <a:bodyPr/>
          <a:lstStyle/>
          <a:p>
            <a:r>
              <a:rPr lang="en-US" dirty="0"/>
              <a:t>Method of Composite Parts</a:t>
            </a:r>
          </a:p>
        </p:txBody>
      </p:sp>
      <p:sp>
        <p:nvSpPr>
          <p:cNvPr id="3" name="Content Placeholder 2">
            <a:extLst>
              <a:ext uri="{FF2B5EF4-FFF2-40B4-BE49-F238E27FC236}">
                <a16:creationId xmlns:a16="http://schemas.microsoft.com/office/drawing/2014/main" id="{7B155B30-DAAA-4B87-A875-2ACA1D847139}"/>
              </a:ext>
            </a:extLst>
          </p:cNvPr>
          <p:cNvSpPr>
            <a:spLocks noGrp="1"/>
          </p:cNvSpPr>
          <p:nvPr>
            <p:ph idx="1"/>
          </p:nvPr>
        </p:nvSpPr>
        <p:spPr/>
        <p:txBody>
          <a:bodyPr/>
          <a:lstStyle/>
          <a:p>
            <a:r>
              <a:rPr lang="en-US" dirty="0"/>
              <a:t>After determining the mass of each piece, the next step is to find the location of the </a:t>
            </a:r>
            <a:r>
              <a:rPr lang="en-US" b="1" dirty="0"/>
              <a:t>center of mass of each piece</a:t>
            </a:r>
            <a:r>
              <a:rPr lang="en-US" dirty="0"/>
              <a:t> as well as the </a:t>
            </a:r>
            <a:r>
              <a:rPr lang="en-US" b="1" dirty="0"/>
              <a:t>overall center of mass </a:t>
            </a:r>
            <a:r>
              <a:rPr lang="en-US" dirty="0"/>
              <a:t>location.</a:t>
            </a:r>
          </a:p>
          <a:p>
            <a:pPr lvl="1"/>
            <a:r>
              <a:rPr lang="en-US" dirty="0"/>
              <a:t>We will often be taking the moment of inertia about this overall center of mass location.</a:t>
            </a:r>
          </a:p>
          <a:p>
            <a:pPr lvl="1"/>
            <a:r>
              <a:rPr lang="en-US" dirty="0"/>
              <a:t>Even if you are taking the moment of inertia about another location, we will usually need to know the center of mass for each piece.</a:t>
            </a:r>
          </a:p>
        </p:txBody>
      </p:sp>
      <p:sp>
        <p:nvSpPr>
          <p:cNvPr id="4" name="Slide Number Placeholder 3">
            <a:extLst>
              <a:ext uri="{FF2B5EF4-FFF2-40B4-BE49-F238E27FC236}">
                <a16:creationId xmlns:a16="http://schemas.microsoft.com/office/drawing/2014/main" id="{014FAF1B-F796-46CE-8044-388C5891B9D6}"/>
              </a:ext>
            </a:extLst>
          </p:cNvPr>
          <p:cNvSpPr>
            <a:spLocks noGrp="1"/>
          </p:cNvSpPr>
          <p:nvPr>
            <p:ph type="sldNum" sz="quarter" idx="12"/>
          </p:nvPr>
        </p:nvSpPr>
        <p:spPr/>
        <p:txBody>
          <a:bodyPr/>
          <a:lstStyle/>
          <a:p>
            <a:fld id="{929262FE-7F58-4A1E-8AF3-5A510A86DEBD}" type="slidenum">
              <a:rPr lang="en-US" smtClean="0"/>
              <a:t>6</a:t>
            </a:fld>
            <a:endParaRPr lang="en-US"/>
          </a:p>
        </p:txBody>
      </p:sp>
    </p:spTree>
    <p:extLst>
      <p:ext uri="{BB962C8B-B14F-4D97-AF65-F5344CB8AC3E}">
        <p14:creationId xmlns:p14="http://schemas.microsoft.com/office/powerpoint/2010/main" val="417098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of Composite Parts</a:t>
            </a:r>
          </a:p>
        </p:txBody>
      </p:sp>
      <p:sp>
        <p:nvSpPr>
          <p:cNvPr id="3" name="Content Placeholder 2"/>
          <p:cNvSpPr>
            <a:spLocks noGrp="1"/>
          </p:cNvSpPr>
          <p:nvPr>
            <p:ph idx="1"/>
          </p:nvPr>
        </p:nvSpPr>
        <p:spPr>
          <a:xfrm>
            <a:off x="457200" y="1600201"/>
            <a:ext cx="8229600" cy="1676399"/>
          </a:xfrm>
        </p:spPr>
        <p:txBody>
          <a:bodyPr>
            <a:normAutofit fontScale="92500" lnSpcReduction="20000"/>
          </a:bodyPr>
          <a:lstStyle/>
          <a:p>
            <a:r>
              <a:rPr lang="en-US" dirty="0"/>
              <a:t>Next, you will look up and calculate the moments of inertia about their individual centers.</a:t>
            </a:r>
          </a:p>
          <a:p>
            <a:pPr lvl="1"/>
            <a:r>
              <a:rPr lang="en-US" dirty="0"/>
              <a:t>Be sure to adjust the orientation to match the table to your situation .</a:t>
            </a:r>
          </a:p>
        </p:txBody>
      </p:sp>
      <p:sp>
        <p:nvSpPr>
          <p:cNvPr id="4" name="Slide Number Placeholder 3"/>
          <p:cNvSpPr>
            <a:spLocks noGrp="1"/>
          </p:cNvSpPr>
          <p:nvPr>
            <p:ph type="sldNum" sz="quarter" idx="12"/>
          </p:nvPr>
        </p:nvSpPr>
        <p:spPr/>
        <p:txBody>
          <a:bodyPr/>
          <a:lstStyle/>
          <a:p>
            <a:fld id="{929262FE-7F58-4A1E-8AF3-5A510A86DEBD}" type="slidenum">
              <a:rPr lang="en-US" smtClean="0"/>
              <a:t>7</a:t>
            </a:fld>
            <a:endParaRPr lang="en-US"/>
          </a:p>
        </p:txBody>
      </p:sp>
      <p:pic>
        <p:nvPicPr>
          <p:cNvPr id="5" name="Picture 4">
            <a:extLst>
              <a:ext uri="{FF2B5EF4-FFF2-40B4-BE49-F238E27FC236}">
                <a16:creationId xmlns:a16="http://schemas.microsoft.com/office/drawing/2014/main" id="{A45BDFA1-4CD3-9503-5039-FE1D3B516409}"/>
              </a:ext>
            </a:extLst>
          </p:cNvPr>
          <p:cNvPicPr>
            <a:picLocks noChangeAspect="1"/>
          </p:cNvPicPr>
          <p:nvPr/>
        </p:nvPicPr>
        <p:blipFill>
          <a:blip r:embed="rId2"/>
          <a:stretch>
            <a:fillRect/>
          </a:stretch>
        </p:blipFill>
        <p:spPr>
          <a:xfrm>
            <a:off x="570003" y="3351391"/>
            <a:ext cx="1792947" cy="3231971"/>
          </a:xfrm>
          <a:prstGeom prst="rect">
            <a:avLst/>
          </a:prstGeom>
        </p:spPr>
      </p:pic>
      <p:pic>
        <p:nvPicPr>
          <p:cNvPr id="8" name="Picture 7" descr="A cylinder with a cylinder and a cylinder with a cylinder and a cylinder with arrows&#10;&#10;AI-generated content may be incorrect.">
            <a:extLst>
              <a:ext uri="{FF2B5EF4-FFF2-40B4-BE49-F238E27FC236}">
                <a16:creationId xmlns:a16="http://schemas.microsoft.com/office/drawing/2014/main" id="{2B0C7CD8-D736-D892-2A84-5376D92D2F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0" y="3459163"/>
            <a:ext cx="4776628" cy="3043254"/>
          </a:xfrm>
          <a:prstGeom prst="rect">
            <a:avLst/>
          </a:prstGeom>
        </p:spPr>
      </p:pic>
    </p:spTree>
    <p:extLst>
      <p:ext uri="{BB962C8B-B14F-4D97-AF65-F5344CB8AC3E}">
        <p14:creationId xmlns:p14="http://schemas.microsoft.com/office/powerpoint/2010/main" val="389919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Parallel Axis Theorem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dirty="0"/>
                  <a:t>The parallel axis theorem states that...</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b="0" i="1" smtClean="0">
                              <a:latin typeface="Cambria Math" panose="02040503050406030204" pitchFamily="18" charset="0"/>
                            </a:rPr>
                            <m:t>𝑧𝑧</m:t>
                          </m:r>
                          <m:r>
                            <a:rPr lang="en-US" i="1">
                              <a:latin typeface="Cambria Math"/>
                            </a:rPr>
                            <m:t>𝑃</m:t>
                          </m:r>
                        </m:sub>
                      </m:sSub>
                      <m:r>
                        <a:rPr lang="en-US" i="1">
                          <a:latin typeface="Cambria Math"/>
                        </a:rPr>
                        <m:t>=</m:t>
                      </m:r>
                      <m:sSub>
                        <m:sSubPr>
                          <m:ctrlPr>
                            <a:rPr lang="en-US" i="1">
                              <a:latin typeface="Cambria Math" panose="02040503050406030204" pitchFamily="18" charset="0"/>
                            </a:rPr>
                          </m:ctrlPr>
                        </m:sSubPr>
                        <m:e>
                          <m:r>
                            <a:rPr lang="en-US" i="1">
                              <a:latin typeface="Cambria Math"/>
                            </a:rPr>
                            <m:t>𝐼</m:t>
                          </m:r>
                        </m:e>
                        <m:sub>
                          <m:r>
                            <a:rPr lang="en-US" b="0" i="1" smtClean="0">
                              <a:latin typeface="Cambria Math" panose="02040503050406030204" pitchFamily="18" charset="0"/>
                            </a:rPr>
                            <m:t>𝑧𝑧</m:t>
                          </m:r>
                          <m:r>
                            <a:rPr lang="en-US" i="1">
                              <a:latin typeface="Cambria Math"/>
                            </a:rPr>
                            <m:t>𝐶</m:t>
                          </m:r>
                        </m:sub>
                      </m:sSub>
                      <m:r>
                        <a:rPr lang="en-US" i="1">
                          <a:latin typeface="Cambria Math"/>
                        </a:rPr>
                        <m:t>+</m:t>
                      </m:r>
                      <m:r>
                        <a:rPr lang="en-US" b="0" i="1" smtClean="0">
                          <a:latin typeface="Cambria Math"/>
                        </a:rPr>
                        <m:t>𝑚</m:t>
                      </m:r>
                      <m:sSup>
                        <m:sSupPr>
                          <m:ctrlPr>
                            <a:rPr lang="en-US" i="1">
                              <a:latin typeface="Cambria Math" panose="02040503050406030204" pitchFamily="18" charset="0"/>
                            </a:rPr>
                          </m:ctrlPr>
                        </m:sSupPr>
                        <m:e>
                          <m:r>
                            <a:rPr lang="en-US" i="1">
                              <a:latin typeface="Cambria Math"/>
                            </a:rPr>
                            <m:t>𝑟</m:t>
                          </m:r>
                        </m:e>
                        <m:sup>
                          <m:r>
                            <a:rPr lang="en-US" i="1">
                              <a:latin typeface="Cambria Math"/>
                            </a:rPr>
                            <m:t>2</m:t>
                          </m:r>
                        </m:sup>
                      </m:sSup>
                    </m:oMath>
                  </m:oMathPara>
                </a14:m>
                <a:endParaRPr lang="en-US" dirty="0"/>
              </a:p>
              <a:p>
                <a:pPr marL="0" indent="0">
                  <a:buNone/>
                </a:pPr>
                <a:endParaRPr lang="en-US" dirty="0"/>
              </a:p>
              <a:p>
                <a:pPr marL="0" indent="0">
                  <a:buNone/>
                </a:pPr>
                <a:endParaRPr lang="en-US" dirty="0"/>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704" t="-1752"/>
                </a:stretch>
              </a:blipFill>
            </p:spPr>
            <p:txBody>
              <a:bodyPr/>
              <a:lstStyle/>
              <a:p>
                <a:r>
                  <a:rPr lang="en-US">
                    <a:noFill/>
                  </a:rPr>
                  <a:t> </a:t>
                </a:r>
              </a:p>
            </p:txBody>
          </p:sp>
        </mc:Fallback>
      </mc:AlternateContent>
      <p:sp>
        <p:nvSpPr>
          <p:cNvPr id="15" name="TextBox 14"/>
          <p:cNvSpPr txBox="1"/>
          <p:nvPr/>
        </p:nvSpPr>
        <p:spPr>
          <a:xfrm>
            <a:off x="1066800" y="3211537"/>
            <a:ext cx="1600200" cy="923330"/>
          </a:xfrm>
          <a:prstGeom prst="rect">
            <a:avLst/>
          </a:prstGeom>
          <a:noFill/>
        </p:spPr>
        <p:txBody>
          <a:bodyPr wrap="square" rtlCol="0">
            <a:spAutoFit/>
          </a:bodyPr>
          <a:lstStyle/>
          <a:p>
            <a:pPr algn="ctr"/>
            <a:r>
              <a:rPr lang="en-US" dirty="0"/>
              <a:t>Mass Moment  about any Point P</a:t>
            </a:r>
          </a:p>
        </p:txBody>
      </p:sp>
      <p:sp>
        <p:nvSpPr>
          <p:cNvPr id="16" name="TextBox 15"/>
          <p:cNvSpPr txBox="1"/>
          <p:nvPr/>
        </p:nvSpPr>
        <p:spPr>
          <a:xfrm>
            <a:off x="2971800" y="3418238"/>
            <a:ext cx="1600200" cy="646331"/>
          </a:xfrm>
          <a:prstGeom prst="rect">
            <a:avLst/>
          </a:prstGeom>
          <a:noFill/>
        </p:spPr>
        <p:txBody>
          <a:bodyPr wrap="square" rtlCol="0">
            <a:spAutoFit/>
          </a:bodyPr>
          <a:lstStyle/>
          <a:p>
            <a:pPr algn="ctr"/>
            <a:r>
              <a:rPr lang="en-US" dirty="0"/>
              <a:t>Mass Moment about Centroid</a:t>
            </a:r>
          </a:p>
        </p:txBody>
      </p:sp>
      <p:sp>
        <p:nvSpPr>
          <p:cNvPr id="17" name="TextBox 16"/>
          <p:cNvSpPr txBox="1"/>
          <p:nvPr/>
        </p:nvSpPr>
        <p:spPr>
          <a:xfrm>
            <a:off x="4876800" y="3556737"/>
            <a:ext cx="1219200" cy="646331"/>
          </a:xfrm>
          <a:prstGeom prst="rect">
            <a:avLst/>
          </a:prstGeom>
          <a:noFill/>
        </p:spPr>
        <p:txBody>
          <a:bodyPr wrap="square" rtlCol="0">
            <a:spAutoFit/>
          </a:bodyPr>
          <a:lstStyle/>
          <a:p>
            <a:pPr algn="ctr"/>
            <a:r>
              <a:rPr lang="en-US" dirty="0"/>
              <a:t>Mass of Part</a:t>
            </a:r>
          </a:p>
        </p:txBody>
      </p:sp>
      <p:cxnSp>
        <p:nvCxnSpPr>
          <p:cNvPr id="18" name="Straight Arrow Connector 17"/>
          <p:cNvCxnSpPr>
            <a:cxnSpLocks/>
            <a:stCxn id="15" idx="0"/>
          </p:cNvCxnSpPr>
          <p:nvPr/>
        </p:nvCxnSpPr>
        <p:spPr>
          <a:xfrm flipV="1">
            <a:off x="1866900" y="2687320"/>
            <a:ext cx="1303020" cy="52421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6" idx="0"/>
          </p:cNvCxnSpPr>
          <p:nvPr/>
        </p:nvCxnSpPr>
        <p:spPr>
          <a:xfrm flipV="1">
            <a:off x="3771900" y="2763520"/>
            <a:ext cx="647700" cy="65471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Straight Arrow Connector 20"/>
          <p:cNvCxnSpPr>
            <a:cxnSpLocks/>
          </p:cNvCxnSpPr>
          <p:nvPr/>
        </p:nvCxnSpPr>
        <p:spPr>
          <a:xfrm flipV="1">
            <a:off x="5486400" y="2687320"/>
            <a:ext cx="0" cy="92082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Straight Arrow Connector 21"/>
          <p:cNvCxnSpPr>
            <a:cxnSpLocks/>
          </p:cNvCxnSpPr>
          <p:nvPr/>
        </p:nvCxnSpPr>
        <p:spPr>
          <a:xfrm flipH="1" flipV="1">
            <a:off x="6014720" y="2687320"/>
            <a:ext cx="690880" cy="73092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5" name="TextBox 24"/>
          <p:cNvSpPr txBox="1"/>
          <p:nvPr/>
        </p:nvSpPr>
        <p:spPr>
          <a:xfrm>
            <a:off x="6400800" y="3287990"/>
            <a:ext cx="1676400" cy="923330"/>
          </a:xfrm>
          <a:prstGeom prst="rect">
            <a:avLst/>
          </a:prstGeom>
          <a:noFill/>
        </p:spPr>
        <p:txBody>
          <a:bodyPr wrap="square" rtlCol="0">
            <a:spAutoFit/>
          </a:bodyPr>
          <a:lstStyle/>
          <a:p>
            <a:pPr algn="ctr"/>
            <a:r>
              <a:rPr lang="en-US" dirty="0"/>
              <a:t>Distance between the two z axes</a:t>
            </a:r>
          </a:p>
        </p:txBody>
      </p:sp>
    </p:spTree>
    <p:extLst>
      <p:ext uri="{BB962C8B-B14F-4D97-AF65-F5344CB8AC3E}">
        <p14:creationId xmlns:p14="http://schemas.microsoft.com/office/powerpoint/2010/main" val="3918396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p:bldP spid="16" grpId="0"/>
      <p:bldP spid="17" grpId="0"/>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Parallel Axis Theorem</a:t>
            </a:r>
          </a:p>
        </p:txBody>
      </p:sp>
      <p:sp>
        <p:nvSpPr>
          <p:cNvPr id="3" name="Content Placeholder 2"/>
          <p:cNvSpPr>
            <a:spLocks noGrp="1"/>
          </p:cNvSpPr>
          <p:nvPr>
            <p:ph idx="1"/>
          </p:nvPr>
        </p:nvSpPr>
        <p:spPr>
          <a:xfrm>
            <a:off x="457200" y="1600201"/>
            <a:ext cx="8229600" cy="1904999"/>
          </a:xfrm>
        </p:spPr>
        <p:txBody>
          <a:bodyPr>
            <a:normAutofit fontScale="85000" lnSpcReduction="10000"/>
          </a:bodyPr>
          <a:lstStyle/>
          <a:p>
            <a:r>
              <a:rPr lang="en-US" dirty="0"/>
              <a:t>The r value represents the distance you need to move the axis to “adjust” it to the new center of mass.</a:t>
            </a:r>
          </a:p>
          <a:p>
            <a:r>
              <a:rPr lang="en-US" dirty="0"/>
              <a:t>We are going to use the earlier center of mass values in the table to find this adjustment distance “r”</a:t>
            </a:r>
          </a:p>
        </p:txBody>
      </p:sp>
      <p:sp>
        <p:nvSpPr>
          <p:cNvPr id="4" name="Slide Number Placeholder 3"/>
          <p:cNvSpPr>
            <a:spLocks noGrp="1"/>
          </p:cNvSpPr>
          <p:nvPr>
            <p:ph type="sldNum" sz="quarter" idx="12"/>
          </p:nvPr>
        </p:nvSpPr>
        <p:spPr/>
        <p:txBody>
          <a:bodyPr/>
          <a:lstStyle/>
          <a:p>
            <a:fld id="{929262FE-7F58-4A1E-8AF3-5A510A86DEBD}" type="slidenum">
              <a:rPr lang="en-US" smtClean="0"/>
              <a:t>9</a:t>
            </a:fld>
            <a:endParaRPr lang="en-US"/>
          </a:p>
        </p:txBody>
      </p:sp>
      <p:grpSp>
        <p:nvGrpSpPr>
          <p:cNvPr id="51" name="Group 50">
            <a:extLst>
              <a:ext uri="{FF2B5EF4-FFF2-40B4-BE49-F238E27FC236}">
                <a16:creationId xmlns:a16="http://schemas.microsoft.com/office/drawing/2014/main" id="{F26ACFE5-9D41-DB70-79F6-27B43FD29BF0}"/>
              </a:ext>
            </a:extLst>
          </p:cNvPr>
          <p:cNvGrpSpPr/>
          <p:nvPr/>
        </p:nvGrpSpPr>
        <p:grpSpPr>
          <a:xfrm>
            <a:off x="1403123" y="3429000"/>
            <a:ext cx="2046947" cy="3231971"/>
            <a:chOff x="1403123" y="3429000"/>
            <a:chExt cx="2046947" cy="3231971"/>
          </a:xfrm>
        </p:grpSpPr>
        <p:pic>
          <p:nvPicPr>
            <p:cNvPr id="11" name="Picture 10">
              <a:extLst>
                <a:ext uri="{FF2B5EF4-FFF2-40B4-BE49-F238E27FC236}">
                  <a16:creationId xmlns:a16="http://schemas.microsoft.com/office/drawing/2014/main" id="{9D3EEB38-939C-09A8-0B42-349D15B59BC8}"/>
                </a:ext>
              </a:extLst>
            </p:cNvPr>
            <p:cNvPicPr>
              <a:picLocks noChangeAspect="1"/>
            </p:cNvPicPr>
            <p:nvPr/>
          </p:nvPicPr>
          <p:blipFill>
            <a:blip r:embed="rId2"/>
            <a:stretch>
              <a:fillRect/>
            </a:stretch>
          </p:blipFill>
          <p:spPr>
            <a:xfrm>
              <a:off x="1403123" y="3429000"/>
              <a:ext cx="1792947" cy="3231971"/>
            </a:xfrm>
            <a:prstGeom prst="rect">
              <a:avLst/>
            </a:prstGeom>
          </p:spPr>
        </p:pic>
        <p:cxnSp>
          <p:nvCxnSpPr>
            <p:cNvPr id="15" name="Straight Connector 14">
              <a:extLst>
                <a:ext uri="{FF2B5EF4-FFF2-40B4-BE49-F238E27FC236}">
                  <a16:creationId xmlns:a16="http://schemas.microsoft.com/office/drawing/2014/main" id="{997CFCD1-6387-F0A7-3121-7E2827555AE7}"/>
                </a:ext>
              </a:extLst>
            </p:cNvPr>
            <p:cNvCxnSpPr>
              <a:cxnSpLocks/>
            </p:cNvCxnSpPr>
            <p:nvPr/>
          </p:nvCxnSpPr>
          <p:spPr>
            <a:xfrm>
              <a:off x="2780710" y="5344859"/>
              <a:ext cx="669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495D266-C0CC-3180-C62D-1FD8315996EA}"/>
                </a:ext>
              </a:extLst>
            </p:cNvPr>
            <p:cNvCxnSpPr>
              <a:cxnSpLocks/>
            </p:cNvCxnSpPr>
            <p:nvPr/>
          </p:nvCxnSpPr>
          <p:spPr>
            <a:xfrm>
              <a:off x="2780710" y="4745419"/>
              <a:ext cx="669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E520DBF-8E00-B2A8-42EB-0CFF3B0AD52F}"/>
                </a:ext>
              </a:extLst>
            </p:cNvPr>
            <p:cNvCxnSpPr>
              <a:cxnSpLocks/>
            </p:cNvCxnSpPr>
            <p:nvPr/>
          </p:nvCxnSpPr>
          <p:spPr>
            <a:xfrm flipV="1">
              <a:off x="3146470" y="4745419"/>
              <a:ext cx="0" cy="59944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75C9D55-904E-3C79-0E94-D62CEDE5999F}"/>
                    </a:ext>
                  </a:extLst>
                </p:cNvPr>
                <p:cNvSpPr txBox="1"/>
                <p:nvPr/>
              </p:nvSpPr>
              <p:spPr>
                <a:xfrm>
                  <a:off x="2940837" y="4849477"/>
                  <a:ext cx="411266"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rPr>
                            </m:ctrlPr>
                          </m:sSubPr>
                          <m:e>
                            <m:r>
                              <a:rPr lang="en-US" b="0" i="1" smtClean="0">
                                <a:solidFill>
                                  <a:srgbClr val="0070C0"/>
                                </a:solidFill>
                                <a:latin typeface="Cambria Math"/>
                              </a:rPr>
                              <m:t>𝑟</m:t>
                            </m:r>
                          </m:e>
                          <m:sub>
                            <m:r>
                              <a:rPr lang="en-US" b="0" i="1" smtClean="0">
                                <a:solidFill>
                                  <a:srgbClr val="0070C0"/>
                                </a:solidFill>
                                <a:latin typeface="Cambria Math" panose="02040503050406030204" pitchFamily="18" charset="0"/>
                              </a:rPr>
                              <m:t>𝑧</m:t>
                            </m:r>
                          </m:sub>
                        </m:sSub>
                      </m:oMath>
                    </m:oMathPara>
                  </a14:m>
                  <a:endParaRPr lang="en-US" dirty="0"/>
                </a:p>
              </p:txBody>
            </p:sp>
          </mc:Choice>
          <mc:Fallback>
            <p:sp>
              <p:nvSpPr>
                <p:cNvPr id="16" name="TextBox 15">
                  <a:extLst>
                    <a:ext uri="{FF2B5EF4-FFF2-40B4-BE49-F238E27FC236}">
                      <a16:creationId xmlns:a16="http://schemas.microsoft.com/office/drawing/2014/main" id="{175C9D55-904E-3C79-0E94-D62CEDE5999F}"/>
                    </a:ext>
                  </a:extLst>
                </p:cNvPr>
                <p:cNvSpPr txBox="1">
                  <a:spLocks noRot="1" noChangeAspect="1" noMove="1" noResize="1" noEditPoints="1" noAdjustHandles="1" noChangeArrowheads="1" noChangeShapeType="1" noTextEdit="1"/>
                </p:cNvSpPr>
                <p:nvPr/>
              </p:nvSpPr>
              <p:spPr>
                <a:xfrm>
                  <a:off x="2940837" y="4849477"/>
                  <a:ext cx="411266" cy="369332"/>
                </a:xfrm>
                <a:prstGeom prst="rect">
                  <a:avLst/>
                </a:prstGeom>
                <a:blipFill>
                  <a:blip r:embed="rId3"/>
                  <a:stretch>
                    <a:fillRect/>
                  </a:stretch>
                </a:blipFill>
              </p:spPr>
              <p:txBody>
                <a:bodyPr/>
                <a:lstStyle/>
                <a:p>
                  <a:r>
                    <a:rPr lang="en-US">
                      <a:noFill/>
                    </a:rPr>
                    <a:t> </a:t>
                  </a:r>
                </a:p>
              </p:txBody>
            </p:sp>
          </mc:Fallback>
        </mc:AlternateContent>
        <p:cxnSp>
          <p:nvCxnSpPr>
            <p:cNvPr id="45" name="Straight Arrow Connector 44">
              <a:extLst>
                <a:ext uri="{FF2B5EF4-FFF2-40B4-BE49-F238E27FC236}">
                  <a16:creationId xmlns:a16="http://schemas.microsoft.com/office/drawing/2014/main" id="{33D1AC0A-7CFF-0A66-9F40-66BCACEC408B}"/>
                </a:ext>
              </a:extLst>
            </p:cNvPr>
            <p:cNvCxnSpPr>
              <a:cxnSpLocks/>
            </p:cNvCxnSpPr>
            <p:nvPr/>
          </p:nvCxnSpPr>
          <p:spPr>
            <a:xfrm flipH="1">
              <a:off x="2162879" y="5354735"/>
              <a:ext cx="272483" cy="2719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6" name="TextBox 45">
              <a:extLst>
                <a:ext uri="{FF2B5EF4-FFF2-40B4-BE49-F238E27FC236}">
                  <a16:creationId xmlns:a16="http://schemas.microsoft.com/office/drawing/2014/main" id="{FF788D8A-50E7-33D0-4EAA-14A68294E958}"/>
                </a:ext>
              </a:extLst>
            </p:cNvPr>
            <p:cNvSpPr txBox="1"/>
            <p:nvPr/>
          </p:nvSpPr>
          <p:spPr>
            <a:xfrm>
              <a:off x="1841018" y="5407992"/>
              <a:ext cx="295274" cy="369332"/>
            </a:xfrm>
            <a:prstGeom prst="rect">
              <a:avLst/>
            </a:prstGeom>
            <a:noFill/>
          </p:spPr>
          <p:txBody>
            <a:bodyPr wrap="none" rtlCol="0">
              <a:spAutoFit/>
            </a:bodyPr>
            <a:lstStyle/>
            <a:p>
              <a:r>
                <a:rPr lang="en-US" b="1" dirty="0"/>
                <a:t>Z</a:t>
              </a:r>
              <a:endParaRPr lang="en-US" dirty="0"/>
            </a:p>
          </p:txBody>
        </p:sp>
        <p:cxnSp>
          <p:nvCxnSpPr>
            <p:cNvPr id="47" name="Straight Arrow Connector 46">
              <a:extLst>
                <a:ext uri="{FF2B5EF4-FFF2-40B4-BE49-F238E27FC236}">
                  <a16:creationId xmlns:a16="http://schemas.microsoft.com/office/drawing/2014/main" id="{3C6510B9-26D4-EA6E-897F-282E13368E9E}"/>
                </a:ext>
              </a:extLst>
            </p:cNvPr>
            <p:cNvCxnSpPr>
              <a:cxnSpLocks/>
            </p:cNvCxnSpPr>
            <p:nvPr/>
          </p:nvCxnSpPr>
          <p:spPr>
            <a:xfrm flipH="1">
              <a:off x="2154785" y="4745419"/>
              <a:ext cx="272483" cy="2719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8" name="TextBox 47">
              <a:extLst>
                <a:ext uri="{FF2B5EF4-FFF2-40B4-BE49-F238E27FC236}">
                  <a16:creationId xmlns:a16="http://schemas.microsoft.com/office/drawing/2014/main" id="{FEDCD1FB-6664-F908-54BF-6500BF055932}"/>
                </a:ext>
              </a:extLst>
            </p:cNvPr>
            <p:cNvSpPr txBox="1"/>
            <p:nvPr/>
          </p:nvSpPr>
          <p:spPr>
            <a:xfrm>
              <a:off x="1832924" y="4798676"/>
              <a:ext cx="295274" cy="369332"/>
            </a:xfrm>
            <a:prstGeom prst="rect">
              <a:avLst/>
            </a:prstGeom>
            <a:noFill/>
          </p:spPr>
          <p:txBody>
            <a:bodyPr wrap="none" rtlCol="0">
              <a:spAutoFit/>
            </a:bodyPr>
            <a:lstStyle/>
            <a:p>
              <a:r>
                <a:rPr lang="en-US" b="1" dirty="0"/>
                <a:t>Z</a:t>
              </a:r>
              <a:endParaRPr lang="en-US" dirty="0"/>
            </a:p>
          </p:txBody>
        </p:sp>
      </p:grpSp>
      <p:grpSp>
        <p:nvGrpSpPr>
          <p:cNvPr id="52" name="Group 51">
            <a:extLst>
              <a:ext uri="{FF2B5EF4-FFF2-40B4-BE49-F238E27FC236}">
                <a16:creationId xmlns:a16="http://schemas.microsoft.com/office/drawing/2014/main" id="{82123E85-13D7-6E2D-0E90-ABE16AD40E3F}"/>
              </a:ext>
            </a:extLst>
          </p:cNvPr>
          <p:cNvGrpSpPr/>
          <p:nvPr/>
        </p:nvGrpSpPr>
        <p:grpSpPr>
          <a:xfrm>
            <a:off x="5142003" y="3428999"/>
            <a:ext cx="2121197" cy="3231971"/>
            <a:chOff x="5142003" y="3428999"/>
            <a:chExt cx="2121197" cy="3231971"/>
          </a:xfrm>
        </p:grpSpPr>
        <p:pic>
          <p:nvPicPr>
            <p:cNvPr id="13" name="Picture 12">
              <a:extLst>
                <a:ext uri="{FF2B5EF4-FFF2-40B4-BE49-F238E27FC236}">
                  <a16:creationId xmlns:a16="http://schemas.microsoft.com/office/drawing/2014/main" id="{C12467A4-6FA3-4C99-F6F5-AC6AA8A1B6F4}"/>
                </a:ext>
              </a:extLst>
            </p:cNvPr>
            <p:cNvPicPr>
              <a:picLocks noChangeAspect="1"/>
            </p:cNvPicPr>
            <p:nvPr/>
          </p:nvPicPr>
          <p:blipFill>
            <a:blip r:embed="rId2"/>
            <a:stretch>
              <a:fillRect/>
            </a:stretch>
          </p:blipFill>
          <p:spPr>
            <a:xfrm>
              <a:off x="5142003" y="3428999"/>
              <a:ext cx="1792947" cy="3231971"/>
            </a:xfrm>
            <a:prstGeom prst="rect">
              <a:avLst/>
            </a:prstGeom>
          </p:spPr>
        </p:pic>
        <p:cxnSp>
          <p:nvCxnSpPr>
            <p:cNvPr id="23" name="Straight Connector 22">
              <a:extLst>
                <a:ext uri="{FF2B5EF4-FFF2-40B4-BE49-F238E27FC236}">
                  <a16:creationId xmlns:a16="http://schemas.microsoft.com/office/drawing/2014/main" id="{368FE1B4-8E1F-68D3-2FA7-36CC9126698E}"/>
                </a:ext>
              </a:extLst>
            </p:cNvPr>
            <p:cNvCxnSpPr>
              <a:cxnSpLocks/>
            </p:cNvCxnSpPr>
            <p:nvPr/>
          </p:nvCxnSpPr>
          <p:spPr>
            <a:xfrm>
              <a:off x="6593840" y="5355017"/>
              <a:ext cx="669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6CEE541-875A-9A00-1072-643E7199EC46}"/>
                </a:ext>
              </a:extLst>
            </p:cNvPr>
            <p:cNvCxnSpPr>
              <a:cxnSpLocks/>
            </p:cNvCxnSpPr>
            <p:nvPr/>
          </p:nvCxnSpPr>
          <p:spPr>
            <a:xfrm>
              <a:off x="6828720" y="6325870"/>
              <a:ext cx="363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55B2592-B7F1-F358-9B2F-4ECB123F7286}"/>
                </a:ext>
              </a:extLst>
            </p:cNvPr>
            <p:cNvCxnSpPr>
              <a:cxnSpLocks/>
            </p:cNvCxnSpPr>
            <p:nvPr/>
          </p:nvCxnSpPr>
          <p:spPr>
            <a:xfrm flipV="1">
              <a:off x="6981120" y="5355017"/>
              <a:ext cx="0" cy="97085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116437DB-407D-2872-A9DA-F6AED03212EA}"/>
                    </a:ext>
                  </a:extLst>
                </p:cNvPr>
                <p:cNvSpPr txBox="1"/>
                <p:nvPr/>
              </p:nvSpPr>
              <p:spPr>
                <a:xfrm>
                  <a:off x="6775487" y="5626697"/>
                  <a:ext cx="411266"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0070C0"/>
                                </a:solidFill>
                                <a:latin typeface="Cambria Math" panose="02040503050406030204" pitchFamily="18" charset="0"/>
                              </a:rPr>
                            </m:ctrlPr>
                          </m:sSubPr>
                          <m:e>
                            <m:r>
                              <a:rPr lang="en-US" b="0" i="1" smtClean="0">
                                <a:solidFill>
                                  <a:srgbClr val="0070C0"/>
                                </a:solidFill>
                                <a:latin typeface="Cambria Math"/>
                              </a:rPr>
                              <m:t>𝑟</m:t>
                            </m:r>
                          </m:e>
                          <m:sub>
                            <m:r>
                              <a:rPr lang="en-US" b="0" i="1" smtClean="0">
                                <a:solidFill>
                                  <a:srgbClr val="0070C0"/>
                                </a:solidFill>
                                <a:latin typeface="Cambria Math" panose="02040503050406030204" pitchFamily="18" charset="0"/>
                              </a:rPr>
                              <m:t>𝑧</m:t>
                            </m:r>
                          </m:sub>
                        </m:sSub>
                      </m:oMath>
                    </m:oMathPara>
                  </a14:m>
                  <a:endParaRPr lang="en-US" dirty="0"/>
                </a:p>
              </p:txBody>
            </p:sp>
          </mc:Choice>
          <mc:Fallback>
            <p:sp>
              <p:nvSpPr>
                <p:cNvPr id="44" name="TextBox 43">
                  <a:extLst>
                    <a:ext uri="{FF2B5EF4-FFF2-40B4-BE49-F238E27FC236}">
                      <a16:creationId xmlns:a16="http://schemas.microsoft.com/office/drawing/2014/main" id="{116437DB-407D-2872-A9DA-F6AED03212EA}"/>
                    </a:ext>
                  </a:extLst>
                </p:cNvPr>
                <p:cNvSpPr txBox="1">
                  <a:spLocks noRot="1" noChangeAspect="1" noMove="1" noResize="1" noEditPoints="1" noAdjustHandles="1" noChangeArrowheads="1" noChangeShapeType="1" noTextEdit="1"/>
                </p:cNvSpPr>
                <p:nvPr/>
              </p:nvSpPr>
              <p:spPr>
                <a:xfrm>
                  <a:off x="6775487" y="5626697"/>
                  <a:ext cx="411266" cy="369332"/>
                </a:xfrm>
                <a:prstGeom prst="rect">
                  <a:avLst/>
                </a:prstGeom>
                <a:blipFill>
                  <a:blip r:embed="rId4"/>
                  <a:stretch>
                    <a:fillRect/>
                  </a:stretch>
                </a:blipFill>
              </p:spPr>
              <p:txBody>
                <a:bodyPr/>
                <a:lstStyle/>
                <a:p>
                  <a:r>
                    <a:rPr lang="en-US">
                      <a:noFill/>
                    </a:rPr>
                    <a:t> </a:t>
                  </a:r>
                </a:p>
              </p:txBody>
            </p:sp>
          </mc:Fallback>
        </mc:AlternateContent>
        <p:cxnSp>
          <p:nvCxnSpPr>
            <p:cNvPr id="49" name="Straight Arrow Connector 48">
              <a:extLst>
                <a:ext uri="{FF2B5EF4-FFF2-40B4-BE49-F238E27FC236}">
                  <a16:creationId xmlns:a16="http://schemas.microsoft.com/office/drawing/2014/main" id="{598CE6DE-FA32-8BCC-E3B7-E09A997D0B5C}"/>
                </a:ext>
              </a:extLst>
            </p:cNvPr>
            <p:cNvCxnSpPr>
              <a:cxnSpLocks/>
            </p:cNvCxnSpPr>
            <p:nvPr/>
          </p:nvCxnSpPr>
          <p:spPr>
            <a:xfrm flipH="1">
              <a:off x="5902189" y="5344859"/>
              <a:ext cx="272483" cy="2719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50" name="TextBox 49">
              <a:extLst>
                <a:ext uri="{FF2B5EF4-FFF2-40B4-BE49-F238E27FC236}">
                  <a16:creationId xmlns:a16="http://schemas.microsoft.com/office/drawing/2014/main" id="{6AC4A313-8FDE-8F85-B00B-95311A1881CD}"/>
                </a:ext>
              </a:extLst>
            </p:cNvPr>
            <p:cNvSpPr txBox="1"/>
            <p:nvPr/>
          </p:nvSpPr>
          <p:spPr>
            <a:xfrm>
              <a:off x="5580328" y="5398116"/>
              <a:ext cx="295274" cy="369332"/>
            </a:xfrm>
            <a:prstGeom prst="rect">
              <a:avLst/>
            </a:prstGeom>
            <a:noFill/>
          </p:spPr>
          <p:txBody>
            <a:bodyPr wrap="none" rtlCol="0">
              <a:spAutoFit/>
            </a:bodyPr>
            <a:lstStyle/>
            <a:p>
              <a:r>
                <a:rPr lang="en-US" b="1" dirty="0"/>
                <a:t>Z</a:t>
              </a:r>
              <a:endParaRPr lang="en-US" dirty="0"/>
            </a:p>
          </p:txBody>
        </p:sp>
      </p:grpSp>
    </p:spTree>
    <p:extLst>
      <p:ext uri="{BB962C8B-B14F-4D97-AF65-F5344CB8AC3E}">
        <p14:creationId xmlns:p14="http://schemas.microsoft.com/office/powerpoint/2010/main" val="140967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fade">
                                      <p:cBhvr>
                                        <p:cTn id="15" dur="500"/>
                                        <p:tgtEl>
                                          <p:spTgt spid="5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fade">
                                      <p:cBhvr>
                                        <p:cTn id="2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of Composite Parts</a:t>
            </a:r>
          </a:p>
        </p:txBody>
      </p:sp>
      <p:sp>
        <p:nvSpPr>
          <p:cNvPr id="3" name="Content Placeholder 2"/>
          <p:cNvSpPr>
            <a:spLocks noGrp="1"/>
          </p:cNvSpPr>
          <p:nvPr>
            <p:ph idx="1"/>
          </p:nvPr>
        </p:nvSpPr>
        <p:spPr>
          <a:xfrm>
            <a:off x="457200" y="1600200"/>
            <a:ext cx="5334000" cy="3048000"/>
          </a:xfrm>
        </p:spPr>
        <p:txBody>
          <a:bodyPr>
            <a:normAutofit fontScale="85000" lnSpcReduction="10000"/>
          </a:bodyPr>
          <a:lstStyle/>
          <a:p>
            <a:r>
              <a:rPr lang="en-US" dirty="0"/>
              <a:t>Once you have figured out your r values, you will use those to find the adjusted moments of inertia for each piece.</a:t>
            </a:r>
          </a:p>
          <a:p>
            <a:r>
              <a:rPr lang="en-US" dirty="0"/>
              <a:t>Finally, the adjusted moments of inertia can be added up find the overall moment of inertia.</a:t>
            </a:r>
          </a:p>
          <a:p>
            <a:endParaRPr lang="en-US" dirty="0"/>
          </a:p>
          <a:p>
            <a:endParaRPr lang="en-US" dirty="0"/>
          </a:p>
        </p:txBody>
      </p:sp>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2766993C-DDAA-475E-A9E6-95D36586A572}"/>
                  </a:ext>
                </a:extLst>
              </p:cNvPr>
              <p:cNvSpPr/>
              <p:nvPr/>
            </p:nvSpPr>
            <p:spPr>
              <a:xfrm>
                <a:off x="6019800" y="2209800"/>
                <a:ext cx="2884251" cy="4988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a:rPr>
                            <m:t>𝐼</m:t>
                          </m:r>
                        </m:e>
                        <m:sub>
                          <m:r>
                            <a:rPr lang="en-US" sz="2400" b="0" i="1" smtClean="0">
                              <a:latin typeface="Cambria Math" panose="02040503050406030204" pitchFamily="18" charset="0"/>
                            </a:rPr>
                            <m:t>𝑧𝑧</m:t>
                          </m:r>
                          <m:r>
                            <a:rPr lang="en-US" sz="2400" b="0" i="1" smtClean="0">
                              <a:latin typeface="Cambria Math" panose="02040503050406030204" pitchFamily="18" charset="0"/>
                            </a:rPr>
                            <m:t> </m:t>
                          </m:r>
                          <m:r>
                            <a:rPr lang="en-US" sz="2400" b="0" i="1" smtClean="0">
                              <a:latin typeface="Cambria Math" panose="02040503050406030204" pitchFamily="18" charset="0"/>
                            </a:rPr>
                            <m:t>𝑎𝑑𝑗</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𝐼</m:t>
                          </m:r>
                        </m:e>
                        <m:sub>
                          <m:r>
                            <a:rPr lang="en-US" sz="2400" b="0" i="1" smtClean="0">
                              <a:latin typeface="Cambria Math" panose="02040503050406030204" pitchFamily="18" charset="0"/>
                            </a:rPr>
                            <m:t>𝑧𝑧</m:t>
                          </m:r>
                          <m:r>
                            <a:rPr lang="en-US" sz="2400" i="1">
                              <a:latin typeface="Cambria Math"/>
                            </a:rPr>
                            <m:t>𝐶</m:t>
                          </m:r>
                        </m:sub>
                      </m:sSub>
                      <m:r>
                        <a:rPr lang="en-US" sz="2400" i="1">
                          <a:latin typeface="Cambria Math"/>
                        </a:rPr>
                        <m:t>+</m:t>
                      </m:r>
                      <m:r>
                        <a:rPr lang="en-US" sz="2400" b="0" i="1" smtClean="0">
                          <a:latin typeface="Cambria Math" panose="02040503050406030204" pitchFamily="18" charset="0"/>
                        </a:rPr>
                        <m:t>𝑚</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𝑟</m:t>
                          </m:r>
                        </m:e>
                        <m:sub>
                          <m:r>
                            <a:rPr lang="en-US" sz="2400" b="0" i="1" smtClean="0">
                              <a:latin typeface="Cambria Math" panose="02040503050406030204" pitchFamily="18" charset="0"/>
                            </a:rPr>
                            <m:t>𝑥</m:t>
                          </m:r>
                        </m:sub>
                        <m:sup>
                          <m:r>
                            <a:rPr lang="en-US" sz="2400" b="0" i="1" smtClean="0">
                              <a:latin typeface="Cambria Math" panose="02040503050406030204" pitchFamily="18" charset="0"/>
                            </a:rPr>
                            <m:t>2</m:t>
                          </m:r>
                        </m:sup>
                      </m:sSubSup>
                    </m:oMath>
                  </m:oMathPara>
                </a14:m>
                <a:endParaRPr lang="en-US" dirty="0"/>
              </a:p>
            </p:txBody>
          </p:sp>
        </mc:Choice>
        <mc:Fallback>
          <p:sp>
            <p:nvSpPr>
              <p:cNvPr id="5" name="Rectangle 4">
                <a:extLst>
                  <a:ext uri="{FF2B5EF4-FFF2-40B4-BE49-F238E27FC236}">
                    <a16:creationId xmlns:a16="http://schemas.microsoft.com/office/drawing/2014/main" id="{2766993C-DDAA-475E-A9E6-95D36586A572}"/>
                  </a:ext>
                </a:extLst>
              </p:cNvPr>
              <p:cNvSpPr>
                <a:spLocks noRot="1" noChangeAspect="1" noMove="1" noResize="1" noEditPoints="1" noAdjustHandles="1" noChangeArrowheads="1" noChangeShapeType="1" noTextEdit="1"/>
              </p:cNvSpPr>
              <p:nvPr/>
            </p:nvSpPr>
            <p:spPr>
              <a:xfrm>
                <a:off x="6019800" y="2209800"/>
                <a:ext cx="2884251" cy="498855"/>
              </a:xfrm>
              <a:prstGeom prst="rect">
                <a:avLst/>
              </a:prstGeom>
              <a:blipFill>
                <a:blip r:embed="rId2"/>
                <a:stretch>
                  <a:fillRect b="-98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6" name="Table 17">
                <a:extLst>
                  <a:ext uri="{FF2B5EF4-FFF2-40B4-BE49-F238E27FC236}">
                    <a16:creationId xmlns:a16="http://schemas.microsoft.com/office/drawing/2014/main" id="{7B5777B1-1EE8-7172-73B6-20E054FD61B5}"/>
                  </a:ext>
                </a:extLst>
              </p:cNvPr>
              <p:cNvGraphicFramePr>
                <a:graphicFrameLocks noGrp="1"/>
              </p:cNvGraphicFramePr>
              <p:nvPr>
                <p:extLst>
                  <p:ext uri="{D42A27DB-BD31-4B8C-83A1-F6EECF244321}">
                    <p14:modId xmlns:p14="http://schemas.microsoft.com/office/powerpoint/2010/main" val="1672856597"/>
                  </p:ext>
                </p:extLst>
              </p:nvPr>
            </p:nvGraphicFramePr>
            <p:xfrm>
              <a:off x="1713496" y="4773147"/>
              <a:ext cx="5717007" cy="1850898"/>
            </p:xfrm>
            <a:graphic>
              <a:graphicData uri="http://schemas.openxmlformats.org/drawingml/2006/table">
                <a:tbl>
                  <a:tblPr firstRow="1" bandRow="1">
                    <a:tableStyleId>{5940675A-B579-460E-94D1-54222C63F5DA}</a:tableStyleId>
                  </a:tblPr>
                  <a:tblGrid>
                    <a:gridCol w="1111160">
                      <a:extLst>
                        <a:ext uri="{9D8B030D-6E8A-4147-A177-3AD203B41FA5}">
                          <a16:colId xmlns:a16="http://schemas.microsoft.com/office/drawing/2014/main" val="211987312"/>
                        </a:ext>
                      </a:extLst>
                    </a:gridCol>
                    <a:gridCol w="769264">
                      <a:extLst>
                        <a:ext uri="{9D8B030D-6E8A-4147-A177-3AD203B41FA5}">
                          <a16:colId xmlns:a16="http://schemas.microsoft.com/office/drawing/2014/main" val="2161274486"/>
                        </a:ext>
                      </a:extLst>
                    </a:gridCol>
                    <a:gridCol w="497156">
                      <a:extLst>
                        <a:ext uri="{9D8B030D-6E8A-4147-A177-3AD203B41FA5}">
                          <a16:colId xmlns:a16="http://schemas.microsoft.com/office/drawing/2014/main" val="660411794"/>
                        </a:ext>
                      </a:extLst>
                    </a:gridCol>
                    <a:gridCol w="1120896">
                      <a:extLst>
                        <a:ext uri="{9D8B030D-6E8A-4147-A177-3AD203B41FA5}">
                          <a16:colId xmlns:a16="http://schemas.microsoft.com/office/drawing/2014/main" val="787635511"/>
                        </a:ext>
                      </a:extLst>
                    </a:gridCol>
                    <a:gridCol w="936424">
                      <a:extLst>
                        <a:ext uri="{9D8B030D-6E8A-4147-A177-3AD203B41FA5}">
                          <a16:colId xmlns:a16="http://schemas.microsoft.com/office/drawing/2014/main" val="3403652858"/>
                        </a:ext>
                      </a:extLst>
                    </a:gridCol>
                    <a:gridCol w="1282107">
                      <a:extLst>
                        <a:ext uri="{9D8B030D-6E8A-4147-A177-3AD203B41FA5}">
                          <a16:colId xmlns:a16="http://schemas.microsoft.com/office/drawing/2014/main" val="789926030"/>
                        </a:ext>
                      </a:extLst>
                    </a:gridCol>
                  </a:tblGrid>
                  <a:tr h="0">
                    <a:tc>
                      <a:txBody>
                        <a:bodyPr/>
                        <a:lstStyle/>
                        <a:p>
                          <a:pPr algn="ctr"/>
                          <a:r>
                            <a:rPr lang="en-US" dirty="0"/>
                            <a:t>Shape</a:t>
                          </a:r>
                        </a:p>
                      </a:txBody>
                      <a:tcPr anchor="ctr">
                        <a:solidFill>
                          <a:schemeClr val="bg1"/>
                        </a:solidFill>
                      </a:tcPr>
                    </a:tc>
                    <a:tc>
                      <a:txBody>
                        <a:bodyPr/>
                        <a:lstStyle/>
                        <a:p>
                          <a:pPr algn="ctr"/>
                          <a:r>
                            <a:rPr lang="en-US" dirty="0"/>
                            <a:t>mass</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𝑌</m:t>
                                    </m:r>
                                  </m:e>
                                </m:acc>
                              </m:oMath>
                            </m:oMathPara>
                          </a14:m>
                          <a:endParaRPr lang="en-US" dirty="0"/>
                        </a:p>
                      </a:txBody>
                      <a:tcPr anchor="c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𝑧𝑧</m:t>
                                    </m:r>
                                    <m:r>
                                      <a:rPr lang="en-US" b="0" i="1" smtClean="0">
                                        <a:latin typeface="Cambria Math" panose="02040503050406030204" pitchFamily="18" charset="0"/>
                                      </a:rPr>
                                      <m:t> </m:t>
                                    </m:r>
                                    <m:r>
                                      <a:rPr lang="en-US" b="0" i="1" smtClean="0">
                                        <a:latin typeface="Cambria Math" panose="02040503050406030204" pitchFamily="18" charset="0"/>
                                      </a:rPr>
                                      <m:t>𝑐</m:t>
                                    </m:r>
                                  </m:sub>
                                </m:sSub>
                              </m:oMath>
                            </m:oMathPara>
                          </a14:m>
                          <a:endParaRPr lang="en-US" dirty="0"/>
                        </a:p>
                      </a:txBody>
                      <a:tcPr anchor="c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𝑥</m:t>
                                    </m:r>
                                  </m:sub>
                                </m:sSub>
                              </m:oMath>
                            </m:oMathPara>
                          </a14:m>
                          <a:endParaRPr lang="en-US"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𝑧𝑧</m:t>
                                    </m:r>
                                    <m:r>
                                      <a:rPr lang="en-US" b="0" i="1" smtClean="0">
                                        <a:latin typeface="Cambria Math" panose="02040503050406030204" pitchFamily="18" charset="0"/>
                                      </a:rPr>
                                      <m:t> </m:t>
                                    </m:r>
                                    <m:r>
                                      <a:rPr lang="en-US" b="0" i="1" smtClean="0">
                                        <a:latin typeface="Cambria Math" panose="02040503050406030204" pitchFamily="18" charset="0"/>
                                      </a:rPr>
                                      <m:t>𝑎𝑑𝑗</m:t>
                                    </m:r>
                                  </m:sub>
                                </m:sSub>
                              </m:oMath>
                            </m:oMathPara>
                          </a14:m>
                          <a:endParaRPr lang="en-US" dirty="0"/>
                        </a:p>
                      </a:txBody>
                      <a:tcPr anchor="ctr">
                        <a:solidFill>
                          <a:schemeClr val="bg1"/>
                        </a:solidFill>
                      </a:tcPr>
                    </a:tc>
                    <a:extLst>
                      <a:ext uri="{0D108BD9-81ED-4DB2-BD59-A6C34878D82A}">
                        <a16:rowId xmlns:a16="http://schemas.microsoft.com/office/drawing/2014/main" val="1214710174"/>
                      </a:ext>
                    </a:extLst>
                  </a:tr>
                  <a:tr h="0">
                    <a:tc>
                      <a:txBody>
                        <a:bodyPr/>
                        <a:lstStyle/>
                        <a:p>
                          <a:r>
                            <a:rPr lang="en-US" dirty="0"/>
                            <a:t>1</a:t>
                          </a:r>
                        </a:p>
                      </a:txBody>
                      <a:tcPr>
                        <a:solidFill>
                          <a:schemeClr val="bg1"/>
                        </a:solidFill>
                      </a:tcPr>
                    </a:tc>
                    <a:tc>
                      <a:txBody>
                        <a:bodyPr/>
                        <a:lstStyle/>
                        <a:p>
                          <a:endParaRPr lang="en-US" dirty="0"/>
                        </a:p>
                      </a:txBody>
                      <a:tcPr>
                        <a:solidFill>
                          <a:schemeClr val="bg1"/>
                        </a:solidFill>
                      </a:tcPr>
                    </a:tc>
                    <a:tc>
                      <a:txBody>
                        <a:bodyPr/>
                        <a:lstStyle/>
                        <a:p>
                          <a:endParaRPr lang="en-US"/>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355658301"/>
                      </a:ext>
                    </a:extLst>
                  </a:tr>
                  <a:tr h="0">
                    <a:tc>
                      <a:txBody>
                        <a:bodyPr/>
                        <a:lstStyle/>
                        <a:p>
                          <a:r>
                            <a:rPr lang="en-US" dirty="0"/>
                            <a:t>2</a:t>
                          </a:r>
                        </a:p>
                      </a:txBody>
                      <a:tcPr>
                        <a:solidFill>
                          <a:schemeClr val="bg1"/>
                        </a:solidFill>
                      </a:tcPr>
                    </a:tc>
                    <a:tc>
                      <a:txBody>
                        <a:bodyPr/>
                        <a:lstStyle/>
                        <a:p>
                          <a:endParaRPr lang="en-US" dirty="0"/>
                        </a:p>
                      </a:txBody>
                      <a:tcPr>
                        <a:solidFill>
                          <a:schemeClr val="bg1"/>
                        </a:solidFill>
                      </a:tcPr>
                    </a:tc>
                    <a:tc>
                      <a:txBody>
                        <a:bodyPr/>
                        <a:lstStyle/>
                        <a:p>
                          <a:endParaRPr lang="en-US"/>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1027254420"/>
                      </a:ext>
                    </a:extLst>
                  </a:tr>
                  <a:tr h="0">
                    <a:tc>
                      <a:txBody>
                        <a:bodyPr/>
                        <a:lstStyle/>
                        <a:p>
                          <a:r>
                            <a:rPr lang="en-US" dirty="0"/>
                            <a:t>3</a:t>
                          </a:r>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extLst>
                      <a:ext uri="{0D108BD9-81ED-4DB2-BD59-A6C34878D82A}">
                        <a16:rowId xmlns:a16="http://schemas.microsoft.com/office/drawing/2014/main" val="4085176402"/>
                      </a:ext>
                    </a:extLst>
                  </a:tr>
                  <a:tr h="0">
                    <a:tc>
                      <a:txBody>
                        <a:bodyPr/>
                        <a:lstStyle/>
                        <a:p>
                          <a:r>
                            <a:rPr lang="en-US" dirty="0"/>
                            <a:t>Total</a:t>
                          </a:r>
                        </a:p>
                      </a:txBody>
                      <a:tcPr>
                        <a:solidFill>
                          <a:schemeClr val="bg1"/>
                        </a:solidFill>
                      </a:tcPr>
                    </a:tc>
                    <a:tc>
                      <a:txBody>
                        <a:bodyPr/>
                        <a:lstStyle/>
                        <a:p>
                          <a:endParaRPr lang="en-US"/>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416697505"/>
                      </a:ext>
                    </a:extLst>
                  </a:tr>
                </a:tbl>
              </a:graphicData>
            </a:graphic>
          </p:graphicFrame>
        </mc:Choice>
        <mc:Fallback>
          <p:graphicFrame>
            <p:nvGraphicFramePr>
              <p:cNvPr id="6" name="Table 17">
                <a:extLst>
                  <a:ext uri="{FF2B5EF4-FFF2-40B4-BE49-F238E27FC236}">
                    <a16:creationId xmlns:a16="http://schemas.microsoft.com/office/drawing/2014/main" id="{7B5777B1-1EE8-7172-73B6-20E054FD61B5}"/>
                  </a:ext>
                </a:extLst>
              </p:cNvPr>
              <p:cNvGraphicFramePr>
                <a:graphicFrameLocks noGrp="1"/>
              </p:cNvGraphicFramePr>
              <p:nvPr>
                <p:extLst>
                  <p:ext uri="{D42A27DB-BD31-4B8C-83A1-F6EECF244321}">
                    <p14:modId xmlns:p14="http://schemas.microsoft.com/office/powerpoint/2010/main" val="1672856597"/>
                  </p:ext>
                </p:extLst>
              </p:nvPr>
            </p:nvGraphicFramePr>
            <p:xfrm>
              <a:off x="1713496" y="4773147"/>
              <a:ext cx="5717007" cy="1850898"/>
            </p:xfrm>
            <a:graphic>
              <a:graphicData uri="http://schemas.openxmlformats.org/drawingml/2006/table">
                <a:tbl>
                  <a:tblPr firstRow="1" bandRow="1">
                    <a:tableStyleId>{5940675A-B579-460E-94D1-54222C63F5DA}</a:tableStyleId>
                  </a:tblPr>
                  <a:tblGrid>
                    <a:gridCol w="1111160">
                      <a:extLst>
                        <a:ext uri="{9D8B030D-6E8A-4147-A177-3AD203B41FA5}">
                          <a16:colId xmlns:a16="http://schemas.microsoft.com/office/drawing/2014/main" val="211987312"/>
                        </a:ext>
                      </a:extLst>
                    </a:gridCol>
                    <a:gridCol w="769264">
                      <a:extLst>
                        <a:ext uri="{9D8B030D-6E8A-4147-A177-3AD203B41FA5}">
                          <a16:colId xmlns:a16="http://schemas.microsoft.com/office/drawing/2014/main" val="2161274486"/>
                        </a:ext>
                      </a:extLst>
                    </a:gridCol>
                    <a:gridCol w="497156">
                      <a:extLst>
                        <a:ext uri="{9D8B030D-6E8A-4147-A177-3AD203B41FA5}">
                          <a16:colId xmlns:a16="http://schemas.microsoft.com/office/drawing/2014/main" val="660411794"/>
                        </a:ext>
                      </a:extLst>
                    </a:gridCol>
                    <a:gridCol w="1120896">
                      <a:extLst>
                        <a:ext uri="{9D8B030D-6E8A-4147-A177-3AD203B41FA5}">
                          <a16:colId xmlns:a16="http://schemas.microsoft.com/office/drawing/2014/main" val="787635511"/>
                        </a:ext>
                      </a:extLst>
                    </a:gridCol>
                    <a:gridCol w="936424">
                      <a:extLst>
                        <a:ext uri="{9D8B030D-6E8A-4147-A177-3AD203B41FA5}">
                          <a16:colId xmlns:a16="http://schemas.microsoft.com/office/drawing/2014/main" val="3403652858"/>
                        </a:ext>
                      </a:extLst>
                    </a:gridCol>
                    <a:gridCol w="1282107">
                      <a:extLst>
                        <a:ext uri="{9D8B030D-6E8A-4147-A177-3AD203B41FA5}">
                          <a16:colId xmlns:a16="http://schemas.microsoft.com/office/drawing/2014/main" val="789926030"/>
                        </a:ext>
                      </a:extLst>
                    </a:gridCol>
                  </a:tblGrid>
                  <a:tr h="387858">
                    <a:tc>
                      <a:txBody>
                        <a:bodyPr/>
                        <a:lstStyle/>
                        <a:p>
                          <a:pPr algn="ctr"/>
                          <a:r>
                            <a:rPr lang="en-US" dirty="0"/>
                            <a:t>Shape</a:t>
                          </a:r>
                        </a:p>
                      </a:txBody>
                      <a:tcPr anchor="ctr">
                        <a:solidFill>
                          <a:schemeClr val="bg1"/>
                        </a:solidFill>
                      </a:tcPr>
                    </a:tc>
                    <a:tc>
                      <a:txBody>
                        <a:bodyPr/>
                        <a:lstStyle/>
                        <a:p>
                          <a:pPr algn="ctr"/>
                          <a:r>
                            <a:rPr lang="en-US" dirty="0"/>
                            <a:t>mass</a:t>
                          </a:r>
                        </a:p>
                      </a:txBody>
                      <a:tcPr anchor="ctr">
                        <a:solidFill>
                          <a:schemeClr val="bg1"/>
                        </a:solidFill>
                      </a:tcPr>
                    </a:tc>
                    <a:tc>
                      <a:txBody>
                        <a:bodyPr/>
                        <a:lstStyle/>
                        <a:p>
                          <a:endParaRPr lang="en-US"/>
                        </a:p>
                      </a:txBody>
                      <a:tcPr anchor="ctr">
                        <a:blipFill>
                          <a:blip r:embed="rId3"/>
                          <a:stretch>
                            <a:fillRect l="-382716" t="-4688" r="-679012" b="-401563"/>
                          </a:stretch>
                        </a:blipFill>
                      </a:tcPr>
                    </a:tc>
                    <a:tc>
                      <a:txBody>
                        <a:bodyPr/>
                        <a:lstStyle/>
                        <a:p>
                          <a:endParaRPr lang="en-US"/>
                        </a:p>
                      </a:txBody>
                      <a:tcPr anchor="ctr">
                        <a:blipFill>
                          <a:blip r:embed="rId3"/>
                          <a:stretch>
                            <a:fillRect l="-212500" t="-4688" r="-198913" b="-401563"/>
                          </a:stretch>
                        </a:blipFill>
                      </a:tcPr>
                    </a:tc>
                    <a:tc>
                      <a:txBody>
                        <a:bodyPr/>
                        <a:lstStyle/>
                        <a:p>
                          <a:endParaRPr lang="en-US"/>
                        </a:p>
                      </a:txBody>
                      <a:tcPr anchor="ctr">
                        <a:blipFill>
                          <a:blip r:embed="rId3"/>
                          <a:stretch>
                            <a:fillRect l="-373377" t="-4688" r="-137662" b="-401563"/>
                          </a:stretch>
                        </a:blipFill>
                      </a:tcPr>
                    </a:tc>
                    <a:tc>
                      <a:txBody>
                        <a:bodyPr/>
                        <a:lstStyle/>
                        <a:p>
                          <a:endParaRPr lang="en-US"/>
                        </a:p>
                      </a:txBody>
                      <a:tcPr anchor="ctr">
                        <a:blipFill>
                          <a:blip r:embed="rId3"/>
                          <a:stretch>
                            <a:fillRect l="-347143" t="-4688" r="-952" b="-401563"/>
                          </a:stretch>
                        </a:blipFill>
                      </a:tcPr>
                    </a:tc>
                    <a:extLst>
                      <a:ext uri="{0D108BD9-81ED-4DB2-BD59-A6C34878D82A}">
                        <a16:rowId xmlns:a16="http://schemas.microsoft.com/office/drawing/2014/main" val="1214710174"/>
                      </a:ext>
                    </a:extLst>
                  </a:tr>
                  <a:tr h="365760">
                    <a:tc>
                      <a:txBody>
                        <a:bodyPr/>
                        <a:lstStyle/>
                        <a:p>
                          <a:r>
                            <a:rPr lang="en-US" dirty="0"/>
                            <a:t>1</a:t>
                          </a:r>
                        </a:p>
                      </a:txBody>
                      <a:tcPr>
                        <a:solidFill>
                          <a:schemeClr val="bg1"/>
                        </a:solidFill>
                      </a:tcPr>
                    </a:tc>
                    <a:tc>
                      <a:txBody>
                        <a:bodyPr/>
                        <a:lstStyle/>
                        <a:p>
                          <a:endParaRPr lang="en-US" dirty="0"/>
                        </a:p>
                      </a:txBody>
                      <a:tcPr>
                        <a:solidFill>
                          <a:schemeClr val="bg1"/>
                        </a:solidFill>
                      </a:tcPr>
                    </a:tc>
                    <a:tc>
                      <a:txBody>
                        <a:bodyPr/>
                        <a:lstStyle/>
                        <a:p>
                          <a:endParaRPr lang="en-US"/>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355658301"/>
                      </a:ext>
                    </a:extLst>
                  </a:tr>
                  <a:tr h="365760">
                    <a:tc>
                      <a:txBody>
                        <a:bodyPr/>
                        <a:lstStyle/>
                        <a:p>
                          <a:r>
                            <a:rPr lang="en-US" dirty="0"/>
                            <a:t>2</a:t>
                          </a:r>
                        </a:p>
                      </a:txBody>
                      <a:tcPr>
                        <a:solidFill>
                          <a:schemeClr val="bg1"/>
                        </a:solidFill>
                      </a:tcPr>
                    </a:tc>
                    <a:tc>
                      <a:txBody>
                        <a:bodyPr/>
                        <a:lstStyle/>
                        <a:p>
                          <a:endParaRPr lang="en-US" dirty="0"/>
                        </a:p>
                      </a:txBody>
                      <a:tcPr>
                        <a:solidFill>
                          <a:schemeClr val="bg1"/>
                        </a:solidFill>
                      </a:tcPr>
                    </a:tc>
                    <a:tc>
                      <a:txBody>
                        <a:bodyPr/>
                        <a:lstStyle/>
                        <a:p>
                          <a:endParaRPr lang="en-US"/>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1027254420"/>
                      </a:ext>
                    </a:extLst>
                  </a:tr>
                  <a:tr h="365760">
                    <a:tc>
                      <a:txBody>
                        <a:bodyPr/>
                        <a:lstStyle/>
                        <a:p>
                          <a:r>
                            <a:rPr lang="en-US" dirty="0"/>
                            <a:t>3</a:t>
                          </a:r>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tc>
                      <a:txBody>
                        <a:bodyPr/>
                        <a:lstStyle/>
                        <a:p>
                          <a:endParaRPr lang="en-US"/>
                        </a:p>
                      </a:txBody>
                      <a:tcPr>
                        <a:solidFill>
                          <a:schemeClr val="bg1"/>
                        </a:solidFill>
                      </a:tcPr>
                    </a:tc>
                    <a:extLst>
                      <a:ext uri="{0D108BD9-81ED-4DB2-BD59-A6C34878D82A}">
                        <a16:rowId xmlns:a16="http://schemas.microsoft.com/office/drawing/2014/main" val="4085176402"/>
                      </a:ext>
                    </a:extLst>
                  </a:tr>
                  <a:tr h="365760">
                    <a:tc>
                      <a:txBody>
                        <a:bodyPr/>
                        <a:lstStyle/>
                        <a:p>
                          <a:r>
                            <a:rPr lang="en-US" dirty="0"/>
                            <a:t>Total</a:t>
                          </a:r>
                        </a:p>
                      </a:txBody>
                      <a:tcPr>
                        <a:solidFill>
                          <a:schemeClr val="bg1"/>
                        </a:solidFill>
                      </a:tcPr>
                    </a:tc>
                    <a:tc>
                      <a:txBody>
                        <a:bodyPr/>
                        <a:lstStyle/>
                        <a:p>
                          <a:endParaRPr lang="en-US"/>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tc>
                      <a:txBody>
                        <a:bodyPr/>
                        <a:lstStyle/>
                        <a:p>
                          <a:endParaRPr lang="en-US" dirty="0"/>
                        </a:p>
                      </a:txBody>
                      <a:tcPr>
                        <a:solidFill>
                          <a:schemeClr val="bg1"/>
                        </a:solidFill>
                      </a:tcPr>
                    </a:tc>
                    <a:extLst>
                      <a:ext uri="{0D108BD9-81ED-4DB2-BD59-A6C34878D82A}">
                        <a16:rowId xmlns:a16="http://schemas.microsoft.com/office/drawing/2014/main" val="416697505"/>
                      </a:ext>
                    </a:extLst>
                  </a:tr>
                </a:tbl>
              </a:graphicData>
            </a:graphic>
          </p:graphicFrame>
        </mc:Fallback>
      </mc:AlternateContent>
    </p:spTree>
    <p:extLst>
      <p:ext uri="{BB962C8B-B14F-4D97-AF65-F5344CB8AC3E}">
        <p14:creationId xmlns:p14="http://schemas.microsoft.com/office/powerpoint/2010/main" val="733259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Thanks for Watching</a:t>
            </a:r>
          </a:p>
        </p:txBody>
      </p:sp>
      <p:sp>
        <p:nvSpPr>
          <p:cNvPr id="3" name="Subtitle 2"/>
          <p:cNvSpPr>
            <a:spLocks noGrp="1"/>
          </p:cNvSpPr>
          <p:nvPr>
            <p:ph type="subTitle" idx="1"/>
          </p:nvPr>
        </p:nvSpPr>
        <p:spPr/>
        <p:txBody>
          <a:bodyPr/>
          <a:lstStyle/>
          <a:p>
            <a:r>
              <a:rPr lang="en-US" dirty="0"/>
              <a:t>See other engineering mechanics videos and access the full tool at…</a:t>
            </a:r>
          </a:p>
        </p:txBody>
      </p:sp>
    </p:spTree>
    <p:extLst>
      <p:ext uri="{BB962C8B-B14F-4D97-AF65-F5344CB8AC3E}">
        <p14:creationId xmlns:p14="http://schemas.microsoft.com/office/powerpoint/2010/main" val="3129637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A31F7-2BDE-4B63-9437-67B91D14B828}"/>
              </a:ext>
            </a:extLst>
          </p:cNvPr>
          <p:cNvSpPr>
            <a:spLocks noGrp="1"/>
          </p:cNvSpPr>
          <p:nvPr>
            <p:ph type="title"/>
          </p:nvPr>
        </p:nvSpPr>
        <p:spPr/>
        <p:txBody>
          <a:bodyPr>
            <a:normAutofit fontScale="90000"/>
          </a:bodyPr>
          <a:lstStyle/>
          <a:p>
            <a:r>
              <a:rPr lang="en-US" dirty="0"/>
              <a:t>Mass Moment of Inertia Worked Example</a:t>
            </a:r>
          </a:p>
        </p:txBody>
      </p:sp>
      <p:sp>
        <p:nvSpPr>
          <p:cNvPr id="3" name="Content Placeholder 2">
            <a:extLst>
              <a:ext uri="{FF2B5EF4-FFF2-40B4-BE49-F238E27FC236}">
                <a16:creationId xmlns:a16="http://schemas.microsoft.com/office/drawing/2014/main" id="{2E143E21-6455-49E4-9FD7-EE8B1B69B2EE}"/>
              </a:ext>
            </a:extLst>
          </p:cNvPr>
          <p:cNvSpPr>
            <a:spLocks noGrp="1"/>
          </p:cNvSpPr>
          <p:nvPr>
            <p:ph idx="1"/>
          </p:nvPr>
        </p:nvSpPr>
        <p:spPr>
          <a:xfrm>
            <a:off x="457200" y="1600201"/>
            <a:ext cx="8229599" cy="2468559"/>
          </a:xfrm>
        </p:spPr>
        <p:txBody>
          <a:bodyPr>
            <a:normAutofit fontScale="92500" lnSpcReduction="20000"/>
          </a:bodyPr>
          <a:lstStyle/>
          <a:p>
            <a:r>
              <a:rPr lang="en-US" dirty="0"/>
              <a:t>A dumbbell consists of two .2 meter diameter spheres, each with a mass of 40 kg. The spheres are attached to the ends of a .6 meter long, 20 kg slender rod. Determine the mass moment of inertia of the dumbbell about the y axis shown in the diagram.</a:t>
            </a:r>
          </a:p>
        </p:txBody>
      </p:sp>
      <p:sp>
        <p:nvSpPr>
          <p:cNvPr id="4" name="Slide Number Placeholder 3">
            <a:extLst>
              <a:ext uri="{FF2B5EF4-FFF2-40B4-BE49-F238E27FC236}">
                <a16:creationId xmlns:a16="http://schemas.microsoft.com/office/drawing/2014/main" id="{5C1015A0-DA88-47FA-A1D8-57B06B029379}"/>
              </a:ext>
            </a:extLst>
          </p:cNvPr>
          <p:cNvSpPr>
            <a:spLocks noGrp="1"/>
          </p:cNvSpPr>
          <p:nvPr>
            <p:ph type="sldNum" sz="quarter" idx="12"/>
          </p:nvPr>
        </p:nvSpPr>
        <p:spPr/>
        <p:txBody>
          <a:bodyPr/>
          <a:lstStyle/>
          <a:p>
            <a:fld id="{929262FE-7F58-4A1E-8AF3-5A510A86DEBD}" type="slidenum">
              <a:rPr lang="en-US" smtClean="0"/>
              <a:t>12</a:t>
            </a:fld>
            <a:endParaRPr lang="en-US"/>
          </a:p>
        </p:txBody>
      </p:sp>
      <p:cxnSp>
        <p:nvCxnSpPr>
          <p:cNvPr id="23" name="Straight Arrow Connector 22">
            <a:extLst>
              <a:ext uri="{FF2B5EF4-FFF2-40B4-BE49-F238E27FC236}">
                <a16:creationId xmlns:a16="http://schemas.microsoft.com/office/drawing/2014/main" id="{FA411C1F-13F1-45E2-81E0-6B01B93DEF40}"/>
              </a:ext>
            </a:extLst>
          </p:cNvPr>
          <p:cNvCxnSpPr>
            <a:cxnSpLocks/>
            <a:stCxn id="31" idx="0"/>
          </p:cNvCxnSpPr>
          <p:nvPr/>
        </p:nvCxnSpPr>
        <p:spPr>
          <a:xfrm flipV="1">
            <a:off x="4438650" y="4525961"/>
            <a:ext cx="8164" cy="141763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B8267606-F3B2-45FF-96D8-661EFAC7DCDD}"/>
              </a:ext>
            </a:extLst>
          </p:cNvPr>
          <p:cNvSpPr txBox="1"/>
          <p:nvPr/>
        </p:nvSpPr>
        <p:spPr>
          <a:xfrm>
            <a:off x="4212711" y="4150796"/>
            <a:ext cx="468205" cy="369332"/>
          </a:xfrm>
          <a:prstGeom prst="rect">
            <a:avLst/>
          </a:prstGeom>
          <a:noFill/>
        </p:spPr>
        <p:txBody>
          <a:bodyPr wrap="square" rtlCol="0">
            <a:spAutoFit/>
          </a:bodyPr>
          <a:lstStyle/>
          <a:p>
            <a:pPr algn="ctr"/>
            <a:r>
              <a:rPr lang="en-US" dirty="0"/>
              <a:t>y</a:t>
            </a:r>
          </a:p>
        </p:txBody>
      </p:sp>
      <p:sp>
        <p:nvSpPr>
          <p:cNvPr id="26" name="Oval 25">
            <a:extLst>
              <a:ext uri="{FF2B5EF4-FFF2-40B4-BE49-F238E27FC236}">
                <a16:creationId xmlns:a16="http://schemas.microsoft.com/office/drawing/2014/main" id="{C2C3EC22-9314-4913-918A-88A0826F59CD}"/>
              </a:ext>
            </a:extLst>
          </p:cNvPr>
          <p:cNvSpPr/>
          <p:nvPr/>
        </p:nvSpPr>
        <p:spPr>
          <a:xfrm>
            <a:off x="1981200" y="5454134"/>
            <a:ext cx="1219200" cy="117526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40 kg</a:t>
            </a:r>
          </a:p>
        </p:txBody>
      </p:sp>
      <p:sp>
        <p:nvSpPr>
          <p:cNvPr id="27" name="Oval 26">
            <a:extLst>
              <a:ext uri="{FF2B5EF4-FFF2-40B4-BE49-F238E27FC236}">
                <a16:creationId xmlns:a16="http://schemas.microsoft.com/office/drawing/2014/main" id="{3EA21753-C8A4-4476-B7FA-4969E6DD5030}"/>
              </a:ext>
            </a:extLst>
          </p:cNvPr>
          <p:cNvSpPr/>
          <p:nvPr/>
        </p:nvSpPr>
        <p:spPr>
          <a:xfrm>
            <a:off x="5715000" y="5454134"/>
            <a:ext cx="1219200" cy="117526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40 kg</a:t>
            </a:r>
          </a:p>
        </p:txBody>
      </p:sp>
      <p:cxnSp>
        <p:nvCxnSpPr>
          <p:cNvPr id="28" name="Straight Connector 27">
            <a:extLst>
              <a:ext uri="{FF2B5EF4-FFF2-40B4-BE49-F238E27FC236}">
                <a16:creationId xmlns:a16="http://schemas.microsoft.com/office/drawing/2014/main" id="{D83327B5-259B-41DD-983B-3ACD35E706A3}"/>
              </a:ext>
            </a:extLst>
          </p:cNvPr>
          <p:cNvCxnSpPr/>
          <p:nvPr/>
        </p:nvCxnSpPr>
        <p:spPr>
          <a:xfrm flipV="1">
            <a:off x="3200399" y="4724400"/>
            <a:ext cx="0" cy="990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A9873FE-DB8E-4AF7-801C-CF4E3C907AA4}"/>
              </a:ext>
            </a:extLst>
          </p:cNvPr>
          <p:cNvCxnSpPr/>
          <p:nvPr/>
        </p:nvCxnSpPr>
        <p:spPr>
          <a:xfrm>
            <a:off x="1959428" y="5029200"/>
            <a:ext cx="4974772"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816648C-8116-43BB-8DB2-C82C182C7F80}"/>
              </a:ext>
            </a:extLst>
          </p:cNvPr>
          <p:cNvSpPr txBox="1"/>
          <p:nvPr/>
        </p:nvSpPr>
        <p:spPr>
          <a:xfrm>
            <a:off x="3341795" y="4850368"/>
            <a:ext cx="696805" cy="369332"/>
          </a:xfrm>
          <a:prstGeom prst="rect">
            <a:avLst/>
          </a:prstGeom>
          <a:solidFill>
            <a:schemeClr val="bg1"/>
          </a:solidFill>
        </p:spPr>
        <p:txBody>
          <a:bodyPr wrap="square" rtlCol="0">
            <a:spAutoFit/>
          </a:bodyPr>
          <a:lstStyle/>
          <a:p>
            <a:pPr algn="ctr"/>
            <a:r>
              <a:rPr lang="en-US" dirty="0">
                <a:solidFill>
                  <a:schemeClr val="accent1"/>
                </a:solidFill>
              </a:rPr>
              <a:t>.3 m</a:t>
            </a:r>
          </a:p>
        </p:txBody>
      </p:sp>
      <p:sp>
        <p:nvSpPr>
          <p:cNvPr id="31" name="Rectangle 30">
            <a:extLst>
              <a:ext uri="{FF2B5EF4-FFF2-40B4-BE49-F238E27FC236}">
                <a16:creationId xmlns:a16="http://schemas.microsoft.com/office/drawing/2014/main" id="{2184D355-C58B-4A8F-9B5A-49192342F38B}"/>
              </a:ext>
            </a:extLst>
          </p:cNvPr>
          <p:cNvSpPr/>
          <p:nvPr/>
        </p:nvSpPr>
        <p:spPr>
          <a:xfrm>
            <a:off x="3009900" y="5943600"/>
            <a:ext cx="2857500" cy="2124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20 kg</a:t>
            </a:r>
          </a:p>
        </p:txBody>
      </p:sp>
      <p:cxnSp>
        <p:nvCxnSpPr>
          <p:cNvPr id="32" name="Straight Connector 31">
            <a:extLst>
              <a:ext uri="{FF2B5EF4-FFF2-40B4-BE49-F238E27FC236}">
                <a16:creationId xmlns:a16="http://schemas.microsoft.com/office/drawing/2014/main" id="{31C5B684-908B-449E-98C3-91F6121E2C5C}"/>
              </a:ext>
            </a:extLst>
          </p:cNvPr>
          <p:cNvCxnSpPr/>
          <p:nvPr/>
        </p:nvCxnSpPr>
        <p:spPr>
          <a:xfrm flipV="1">
            <a:off x="1959428" y="4724400"/>
            <a:ext cx="0" cy="990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65BC267-57B8-4E29-B49B-C2F2CB7A9629}"/>
              </a:ext>
            </a:extLst>
          </p:cNvPr>
          <p:cNvCxnSpPr/>
          <p:nvPr/>
        </p:nvCxnSpPr>
        <p:spPr>
          <a:xfrm flipV="1">
            <a:off x="5693230" y="4724400"/>
            <a:ext cx="0" cy="990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15DD606-380C-4EB3-9BBC-60E09EA7EB20}"/>
              </a:ext>
            </a:extLst>
          </p:cNvPr>
          <p:cNvCxnSpPr/>
          <p:nvPr/>
        </p:nvCxnSpPr>
        <p:spPr>
          <a:xfrm flipV="1">
            <a:off x="6934200" y="4724400"/>
            <a:ext cx="0" cy="990600"/>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944F5012-9B37-49D4-80DF-E89AB4F2F0B8}"/>
              </a:ext>
            </a:extLst>
          </p:cNvPr>
          <p:cNvSpPr txBox="1"/>
          <p:nvPr/>
        </p:nvSpPr>
        <p:spPr>
          <a:xfrm>
            <a:off x="2274995" y="4818102"/>
            <a:ext cx="696805" cy="369332"/>
          </a:xfrm>
          <a:prstGeom prst="rect">
            <a:avLst/>
          </a:prstGeom>
          <a:solidFill>
            <a:schemeClr val="bg1"/>
          </a:solidFill>
        </p:spPr>
        <p:txBody>
          <a:bodyPr wrap="square" rtlCol="0">
            <a:spAutoFit/>
          </a:bodyPr>
          <a:lstStyle/>
          <a:p>
            <a:pPr algn="ctr"/>
            <a:r>
              <a:rPr lang="en-US" dirty="0">
                <a:solidFill>
                  <a:schemeClr val="accent1"/>
                </a:solidFill>
              </a:rPr>
              <a:t>.2 m</a:t>
            </a:r>
          </a:p>
        </p:txBody>
      </p:sp>
      <p:sp>
        <p:nvSpPr>
          <p:cNvPr id="36" name="TextBox 35">
            <a:extLst>
              <a:ext uri="{FF2B5EF4-FFF2-40B4-BE49-F238E27FC236}">
                <a16:creationId xmlns:a16="http://schemas.microsoft.com/office/drawing/2014/main" id="{D5A4431F-F35D-445E-9F9C-226A0B0EE732}"/>
              </a:ext>
            </a:extLst>
          </p:cNvPr>
          <p:cNvSpPr txBox="1"/>
          <p:nvPr/>
        </p:nvSpPr>
        <p:spPr>
          <a:xfrm>
            <a:off x="5976197" y="4850368"/>
            <a:ext cx="696805" cy="369332"/>
          </a:xfrm>
          <a:prstGeom prst="rect">
            <a:avLst/>
          </a:prstGeom>
          <a:solidFill>
            <a:schemeClr val="bg1"/>
          </a:solidFill>
        </p:spPr>
        <p:txBody>
          <a:bodyPr wrap="square" rtlCol="0">
            <a:spAutoFit/>
          </a:bodyPr>
          <a:lstStyle/>
          <a:p>
            <a:pPr algn="ctr"/>
            <a:r>
              <a:rPr lang="en-US" dirty="0">
                <a:solidFill>
                  <a:schemeClr val="accent1"/>
                </a:solidFill>
              </a:rPr>
              <a:t>.2 m</a:t>
            </a:r>
          </a:p>
        </p:txBody>
      </p:sp>
      <p:sp>
        <p:nvSpPr>
          <p:cNvPr id="37" name="TextBox 36">
            <a:extLst>
              <a:ext uri="{FF2B5EF4-FFF2-40B4-BE49-F238E27FC236}">
                <a16:creationId xmlns:a16="http://schemas.microsoft.com/office/drawing/2014/main" id="{862F5AC0-BA33-46ED-B889-D113A717F977}"/>
              </a:ext>
            </a:extLst>
          </p:cNvPr>
          <p:cNvSpPr txBox="1"/>
          <p:nvPr/>
        </p:nvSpPr>
        <p:spPr>
          <a:xfrm>
            <a:off x="4789595" y="4846638"/>
            <a:ext cx="696805" cy="369332"/>
          </a:xfrm>
          <a:prstGeom prst="rect">
            <a:avLst/>
          </a:prstGeom>
          <a:solidFill>
            <a:schemeClr val="bg1"/>
          </a:solidFill>
        </p:spPr>
        <p:txBody>
          <a:bodyPr wrap="square" rtlCol="0">
            <a:spAutoFit/>
          </a:bodyPr>
          <a:lstStyle/>
          <a:p>
            <a:pPr algn="ctr"/>
            <a:r>
              <a:rPr lang="en-US" dirty="0">
                <a:solidFill>
                  <a:schemeClr val="accent1"/>
                </a:solidFill>
              </a:rPr>
              <a:t>.3 m</a:t>
            </a:r>
          </a:p>
        </p:txBody>
      </p:sp>
    </p:spTree>
    <p:extLst>
      <p:ext uri="{BB962C8B-B14F-4D97-AF65-F5344CB8AC3E}">
        <p14:creationId xmlns:p14="http://schemas.microsoft.com/office/powerpoint/2010/main" val="2981350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676B9-917D-AB3B-4C56-A19AC67FFD79}"/>
              </a:ext>
            </a:extLst>
          </p:cNvPr>
          <p:cNvSpPr>
            <a:spLocks noGrp="1"/>
          </p:cNvSpPr>
          <p:nvPr>
            <p:ph type="title"/>
          </p:nvPr>
        </p:nvSpPr>
        <p:spPr/>
        <p:txBody>
          <a:bodyPr>
            <a:normAutofit fontScale="90000"/>
          </a:bodyPr>
          <a:lstStyle/>
          <a:p>
            <a:r>
              <a:rPr lang="en-US" dirty="0"/>
              <a:t>Mass Moment of Inertia Worked Example</a:t>
            </a:r>
          </a:p>
        </p:txBody>
      </p:sp>
      <p:sp>
        <p:nvSpPr>
          <p:cNvPr id="3" name="Content Placeholder 2">
            <a:extLst>
              <a:ext uri="{FF2B5EF4-FFF2-40B4-BE49-F238E27FC236}">
                <a16:creationId xmlns:a16="http://schemas.microsoft.com/office/drawing/2014/main" id="{6F4782B8-60F0-798B-1680-8FD74004FD10}"/>
              </a:ext>
            </a:extLst>
          </p:cNvPr>
          <p:cNvSpPr>
            <a:spLocks noGrp="1"/>
          </p:cNvSpPr>
          <p:nvPr>
            <p:ph idx="1"/>
          </p:nvPr>
        </p:nvSpPr>
        <p:spPr>
          <a:xfrm>
            <a:off x="457200" y="1600200"/>
            <a:ext cx="4927600" cy="4983161"/>
          </a:xfrm>
        </p:spPr>
        <p:txBody>
          <a:bodyPr>
            <a:normAutofit fontScale="92500" lnSpcReduction="10000"/>
          </a:bodyPr>
          <a:lstStyle/>
          <a:p>
            <a:r>
              <a:rPr lang="en-US" dirty="0"/>
              <a:t>The shape shown below consists of a solid semicircular hemisphere on top of a hollow cylinder. The object has a constant density, and a mass of 5 slugs. Based on the dimensions below, determine the mass moment of inertia about (a) the z-axis and (b) the y-axis.</a:t>
            </a:r>
          </a:p>
        </p:txBody>
      </p:sp>
      <p:sp>
        <p:nvSpPr>
          <p:cNvPr id="4" name="Slide Number Placeholder 3">
            <a:extLst>
              <a:ext uri="{FF2B5EF4-FFF2-40B4-BE49-F238E27FC236}">
                <a16:creationId xmlns:a16="http://schemas.microsoft.com/office/drawing/2014/main" id="{9A861CE3-7760-ABC6-7F9C-E3E78EC6A2FC}"/>
              </a:ext>
            </a:extLst>
          </p:cNvPr>
          <p:cNvSpPr>
            <a:spLocks noGrp="1"/>
          </p:cNvSpPr>
          <p:nvPr>
            <p:ph type="sldNum" sz="quarter" idx="12"/>
          </p:nvPr>
        </p:nvSpPr>
        <p:spPr/>
        <p:txBody>
          <a:bodyPr/>
          <a:lstStyle/>
          <a:p>
            <a:fld id="{929262FE-7F58-4A1E-8AF3-5A510A86DEBD}" type="slidenum">
              <a:rPr lang="en-US" smtClean="0"/>
              <a:t>13</a:t>
            </a:fld>
            <a:endParaRPr lang="en-US"/>
          </a:p>
        </p:txBody>
      </p:sp>
      <p:pic>
        <p:nvPicPr>
          <p:cNvPr id="1026" name="Picture 2" descr="Problem 6 Diagram">
            <a:extLst>
              <a:ext uri="{FF2B5EF4-FFF2-40B4-BE49-F238E27FC236}">
                <a16:creationId xmlns:a16="http://schemas.microsoft.com/office/drawing/2014/main" id="{8336F416-2C41-835C-B755-31179379D2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2195702"/>
            <a:ext cx="3408679" cy="3792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867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D629A-5576-7612-FCA9-DB9C69371C04}"/>
              </a:ext>
            </a:extLst>
          </p:cNvPr>
          <p:cNvSpPr>
            <a:spLocks noGrp="1"/>
          </p:cNvSpPr>
          <p:nvPr>
            <p:ph type="title"/>
          </p:nvPr>
        </p:nvSpPr>
        <p:spPr/>
        <p:txBody>
          <a:bodyPr>
            <a:normAutofit fontScale="90000"/>
          </a:bodyPr>
          <a:lstStyle/>
          <a:p>
            <a:r>
              <a:rPr lang="en-US" dirty="0"/>
              <a:t>Mass Moment of Inertia Worked Example</a:t>
            </a:r>
          </a:p>
        </p:txBody>
      </p:sp>
      <p:sp>
        <p:nvSpPr>
          <p:cNvPr id="3" name="Content Placeholder 2">
            <a:extLst>
              <a:ext uri="{FF2B5EF4-FFF2-40B4-BE49-F238E27FC236}">
                <a16:creationId xmlns:a16="http://schemas.microsoft.com/office/drawing/2014/main" id="{0A48A7EE-D198-4DDF-CF63-16F147545364}"/>
              </a:ext>
            </a:extLst>
          </p:cNvPr>
          <p:cNvSpPr>
            <a:spLocks noGrp="1"/>
          </p:cNvSpPr>
          <p:nvPr>
            <p:ph idx="1"/>
          </p:nvPr>
        </p:nvSpPr>
        <p:spPr>
          <a:xfrm>
            <a:off x="457200" y="1600200"/>
            <a:ext cx="4775200" cy="4525963"/>
          </a:xfrm>
        </p:spPr>
        <p:txBody>
          <a:bodyPr>
            <a:normAutofit fontScale="77500" lnSpcReduction="20000"/>
          </a:bodyPr>
          <a:lstStyle/>
          <a:p>
            <a:r>
              <a:rPr lang="en-US" dirty="0"/>
              <a:t>A sign is made from 3 circles of aluminum of thickness 1 cm and density 2.7 g/cm</a:t>
            </a:r>
            <a:r>
              <a:rPr lang="en-US" baseline="30000" dirty="0"/>
              <a:t>3</a:t>
            </a:r>
            <a:r>
              <a:rPr lang="en-US" dirty="0"/>
              <a:t>. The smaller circles (radius 2 m) are joined to the larger circle (radius 3 m) where they overlap. Find the center of mass of the sign with respect to the center of the largest circle. Also find the moment of inertia of the sign about the axis passing through the center of mass and perpendicular to the plane of the sign.</a:t>
            </a:r>
          </a:p>
        </p:txBody>
      </p:sp>
      <p:sp>
        <p:nvSpPr>
          <p:cNvPr id="4" name="Slide Number Placeholder 3">
            <a:extLst>
              <a:ext uri="{FF2B5EF4-FFF2-40B4-BE49-F238E27FC236}">
                <a16:creationId xmlns:a16="http://schemas.microsoft.com/office/drawing/2014/main" id="{02D85369-39D9-0F9A-0165-D2E9CC588176}"/>
              </a:ext>
            </a:extLst>
          </p:cNvPr>
          <p:cNvSpPr>
            <a:spLocks noGrp="1"/>
          </p:cNvSpPr>
          <p:nvPr>
            <p:ph type="sldNum" sz="quarter" idx="12"/>
          </p:nvPr>
        </p:nvSpPr>
        <p:spPr/>
        <p:txBody>
          <a:bodyPr/>
          <a:lstStyle/>
          <a:p>
            <a:fld id="{929262FE-7F58-4A1E-8AF3-5A510A86DEBD}" type="slidenum">
              <a:rPr lang="en-US" smtClean="0"/>
              <a:t>14</a:t>
            </a:fld>
            <a:endParaRPr lang="en-US"/>
          </a:p>
        </p:txBody>
      </p:sp>
      <p:pic>
        <p:nvPicPr>
          <p:cNvPr id="2050" name="Picture 2" descr="Problem 7 Diagram">
            <a:extLst>
              <a:ext uri="{FF2B5EF4-FFF2-40B4-BE49-F238E27FC236}">
                <a16:creationId xmlns:a16="http://schemas.microsoft.com/office/drawing/2014/main" id="{62E5B3B7-1156-67BC-C5EE-D59338C5C3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4639" y="2338863"/>
            <a:ext cx="3626271" cy="3048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019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22800-7CEC-02AE-BFE7-85487D1BD907}"/>
              </a:ext>
            </a:extLst>
          </p:cNvPr>
          <p:cNvSpPr>
            <a:spLocks noGrp="1"/>
          </p:cNvSpPr>
          <p:nvPr>
            <p:ph type="title"/>
          </p:nvPr>
        </p:nvSpPr>
        <p:spPr/>
        <p:txBody>
          <a:bodyPr>
            <a:normAutofit fontScale="90000"/>
          </a:bodyPr>
          <a:lstStyle/>
          <a:p>
            <a:r>
              <a:rPr lang="en-US" dirty="0"/>
              <a:t>Mass Moment of Inertia Worked Example</a:t>
            </a:r>
          </a:p>
        </p:txBody>
      </p:sp>
      <p:sp>
        <p:nvSpPr>
          <p:cNvPr id="3" name="Content Placeholder 2">
            <a:extLst>
              <a:ext uri="{FF2B5EF4-FFF2-40B4-BE49-F238E27FC236}">
                <a16:creationId xmlns:a16="http://schemas.microsoft.com/office/drawing/2014/main" id="{851546CF-EEAC-2619-B9F7-AA91BEC9D465}"/>
              </a:ext>
            </a:extLst>
          </p:cNvPr>
          <p:cNvSpPr>
            <a:spLocks noGrp="1"/>
          </p:cNvSpPr>
          <p:nvPr>
            <p:ph idx="1"/>
          </p:nvPr>
        </p:nvSpPr>
        <p:spPr>
          <a:xfrm>
            <a:off x="457200" y="1600200"/>
            <a:ext cx="5080000" cy="4756150"/>
          </a:xfrm>
        </p:spPr>
        <p:txBody>
          <a:bodyPr>
            <a:normAutofit fontScale="62500" lnSpcReduction="20000"/>
          </a:bodyPr>
          <a:lstStyle/>
          <a:p>
            <a:r>
              <a:rPr lang="en-US" dirty="0"/>
              <a:t>An engineer puts together a form study prototype of a robotic arm to show a group of stakeholders. Specifically they want to know about its radius of gyration. Unfortunately, he forgot what material he used. If the mass moment of inertia of the arm is I=15.2kgm</a:t>
            </a:r>
            <a:r>
              <a:rPr lang="en-US" baseline="30000" dirty="0"/>
              <a:t>2</a:t>
            </a:r>
            <a:r>
              <a:rPr lang="en-US" dirty="0"/>
              <a:t> about point O, calculate the radius of gyration. Each component is a plate with thickness t=5 mm. Assume the plates are rigidly attached to one another. Plate A is identical to plate B, and has a radius r=2w. Plates C, D and E have the same width w=15 cm. Plate C has a length </a:t>
            </a:r>
            <a:r>
              <a:rPr lang="en-US" dirty="0" err="1"/>
              <a:t>l</a:t>
            </a:r>
            <a:r>
              <a:rPr lang="en-US" baseline="-25000" dirty="0" err="1"/>
              <a:t>C</a:t>
            </a:r>
            <a:r>
              <a:rPr lang="en-US" dirty="0"/>
              <a:t>=1.1 m, and is angled at ϕ=30 deg with the horizontal. Plate D is attached perpendicular to plate C at a distance r</a:t>
            </a:r>
            <a:r>
              <a:rPr lang="en-US" baseline="-25000" dirty="0"/>
              <a:t>(D/A)</a:t>
            </a:r>
            <a:r>
              <a:rPr lang="en-US" dirty="0"/>
              <a:t>=0.55 m from plate A, and has a length </a:t>
            </a:r>
            <a:r>
              <a:rPr lang="en-US" dirty="0" err="1"/>
              <a:t>l</a:t>
            </a:r>
            <a:r>
              <a:rPr lang="en-US" baseline="-25000" dirty="0" err="1"/>
              <a:t>D</a:t>
            </a:r>
            <a:r>
              <a:rPr lang="en-US" dirty="0"/>
              <a:t>=0.3 m. Plate E has a length </a:t>
            </a:r>
            <a:r>
              <a:rPr lang="en-US" dirty="0" err="1"/>
              <a:t>l</a:t>
            </a:r>
            <a:r>
              <a:rPr lang="en-US" baseline="-25000" dirty="0" err="1"/>
              <a:t>E</a:t>
            </a:r>
            <a:r>
              <a:rPr lang="en-US" dirty="0"/>
              <a:t>=0.21 m, and is angled θ=105 deg away from plate D.</a:t>
            </a:r>
          </a:p>
        </p:txBody>
      </p:sp>
      <p:sp>
        <p:nvSpPr>
          <p:cNvPr id="4" name="Slide Number Placeholder 3">
            <a:extLst>
              <a:ext uri="{FF2B5EF4-FFF2-40B4-BE49-F238E27FC236}">
                <a16:creationId xmlns:a16="http://schemas.microsoft.com/office/drawing/2014/main" id="{83774116-39EE-CDDF-048A-813061ADC77A}"/>
              </a:ext>
            </a:extLst>
          </p:cNvPr>
          <p:cNvSpPr>
            <a:spLocks noGrp="1"/>
          </p:cNvSpPr>
          <p:nvPr>
            <p:ph type="sldNum" sz="quarter" idx="12"/>
          </p:nvPr>
        </p:nvSpPr>
        <p:spPr/>
        <p:txBody>
          <a:bodyPr/>
          <a:lstStyle/>
          <a:p>
            <a:fld id="{929262FE-7F58-4A1E-8AF3-5A510A86DEBD}" type="slidenum">
              <a:rPr lang="en-US" smtClean="0"/>
              <a:t>15</a:t>
            </a:fld>
            <a:endParaRPr lang="en-US"/>
          </a:p>
        </p:txBody>
      </p:sp>
      <p:pic>
        <p:nvPicPr>
          <p:cNvPr id="3074" name="Picture 2" descr="Problem 8 Diagram">
            <a:extLst>
              <a:ext uri="{FF2B5EF4-FFF2-40B4-BE49-F238E27FC236}">
                <a16:creationId xmlns:a16="http://schemas.microsoft.com/office/drawing/2014/main" id="{AF9C3065-95FE-C5AD-C571-C52FDD4C365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133" t="3025"/>
          <a:stretch/>
        </p:blipFill>
        <p:spPr bwMode="auto">
          <a:xfrm>
            <a:off x="5537200" y="2346960"/>
            <a:ext cx="3347720" cy="3242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551562"/>
      </p:ext>
    </p:extLst>
  </p:cSld>
  <p:clrMapOvr>
    <a:masterClrMapping/>
  </p:clrMapOvr>
</p:sld>
</file>

<file path=ppt/theme/theme1.xml><?xml version="1.0" encoding="utf-8"?>
<a:theme xmlns:a="http://schemas.openxmlformats.org/drawingml/2006/main" name="MA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06DF21F5BB2734A800ED30F3F452129" ma:contentTypeVersion="12" ma:contentTypeDescription="Create a new document." ma:contentTypeScope="" ma:versionID="544d96a5fbac5de9d5d902b535c73fb2">
  <xsd:schema xmlns:xsd="http://www.w3.org/2001/XMLSchema" xmlns:xs="http://www.w3.org/2001/XMLSchema" xmlns:p="http://schemas.microsoft.com/office/2006/metadata/properties" xmlns:ns3="90d05cb5-950f-4f68-bc2c-e17794455b92" xmlns:ns4="b4eab9fa-dbb0-4082-8491-8bd54207a265" targetNamespace="http://schemas.microsoft.com/office/2006/metadata/properties" ma:root="true" ma:fieldsID="7a710efc71c2169bf9c05e5a40dddf12" ns3:_="" ns4:_="">
    <xsd:import namespace="90d05cb5-950f-4f68-bc2c-e17794455b92"/>
    <xsd:import namespace="b4eab9fa-dbb0-4082-8491-8bd54207a26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GenerationTime" minOccurs="0"/>
                <xsd:element ref="ns4:MediaServiceEventHashCode" minOccurs="0"/>
                <xsd:element ref="ns4:MediaServiceDateTaken"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d05cb5-950f-4f68-bc2c-e1779445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eab9fa-dbb0-4082-8491-8bd54207a26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5CF5F32-56DC-4068-8B04-457CF34A96F3}">
  <ds:schemaRefs>
    <ds:schemaRef ds:uri="http://schemas.microsoft.com/sharepoint/v3/contenttype/forms"/>
  </ds:schemaRefs>
</ds:datastoreItem>
</file>

<file path=customXml/itemProps2.xml><?xml version="1.0" encoding="utf-8"?>
<ds:datastoreItem xmlns:ds="http://schemas.openxmlformats.org/officeDocument/2006/customXml" ds:itemID="{A43B8A4B-79FE-4529-931C-D64224FA70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d05cb5-950f-4f68-bc2c-e17794455b92"/>
    <ds:schemaRef ds:uri="b4eab9fa-dbb0-4082-8491-8bd54207a2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2EB1464-66D1-425A-BBB5-7A9312BBE9C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MA_Template</Template>
  <TotalTime>3000</TotalTime>
  <Words>1045</Words>
  <Application>Microsoft Office PowerPoint</Application>
  <PresentationFormat>On-screen Show (4:3)</PresentationFormat>
  <Paragraphs>105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 Math</vt:lpstr>
      <vt:lpstr>MA_Template</vt:lpstr>
      <vt:lpstr>Mass Moments of Inertia via The Method of Composite Parts</vt:lpstr>
      <vt:lpstr>Finding Moments of Inertia for Composite Areas or Bodies</vt:lpstr>
      <vt:lpstr>Finding Moments of Inertia for Composite Bodies or Areas</vt:lpstr>
      <vt:lpstr>Method of Composite Parts</vt:lpstr>
      <vt:lpstr>Method of Composite Parts</vt:lpstr>
      <vt:lpstr>Method of Composite Parts</vt:lpstr>
      <vt:lpstr>Method of Composite Parts</vt:lpstr>
      <vt:lpstr>The Parallel Axis Theorem</vt:lpstr>
      <vt:lpstr>The Parallel Axis Theorem</vt:lpstr>
      <vt:lpstr>Method of Composite Parts</vt:lpstr>
      <vt:lpstr>Thanks for Watching</vt:lpstr>
      <vt:lpstr>Mass Moment of Inertia Worked Example</vt:lpstr>
      <vt:lpstr>Mass Moment of Inertia Worked Example</vt:lpstr>
      <vt:lpstr>Mass Moment of Inertia Worked Example</vt:lpstr>
      <vt:lpstr>Mass Moment of Inertia Worked Example</vt:lpstr>
    </vt:vector>
  </TitlesOfParts>
  <Company>The Pennsylvania State University at Mont Alto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 MCH 212 (Dynamics)</dc:title>
  <dc:creator>Jacob Moore</dc:creator>
  <cp:lastModifiedBy>Moore, Jacob Preston</cp:lastModifiedBy>
  <cp:revision>136</cp:revision>
  <cp:lastPrinted>2021-09-24T23:18:29Z</cp:lastPrinted>
  <dcterms:created xsi:type="dcterms:W3CDTF">2014-01-09T21:04:08Z</dcterms:created>
  <dcterms:modified xsi:type="dcterms:W3CDTF">2025-08-22T15:25:52Z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0x010100A06DF21F5BB2734A800ED30F3F452129</vt:lpwstr>
  </property>
</Properties>
</file>