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8"/>
  </p:notesMasterIdLst>
  <p:sldIdLst>
    <p:sldId id="256" r:id="rId5"/>
    <p:sldId id="312" r:id="rId6"/>
    <p:sldId id="316" r:id="rId7"/>
    <p:sldId id="313" r:id="rId8"/>
    <p:sldId id="317" r:id="rId9"/>
    <p:sldId id="333" r:id="rId10"/>
    <p:sldId id="315" r:id="rId11"/>
    <p:sldId id="320" r:id="rId12"/>
    <p:sldId id="322" r:id="rId13"/>
    <p:sldId id="335" r:id="rId14"/>
    <p:sldId id="337" r:id="rId15"/>
    <p:sldId id="287" r:id="rId16"/>
    <p:sldId id="33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D0D"/>
    <a:srgbClr val="DDDDD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54101" autoAdjust="0"/>
  </p:normalViewPr>
  <p:slideViewPr>
    <p:cSldViewPr snapToGrid="0">
      <p:cViewPr varScale="1">
        <p:scale>
          <a:sx n="111" d="100"/>
          <a:sy n="111" d="100"/>
        </p:scale>
        <p:origin x="108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329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1AB63-216F-4D5B-8811-CCB935E98D4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503E-B3EF-424C-B3CC-B319B8E34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4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511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2" descr="Adaptive Map Logo">
            <a:extLst>
              <a:ext uri="{FF2B5EF4-FFF2-40B4-BE49-F238E27FC236}">
                <a16:creationId xmlns:a16="http://schemas.microsoft.com/office/drawing/2014/main" id="{47EE881C-8EE7-446C-91D5-BB734D80EE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089525"/>
            <a:ext cx="3048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EDE0CC1-27C1-4221-84FE-9FC7EEBDE843}"/>
              </a:ext>
            </a:extLst>
          </p:cNvPr>
          <p:cNvSpPr txBox="1">
            <a:spLocks/>
          </p:cNvSpPr>
          <p:nvPr userDrawn="1"/>
        </p:nvSpPr>
        <p:spPr>
          <a:xfrm>
            <a:off x="2019300" y="59436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mechanicsmap.psu.edu</a:t>
            </a:r>
          </a:p>
        </p:txBody>
      </p:sp>
    </p:spTree>
    <p:extLst>
      <p:ext uri="{BB962C8B-B14F-4D97-AF65-F5344CB8AC3E}">
        <p14:creationId xmlns:p14="http://schemas.microsoft.com/office/powerpoint/2010/main" val="2509048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1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8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7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1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0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1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Area Moments of Inertia via The Method of Composite Parts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Dr. Jacob Moore</a:t>
            </a:r>
          </a:p>
          <a:p>
            <a:r>
              <a:rPr lang="en-US" sz="2400" dirty="0"/>
              <a:t>Associate Professor of Mechanical Engineering</a:t>
            </a:r>
          </a:p>
          <a:p>
            <a:r>
              <a:rPr lang="en-US" sz="2400" dirty="0"/>
              <a:t>Penn State Mont Alto</a:t>
            </a:r>
          </a:p>
        </p:txBody>
      </p:sp>
    </p:spTree>
    <p:extLst>
      <p:ext uri="{BB962C8B-B14F-4D97-AF65-F5344CB8AC3E}">
        <p14:creationId xmlns:p14="http://schemas.microsoft.com/office/powerpoint/2010/main" val="308043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Moments of Inertia for Composite Areas or Bodies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As an alternative to using integration to find area or mass moments of inertia, we can use </a:t>
            </a:r>
            <a:r>
              <a:rPr lang="en-US" b="1" dirty="0"/>
              <a:t>lookup tables</a:t>
            </a:r>
            <a:r>
              <a:rPr lang="en-US" dirty="0"/>
              <a:t> along with the </a:t>
            </a:r>
            <a:r>
              <a:rPr lang="en-US" b="1" dirty="0"/>
              <a:t>parallel axis theorem</a:t>
            </a:r>
            <a:r>
              <a:rPr lang="en-US" dirty="0"/>
              <a:t> to find a </a:t>
            </a:r>
            <a:r>
              <a:rPr lang="en-US" b="1" dirty="0"/>
              <a:t>combined moment of inertia</a:t>
            </a:r>
            <a:r>
              <a:rPr lang="en-US" dirty="0"/>
              <a:t> for a composite body.</a:t>
            </a:r>
          </a:p>
          <a:p>
            <a:r>
              <a:rPr lang="en-US" dirty="0"/>
              <a:t>In this way, we can skip the integration, instead using the work of others as a shortcut.</a:t>
            </a:r>
          </a:p>
          <a:p>
            <a:r>
              <a:rPr lang="en-US" dirty="0"/>
              <a:t>This is similar to the method we used to find the centroid or center of mass of a composite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0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Moments of Inertia for Composite Bodies or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overall process is as follows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Break the composite shape down into simple shapes that are in the lookup tables.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Look up the moments of inertia for each individual shape using the moment of inertia tables.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the parallel axis theorem to adjust moments of inertia to the common origin point.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the adjusted moments of inertia together to find the overall moment of inertia for the combined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0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Composite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first step in finding the combined moment of inertia, is to break our complex shape into simple shapes that are in our moment of inertia tables.</a:t>
            </a:r>
          </a:p>
          <a:p>
            <a:pPr lvl="1"/>
            <a:r>
              <a:rPr lang="en-US" dirty="0"/>
              <a:t>Holes or cutouts can be negative areas</a:t>
            </a:r>
          </a:p>
          <a:p>
            <a:pPr lvl="1"/>
            <a:r>
              <a:rPr lang="en-US" dirty="0"/>
              <a:t>It is also useful to identify axes, and an origin point at this point to use in calculations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4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849228" y="4462118"/>
            <a:ext cx="1828800" cy="18288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2950234" y="4451232"/>
            <a:ext cx="1828800" cy="1828800"/>
          </a:xfrm>
          <a:prstGeom prst="ellips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Isosceles Triangle 13"/>
          <p:cNvSpPr/>
          <p:nvPr/>
        </p:nvSpPr>
        <p:spPr>
          <a:xfrm>
            <a:off x="4796286" y="5376518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e 14"/>
          <p:cNvSpPr/>
          <p:nvPr/>
        </p:nvSpPr>
        <p:spPr>
          <a:xfrm>
            <a:off x="2945714" y="4451230"/>
            <a:ext cx="1828800" cy="1828800"/>
          </a:xfrm>
          <a:prstGeom prst="pie">
            <a:avLst>
              <a:gd name="adj1" fmla="val 5403171"/>
              <a:gd name="adj2" fmla="val 16200000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0238" y="4441707"/>
            <a:ext cx="1828800" cy="18288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4774512" y="5365634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86BB65-76E6-226A-458E-FBF97CB02F82}"/>
              </a:ext>
            </a:extLst>
          </p:cNvPr>
          <p:cNvCxnSpPr/>
          <p:nvPr/>
        </p:nvCxnSpPr>
        <p:spPr>
          <a:xfrm>
            <a:off x="2934704" y="5376518"/>
            <a:ext cx="609600" cy="58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B1F810-142E-DD8F-33D3-E681F169784C}"/>
              </a:ext>
            </a:extLst>
          </p:cNvPr>
          <p:cNvCxnSpPr/>
          <p:nvPr/>
        </p:nvCxnSpPr>
        <p:spPr>
          <a:xfrm flipV="1">
            <a:off x="2934704" y="4687716"/>
            <a:ext cx="0" cy="672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A5D1A4-E2D2-80AC-D547-32991BE1442A}"/>
              </a:ext>
            </a:extLst>
          </p:cNvPr>
          <p:cNvSpPr txBox="1"/>
          <p:nvPr/>
        </p:nvSpPr>
        <p:spPr>
          <a:xfrm>
            <a:off x="3538312" y="519476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501649-2A5A-CFC0-E739-9F5B7D07F5A8}"/>
              </a:ext>
            </a:extLst>
          </p:cNvPr>
          <p:cNvSpPr txBox="1"/>
          <p:nvPr/>
        </p:nvSpPr>
        <p:spPr>
          <a:xfrm>
            <a:off x="2426873" y="464077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22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16" grpId="0" animBg="1"/>
      <p:bldP spid="17" grpId="0" animBg="1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Composite Parts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3048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Next you are going to create a table to keep track of the various values.</a:t>
            </a:r>
          </a:p>
          <a:p>
            <a:pPr lvl="1"/>
            <a:r>
              <a:rPr lang="en-US" dirty="0"/>
              <a:t>Each row will be used for one part</a:t>
            </a:r>
          </a:p>
          <a:p>
            <a:pPr lvl="1"/>
            <a:r>
              <a:rPr lang="en-US" dirty="0"/>
              <a:t>The columns will vary from problem to problem but generally follow the format below.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5ED64-C526-4EEC-A388-3E5B417BC38C}"/>
              </a:ext>
            </a:extLst>
          </p:cNvPr>
          <p:cNvSpPr/>
          <p:nvPr/>
        </p:nvSpPr>
        <p:spPr>
          <a:xfrm>
            <a:off x="6847114" y="2057400"/>
            <a:ext cx="1828800" cy="18288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5FC3AB-056C-468F-96F1-84F5F90D17BA}"/>
              </a:ext>
            </a:extLst>
          </p:cNvPr>
          <p:cNvSpPr/>
          <p:nvPr/>
        </p:nvSpPr>
        <p:spPr>
          <a:xfrm>
            <a:off x="5965372" y="2046514"/>
            <a:ext cx="1828800" cy="1828800"/>
          </a:xfrm>
          <a:prstGeom prst="ellips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8351A4B-9802-45C9-9570-BA56853D9D82}"/>
              </a:ext>
            </a:extLst>
          </p:cNvPr>
          <p:cNvSpPr/>
          <p:nvPr/>
        </p:nvSpPr>
        <p:spPr>
          <a:xfrm>
            <a:off x="7794172" y="2971800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e 14">
            <a:extLst>
              <a:ext uri="{FF2B5EF4-FFF2-40B4-BE49-F238E27FC236}">
                <a16:creationId xmlns:a16="http://schemas.microsoft.com/office/drawing/2014/main" id="{7CB05280-0B88-41BD-990F-1423CBF72257}"/>
              </a:ext>
            </a:extLst>
          </p:cNvPr>
          <p:cNvSpPr/>
          <p:nvPr/>
        </p:nvSpPr>
        <p:spPr>
          <a:xfrm>
            <a:off x="5943600" y="2046512"/>
            <a:ext cx="1828800" cy="1828800"/>
          </a:xfrm>
          <a:prstGeom prst="pie">
            <a:avLst>
              <a:gd name="adj1" fmla="val 5403171"/>
              <a:gd name="adj2" fmla="val 16200000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D31588-AADF-466C-AAC2-AC550A99150D}"/>
              </a:ext>
            </a:extLst>
          </p:cNvPr>
          <p:cNvSpPr/>
          <p:nvPr/>
        </p:nvSpPr>
        <p:spPr>
          <a:xfrm>
            <a:off x="6858124" y="2036989"/>
            <a:ext cx="1828800" cy="18288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8C15E72-3B50-400C-866F-72F8F5DF4BAA}"/>
              </a:ext>
            </a:extLst>
          </p:cNvPr>
          <p:cNvSpPr/>
          <p:nvPr/>
        </p:nvSpPr>
        <p:spPr>
          <a:xfrm>
            <a:off x="7772398" y="2960916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7">
                <a:extLst>
                  <a:ext uri="{FF2B5EF4-FFF2-40B4-BE49-F238E27FC236}">
                    <a16:creationId xmlns:a16="http://schemas.microsoft.com/office/drawing/2014/main" id="{3FDAD943-A963-4A6F-B593-1DDD7D349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5632"/>
                  </p:ext>
                </p:extLst>
              </p:nvPr>
            </p:nvGraphicFramePr>
            <p:xfrm>
              <a:off x="381000" y="4823042"/>
              <a:ext cx="8572501" cy="18508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90600">
                      <a:extLst>
                        <a:ext uri="{9D8B030D-6E8A-4147-A177-3AD203B41FA5}">
                          <a16:colId xmlns:a16="http://schemas.microsoft.com/office/drawing/2014/main" val="21198731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161274486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467458206"/>
                        </a:ext>
                      </a:extLst>
                    </a:gridCol>
                    <a:gridCol w="443215">
                      <a:extLst>
                        <a:ext uri="{9D8B030D-6E8A-4147-A177-3AD203B41FA5}">
                          <a16:colId xmlns:a16="http://schemas.microsoft.com/office/drawing/2014/main" val="660411794"/>
                        </a:ext>
                      </a:extLst>
                    </a:gridCol>
                    <a:gridCol w="999281">
                      <a:extLst>
                        <a:ext uri="{9D8B030D-6E8A-4147-A177-3AD203B41FA5}">
                          <a16:colId xmlns:a16="http://schemas.microsoft.com/office/drawing/2014/main" val="787635511"/>
                        </a:ext>
                      </a:extLst>
                    </a:gridCol>
                    <a:gridCol w="999281">
                      <a:extLst>
                        <a:ext uri="{9D8B030D-6E8A-4147-A177-3AD203B41FA5}">
                          <a16:colId xmlns:a16="http://schemas.microsoft.com/office/drawing/2014/main" val="1210014072"/>
                        </a:ext>
                      </a:extLst>
                    </a:gridCol>
                    <a:gridCol w="834823">
                      <a:extLst>
                        <a:ext uri="{9D8B030D-6E8A-4147-A177-3AD203B41FA5}">
                          <a16:colId xmlns:a16="http://schemas.microsoft.com/office/drawing/2014/main" val="3403652858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27843055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789926030"/>
                        </a:ext>
                      </a:extLst>
                    </a:gridCol>
                    <a:gridCol w="1104901">
                      <a:extLst>
                        <a:ext uri="{9D8B030D-6E8A-4147-A177-3AD203B41FA5}">
                          <a16:colId xmlns:a16="http://schemas.microsoft.com/office/drawing/2014/main" val="282464908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Shape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Area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𝑎𝑑𝑗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𝑎𝑑𝑗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47101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6583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72544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1764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6975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7">
                <a:extLst>
                  <a:ext uri="{FF2B5EF4-FFF2-40B4-BE49-F238E27FC236}">
                    <a16:creationId xmlns:a16="http://schemas.microsoft.com/office/drawing/2014/main" id="{3FDAD943-A963-4A6F-B593-1DDD7D349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5632"/>
                  </p:ext>
                </p:extLst>
              </p:nvPr>
            </p:nvGraphicFramePr>
            <p:xfrm>
              <a:off x="381000" y="4823042"/>
              <a:ext cx="8572501" cy="18508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90600">
                      <a:extLst>
                        <a:ext uri="{9D8B030D-6E8A-4147-A177-3AD203B41FA5}">
                          <a16:colId xmlns:a16="http://schemas.microsoft.com/office/drawing/2014/main" val="21198731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161274486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467458206"/>
                        </a:ext>
                      </a:extLst>
                    </a:gridCol>
                    <a:gridCol w="443215">
                      <a:extLst>
                        <a:ext uri="{9D8B030D-6E8A-4147-A177-3AD203B41FA5}">
                          <a16:colId xmlns:a16="http://schemas.microsoft.com/office/drawing/2014/main" val="660411794"/>
                        </a:ext>
                      </a:extLst>
                    </a:gridCol>
                    <a:gridCol w="999281">
                      <a:extLst>
                        <a:ext uri="{9D8B030D-6E8A-4147-A177-3AD203B41FA5}">
                          <a16:colId xmlns:a16="http://schemas.microsoft.com/office/drawing/2014/main" val="787635511"/>
                        </a:ext>
                      </a:extLst>
                    </a:gridCol>
                    <a:gridCol w="999281">
                      <a:extLst>
                        <a:ext uri="{9D8B030D-6E8A-4147-A177-3AD203B41FA5}">
                          <a16:colId xmlns:a16="http://schemas.microsoft.com/office/drawing/2014/main" val="1210014072"/>
                        </a:ext>
                      </a:extLst>
                    </a:gridCol>
                    <a:gridCol w="834823">
                      <a:extLst>
                        <a:ext uri="{9D8B030D-6E8A-4147-A177-3AD203B41FA5}">
                          <a16:colId xmlns:a16="http://schemas.microsoft.com/office/drawing/2014/main" val="3403652858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27843055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789926030"/>
                        </a:ext>
                      </a:extLst>
                    </a:gridCol>
                    <a:gridCol w="1104901">
                      <a:extLst>
                        <a:ext uri="{9D8B030D-6E8A-4147-A177-3AD203B41FA5}">
                          <a16:colId xmlns:a16="http://schemas.microsoft.com/office/drawing/2014/main" val="2824649080"/>
                        </a:ext>
                      </a:extLst>
                    </a:gridCol>
                  </a:tblGrid>
                  <a:tr h="387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Shape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Area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8000" t="-6250" r="-1412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0822" t="-6250" r="-1350685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537" t="-6250" r="-5012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8537" t="-6250" r="-4012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8905" t="-6250" r="-38029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667" t="-6250" r="-24733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2660" t="-6250" r="-9734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7901" t="-6250" r="-1105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471017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6583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72544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1764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69750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04B6D0-ADB0-D865-6ADE-F38387A61926}"/>
              </a:ext>
            </a:extLst>
          </p:cNvPr>
          <p:cNvCxnSpPr/>
          <p:nvPr/>
        </p:nvCxnSpPr>
        <p:spPr>
          <a:xfrm>
            <a:off x="5954362" y="2971800"/>
            <a:ext cx="609600" cy="58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6D6249-D556-8621-CF5D-106B635538AF}"/>
              </a:ext>
            </a:extLst>
          </p:cNvPr>
          <p:cNvCxnSpPr/>
          <p:nvPr/>
        </p:nvCxnSpPr>
        <p:spPr>
          <a:xfrm flipV="1">
            <a:off x="5954362" y="2282998"/>
            <a:ext cx="0" cy="672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59CA453-61B1-CF40-CE73-FBC260576C75}"/>
              </a:ext>
            </a:extLst>
          </p:cNvPr>
          <p:cNvSpPr txBox="1"/>
          <p:nvPr/>
        </p:nvSpPr>
        <p:spPr>
          <a:xfrm>
            <a:off x="6557970" y="279005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E0A171-2973-05C0-BB5E-50678EF16216}"/>
              </a:ext>
            </a:extLst>
          </p:cNvPr>
          <p:cNvSpPr txBox="1"/>
          <p:nvPr/>
        </p:nvSpPr>
        <p:spPr>
          <a:xfrm>
            <a:off x="5446531" y="223605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41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7D84-DC3C-42DD-B376-AF5D2F93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Composite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55B30-DAAA-4B87-A875-2ACA1D847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After determining the area or mass of each piece, the next step is to find the </a:t>
            </a:r>
            <a:r>
              <a:rPr lang="en-US" b="1" dirty="0"/>
              <a:t>centroid location of each piece</a:t>
            </a:r>
            <a:r>
              <a:rPr lang="en-US" dirty="0"/>
              <a:t> as well as the </a:t>
            </a:r>
            <a:r>
              <a:rPr lang="en-US" b="1" dirty="0"/>
              <a:t>overall centroid location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will generally be taking the moment of inertia for the composite body about this overall centroid location.</a:t>
            </a:r>
          </a:p>
          <a:p>
            <a:pPr lvl="1"/>
            <a:r>
              <a:rPr lang="en-US" dirty="0"/>
              <a:t>Even if you are given the overall centroid location, we will still need to know the centroid location for the individual pieces.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FAF1B-F796-46CE-8044-388C5891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Composite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3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Next, you will look up and calculate the moments of inertia about their individual centroids.</a:t>
            </a:r>
          </a:p>
          <a:p>
            <a:pPr lvl="1"/>
            <a:r>
              <a:rPr lang="en-US" dirty="0"/>
              <a:t>Be sure to adjust the orientation to match the table to your situation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7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62484" y="4114800"/>
            <a:ext cx="1828800" cy="18288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80742" y="4103914"/>
            <a:ext cx="1828800" cy="1828800"/>
          </a:xfrm>
          <a:prstGeom prst="ellips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Isosceles Triangle 13"/>
          <p:cNvSpPr/>
          <p:nvPr/>
        </p:nvSpPr>
        <p:spPr>
          <a:xfrm>
            <a:off x="2409542" y="5029200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e 14"/>
          <p:cNvSpPr/>
          <p:nvPr/>
        </p:nvSpPr>
        <p:spPr>
          <a:xfrm>
            <a:off x="558970" y="4103912"/>
            <a:ext cx="1828800" cy="1828800"/>
          </a:xfrm>
          <a:prstGeom prst="pie">
            <a:avLst>
              <a:gd name="adj1" fmla="val 5403171"/>
              <a:gd name="adj2" fmla="val 16200000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969" y="4114800"/>
            <a:ext cx="1828800" cy="18288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2387768" y="5018316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52980" y="5059329"/>
            <a:ext cx="609600" cy="58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52980" y="4370527"/>
            <a:ext cx="0" cy="672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56588" y="48775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5149" y="432358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dirty="0"/>
          </a:p>
        </p:txBody>
      </p:sp>
      <p:pic>
        <p:nvPicPr>
          <p:cNvPr id="6" name="Picture 5" descr="A picture containing large, group&#10;&#10;Description automatically generated">
            <a:extLst>
              <a:ext uri="{FF2B5EF4-FFF2-40B4-BE49-F238E27FC236}">
                <a16:creationId xmlns:a16="http://schemas.microsoft.com/office/drawing/2014/main" id="{1A0513AC-C1FF-44ED-9800-46EA75131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094" y="3799116"/>
            <a:ext cx="5644282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9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Parallel Axis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parallel axis theorem states that...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𝑥𝑃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𝑥𝐶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90600" y="3264610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Area Moment  about any Point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3392165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Area Moment  about the  Centroid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8202" y="3541609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Area of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7142" y="3264610"/>
            <a:ext cx="167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between the two x axes</a:t>
            </a:r>
          </a:p>
        </p:txBody>
      </p:sp>
      <p:cxnSp>
        <p:nvCxnSpPr>
          <p:cNvPr id="9" name="Straight Arrow Connector 8"/>
          <p:cNvCxnSpPr>
            <a:cxnSpLocks/>
            <a:stCxn id="4" idx="0"/>
          </p:cNvCxnSpPr>
          <p:nvPr/>
        </p:nvCxnSpPr>
        <p:spPr>
          <a:xfrm flipV="1">
            <a:off x="1752600" y="2643992"/>
            <a:ext cx="1352909" cy="6206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0"/>
          </p:cNvCxnSpPr>
          <p:nvPr/>
        </p:nvCxnSpPr>
        <p:spPr>
          <a:xfrm flipV="1">
            <a:off x="3733800" y="2737447"/>
            <a:ext cx="609600" cy="6547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V="1">
            <a:off x="5257800" y="2643992"/>
            <a:ext cx="76200" cy="7932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5715000" y="2585047"/>
            <a:ext cx="914400" cy="807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39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Parallel Axis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49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r value represents the distance you need to move the axis to “adjust” it to the new centroid or center of mass.</a:t>
            </a:r>
          </a:p>
          <a:p>
            <a:r>
              <a:rPr lang="en-US" dirty="0"/>
              <a:t>We are going to use the earlier centroid values in the table to find this adjustment distance “r”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31935" y="4724400"/>
            <a:ext cx="1828800" cy="18288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050193" y="4713514"/>
            <a:ext cx="1828800" cy="1828800"/>
          </a:xfrm>
          <a:prstGeom prst="ellips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Isosceles Triangle 6"/>
          <p:cNvSpPr/>
          <p:nvPr/>
        </p:nvSpPr>
        <p:spPr>
          <a:xfrm>
            <a:off x="4878993" y="5638800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e 7"/>
          <p:cNvSpPr/>
          <p:nvPr/>
        </p:nvSpPr>
        <p:spPr>
          <a:xfrm>
            <a:off x="3028421" y="4713512"/>
            <a:ext cx="1828800" cy="1828800"/>
          </a:xfrm>
          <a:prstGeom prst="pie">
            <a:avLst>
              <a:gd name="adj1" fmla="val 5403171"/>
              <a:gd name="adj2" fmla="val 16200000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3420" y="4713514"/>
            <a:ext cx="1828800" cy="18288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4857219" y="5627916"/>
            <a:ext cx="914400" cy="91440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3581400" y="4191000"/>
            <a:ext cx="9188" cy="13798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41306" y="3811181"/>
                <a:ext cx="473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>
                              <a:latin typeface="Cambria Math"/>
                            </a:rPr>
                            <m:t>𝐘</m:t>
                          </m:r>
                        </m:e>
                        <m:sub>
                          <m:r>
                            <a:rPr lang="en-US" b="1" i="0" dirty="0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306" y="3811181"/>
                <a:ext cx="4738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V="1">
            <a:off x="4821382" y="4191000"/>
            <a:ext cx="0" cy="13833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486400" y="4191000"/>
            <a:ext cx="0" cy="138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526973" y="4038600"/>
            <a:ext cx="0" cy="15461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3585994" y="4485095"/>
            <a:ext cx="9409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26973" y="4495800"/>
            <a:ext cx="2736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</p:cNvCxnSpPr>
          <p:nvPr/>
        </p:nvCxnSpPr>
        <p:spPr>
          <a:xfrm>
            <a:off x="4526973" y="4494620"/>
            <a:ext cx="959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863922" y="4119315"/>
                <a:ext cx="4231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922" y="4119315"/>
                <a:ext cx="42319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/>
          <p:cNvSpPr/>
          <p:nvPr/>
        </p:nvSpPr>
        <p:spPr>
          <a:xfrm>
            <a:off x="4454236" y="5538355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303903" y="3604736"/>
                <a:ext cx="454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>
                              <a:latin typeface="Cambria Math"/>
                            </a:rPr>
                            <m:t>𝐘</m:t>
                          </m:r>
                        </m:e>
                        <m:sub>
                          <m:r>
                            <a:rPr lang="en-US" b="1" i="0" dirty="0" smtClean="0">
                              <a:latin typeface="Cambria Math"/>
                            </a:rPr>
                            <m:t>𝐜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903" y="3604736"/>
                <a:ext cx="454612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609224" y="3757136"/>
                <a:ext cx="473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>
                              <a:latin typeface="Cambria Math"/>
                            </a:rPr>
                            <m:t>𝐘</m:t>
                          </m:r>
                        </m:e>
                        <m:sub>
                          <m:r>
                            <a:rPr lang="en-US" b="1" i="0" dirty="0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224" y="3757136"/>
                <a:ext cx="473848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260388" y="3758045"/>
                <a:ext cx="473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>
                              <a:latin typeface="Cambria Math"/>
                            </a:rPr>
                            <m:t>𝐘</m:t>
                          </m:r>
                        </m:e>
                        <m:sub>
                          <m:r>
                            <a:rPr lang="en-US" b="1" i="0" dirty="0" smtClean="0"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388" y="3758045"/>
                <a:ext cx="47384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450478" y="4130300"/>
                <a:ext cx="4285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478" y="4130300"/>
                <a:ext cx="428515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24996" y="4144338"/>
                <a:ext cx="4285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96" y="4144338"/>
                <a:ext cx="428515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6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31" grpId="0"/>
      <p:bldP spid="31" grpId="1"/>
      <p:bldP spid="34" grpId="0"/>
      <p:bldP spid="34" grpId="1"/>
      <p:bldP spid="35" grpId="0"/>
      <p:bldP spid="36" grpId="0"/>
      <p:bldP spid="36" grpId="1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09AB-3096-4826-8868-709EC4C3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Parallel Axis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163CB-A5A5-46E7-8C8B-7FE319486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20426" cy="47561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It’s important to determine how far the </a:t>
            </a:r>
            <a:r>
              <a:rPr lang="en-US" b="1" dirty="0"/>
              <a:t>axis</a:t>
            </a:r>
            <a:r>
              <a:rPr lang="en-US" dirty="0"/>
              <a:t> has moved, not necessarily how far the </a:t>
            </a:r>
            <a:r>
              <a:rPr lang="en-US" b="1" dirty="0"/>
              <a:t>centroid</a:t>
            </a:r>
            <a:r>
              <a:rPr lang="en-US" dirty="0"/>
              <a:t> has moved.</a:t>
            </a:r>
          </a:p>
          <a:p>
            <a:r>
              <a:rPr lang="en-US" dirty="0"/>
              <a:t>Regardless of direction, we can count the distance as positive.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C8BCE-7D4D-4978-AD5C-10196C1D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3C504-4C20-46FB-8A33-C1DAE55AC897}"/>
              </a:ext>
            </a:extLst>
          </p:cNvPr>
          <p:cNvSpPr/>
          <p:nvPr/>
        </p:nvSpPr>
        <p:spPr>
          <a:xfrm>
            <a:off x="4911120" y="1981200"/>
            <a:ext cx="3886200" cy="2590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982610-78A3-4F88-97D9-D3C00627F3E7}"/>
              </a:ext>
            </a:extLst>
          </p:cNvPr>
          <p:cNvSpPr/>
          <p:nvPr/>
        </p:nvSpPr>
        <p:spPr>
          <a:xfrm>
            <a:off x="677802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396335-00A1-45C7-A8C2-59AAD4094A10}"/>
              </a:ext>
            </a:extLst>
          </p:cNvPr>
          <p:cNvCxnSpPr>
            <a:cxnSpLocks/>
          </p:cNvCxnSpPr>
          <p:nvPr/>
        </p:nvCxnSpPr>
        <p:spPr>
          <a:xfrm flipV="1">
            <a:off x="6882795" y="3265807"/>
            <a:ext cx="847725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88CAD9-9478-4BDA-9382-CBCE64CABEB3}"/>
              </a:ext>
            </a:extLst>
          </p:cNvPr>
          <p:cNvSpPr txBox="1"/>
          <p:nvPr/>
        </p:nvSpPr>
        <p:spPr>
          <a:xfrm>
            <a:off x="7730520" y="308114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295545-4382-4633-B11B-7EEBA326DF8D}"/>
              </a:ext>
            </a:extLst>
          </p:cNvPr>
          <p:cNvCxnSpPr>
            <a:cxnSpLocks/>
          </p:cNvCxnSpPr>
          <p:nvPr/>
        </p:nvCxnSpPr>
        <p:spPr>
          <a:xfrm flipV="1">
            <a:off x="6854220" y="2498027"/>
            <a:ext cx="0" cy="7023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DF380D-73BB-4F76-A9A6-4166AC00F776}"/>
              </a:ext>
            </a:extLst>
          </p:cNvPr>
          <p:cNvSpPr txBox="1"/>
          <p:nvPr/>
        </p:nvSpPr>
        <p:spPr>
          <a:xfrm>
            <a:off x="6708988" y="2128695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33F87E-45B9-43B1-9843-561A4B25F7D1}"/>
              </a:ext>
            </a:extLst>
          </p:cNvPr>
          <p:cNvSpPr/>
          <p:nvPr/>
        </p:nvSpPr>
        <p:spPr>
          <a:xfrm>
            <a:off x="4806345" y="5801993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D53F9C-9CC0-4EC7-BEFA-8A9E26A94309}"/>
              </a:ext>
            </a:extLst>
          </p:cNvPr>
          <p:cNvCxnSpPr>
            <a:cxnSpLocks/>
          </p:cNvCxnSpPr>
          <p:nvPr/>
        </p:nvCxnSpPr>
        <p:spPr>
          <a:xfrm flipV="1">
            <a:off x="4911120" y="5867400"/>
            <a:ext cx="847725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118F0D2-F635-446C-84D2-7CBC17A458EE}"/>
              </a:ext>
            </a:extLst>
          </p:cNvPr>
          <p:cNvSpPr txBox="1"/>
          <p:nvPr/>
        </p:nvSpPr>
        <p:spPr>
          <a:xfrm>
            <a:off x="5758845" y="568273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249E90-E5B2-4174-B57C-9239D84F6BE2}"/>
              </a:ext>
            </a:extLst>
          </p:cNvPr>
          <p:cNvCxnSpPr>
            <a:cxnSpLocks/>
          </p:cNvCxnSpPr>
          <p:nvPr/>
        </p:nvCxnSpPr>
        <p:spPr>
          <a:xfrm flipV="1">
            <a:off x="4882545" y="5099620"/>
            <a:ext cx="0" cy="7023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E3BFC5C-69E7-4C25-ADAF-2B3F23219F9B}"/>
              </a:ext>
            </a:extLst>
          </p:cNvPr>
          <p:cNvSpPr txBox="1"/>
          <p:nvPr/>
        </p:nvSpPr>
        <p:spPr>
          <a:xfrm>
            <a:off x="4737313" y="473028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D951CD-E1B3-4760-9568-897CE8676ECA}"/>
              </a:ext>
            </a:extLst>
          </p:cNvPr>
          <p:cNvSpPr txBox="1"/>
          <p:nvPr/>
        </p:nvSpPr>
        <p:spPr>
          <a:xfrm>
            <a:off x="6892320" y="288777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558E4-E89F-44C4-BA5C-43A989948C6A}"/>
              </a:ext>
            </a:extLst>
          </p:cNvPr>
          <p:cNvSpPr txBox="1"/>
          <p:nvPr/>
        </p:nvSpPr>
        <p:spPr>
          <a:xfrm>
            <a:off x="4343400" y="56935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06843A-A16D-4315-A39E-0B5873C0CC0D}"/>
              </a:ext>
            </a:extLst>
          </p:cNvPr>
          <p:cNvCxnSpPr/>
          <p:nvPr/>
        </p:nvCxnSpPr>
        <p:spPr>
          <a:xfrm>
            <a:off x="6358920" y="5878193"/>
            <a:ext cx="1516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30ED979-33F8-4213-8753-0E651398CECB}"/>
              </a:ext>
            </a:extLst>
          </p:cNvPr>
          <p:cNvCxnSpPr>
            <a:cxnSpLocks/>
          </p:cNvCxnSpPr>
          <p:nvPr/>
        </p:nvCxnSpPr>
        <p:spPr>
          <a:xfrm flipV="1">
            <a:off x="7263795" y="3276601"/>
            <a:ext cx="0" cy="2590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990675-E2D7-48C0-9837-478BCFD15410}"/>
                  </a:ext>
                </a:extLst>
              </p:cNvPr>
              <p:cNvSpPr txBox="1"/>
              <p:nvPr/>
            </p:nvSpPr>
            <p:spPr>
              <a:xfrm>
                <a:off x="7227389" y="4730288"/>
                <a:ext cx="421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990675-E2D7-48C0-9837-478BCFD15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389" y="4730288"/>
                <a:ext cx="42165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E67EAB-FDC5-4E63-A86C-7201C9BB05D3}"/>
              </a:ext>
            </a:extLst>
          </p:cNvPr>
          <p:cNvCxnSpPr>
            <a:cxnSpLocks/>
          </p:cNvCxnSpPr>
          <p:nvPr/>
        </p:nvCxnSpPr>
        <p:spPr>
          <a:xfrm flipH="1" flipV="1">
            <a:off x="4911120" y="2867359"/>
            <a:ext cx="19279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9BA189-66CA-4EC6-8C5F-BD74409708F9}"/>
                  </a:ext>
                </a:extLst>
              </p:cNvPr>
              <p:cNvSpPr txBox="1"/>
              <p:nvPr/>
            </p:nvSpPr>
            <p:spPr>
              <a:xfrm>
                <a:off x="5663813" y="2372801"/>
                <a:ext cx="429285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9BA189-66CA-4EC6-8C5F-BD7440970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813" y="2372801"/>
                <a:ext cx="429285" cy="391261"/>
              </a:xfrm>
              <a:prstGeom prst="rect">
                <a:avLst/>
              </a:prstGeom>
              <a:blipFill>
                <a:blip r:embed="rId3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D00AE6-601D-45EB-9C6D-0BCDE372CB04}"/>
              </a:ext>
            </a:extLst>
          </p:cNvPr>
          <p:cNvCxnSpPr>
            <a:cxnSpLocks/>
          </p:cNvCxnSpPr>
          <p:nvPr/>
        </p:nvCxnSpPr>
        <p:spPr>
          <a:xfrm flipV="1">
            <a:off x="4906905" y="2154902"/>
            <a:ext cx="0" cy="2590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F0C859-D5FB-422B-AEF1-C833DB0EBC3C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4936427" y="3330482"/>
            <a:ext cx="1863911" cy="2493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4CA023-9A60-4D3D-89DD-A664D13493AD}"/>
                  </a:ext>
                </a:extLst>
              </p:cNvPr>
              <p:cNvSpPr txBox="1"/>
              <p:nvPr/>
            </p:nvSpPr>
            <p:spPr>
              <a:xfrm>
                <a:off x="5730271" y="3932720"/>
                <a:ext cx="4112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4CA023-9A60-4D3D-89DD-A664D1349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71" y="3932720"/>
                <a:ext cx="4112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74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8" grpId="0"/>
      <p:bldP spid="10" grpId="0"/>
      <p:bldP spid="11" grpId="0" animBg="1"/>
      <p:bldP spid="13" grpId="0"/>
      <p:bldP spid="15" grpId="0"/>
      <p:bldP spid="16" grpId="0"/>
      <p:bldP spid="17" grpId="0"/>
      <p:bldP spid="20" grpId="0"/>
      <p:bldP spid="22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Composite Parts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3048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Once you have figured out your r values, you will use those to find the adjusted moments of inertia for each piece.</a:t>
            </a:r>
          </a:p>
          <a:p>
            <a:r>
              <a:rPr lang="en-US" dirty="0"/>
              <a:t>Finally, the adjusted moments of inertia can be added up find the overall moment of inertia.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7">
                <a:extLst>
                  <a:ext uri="{FF2B5EF4-FFF2-40B4-BE49-F238E27FC236}">
                    <a16:creationId xmlns:a16="http://schemas.microsoft.com/office/drawing/2014/main" id="{3FDAD943-A963-4A6F-B593-1DDD7D349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0040132"/>
                  </p:ext>
                </p:extLst>
              </p:nvPr>
            </p:nvGraphicFramePr>
            <p:xfrm>
              <a:off x="381000" y="4823042"/>
              <a:ext cx="8572501" cy="18508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90600">
                      <a:extLst>
                        <a:ext uri="{9D8B030D-6E8A-4147-A177-3AD203B41FA5}">
                          <a16:colId xmlns:a16="http://schemas.microsoft.com/office/drawing/2014/main" val="21198731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161274486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467458206"/>
                        </a:ext>
                      </a:extLst>
                    </a:gridCol>
                    <a:gridCol w="443215">
                      <a:extLst>
                        <a:ext uri="{9D8B030D-6E8A-4147-A177-3AD203B41FA5}">
                          <a16:colId xmlns:a16="http://schemas.microsoft.com/office/drawing/2014/main" val="660411794"/>
                        </a:ext>
                      </a:extLst>
                    </a:gridCol>
                    <a:gridCol w="999281">
                      <a:extLst>
                        <a:ext uri="{9D8B030D-6E8A-4147-A177-3AD203B41FA5}">
                          <a16:colId xmlns:a16="http://schemas.microsoft.com/office/drawing/2014/main" val="787635511"/>
                        </a:ext>
                      </a:extLst>
                    </a:gridCol>
                    <a:gridCol w="999281">
                      <a:extLst>
                        <a:ext uri="{9D8B030D-6E8A-4147-A177-3AD203B41FA5}">
                          <a16:colId xmlns:a16="http://schemas.microsoft.com/office/drawing/2014/main" val="1210014072"/>
                        </a:ext>
                      </a:extLst>
                    </a:gridCol>
                    <a:gridCol w="834823">
                      <a:extLst>
                        <a:ext uri="{9D8B030D-6E8A-4147-A177-3AD203B41FA5}">
                          <a16:colId xmlns:a16="http://schemas.microsoft.com/office/drawing/2014/main" val="3403652858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27843055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789926030"/>
                        </a:ext>
                      </a:extLst>
                    </a:gridCol>
                    <a:gridCol w="1104901">
                      <a:extLst>
                        <a:ext uri="{9D8B030D-6E8A-4147-A177-3AD203B41FA5}">
                          <a16:colId xmlns:a16="http://schemas.microsoft.com/office/drawing/2014/main" val="282464908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Shape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Area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𝑎𝑑𝑗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𝑎𝑑𝑗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47101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6583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72544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1764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6975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7">
                <a:extLst>
                  <a:ext uri="{FF2B5EF4-FFF2-40B4-BE49-F238E27FC236}">
                    <a16:creationId xmlns:a16="http://schemas.microsoft.com/office/drawing/2014/main" id="{3FDAD943-A963-4A6F-B593-1DDD7D349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0040132"/>
                  </p:ext>
                </p:extLst>
              </p:nvPr>
            </p:nvGraphicFramePr>
            <p:xfrm>
              <a:off x="381000" y="4823042"/>
              <a:ext cx="8572501" cy="18508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90600">
                      <a:extLst>
                        <a:ext uri="{9D8B030D-6E8A-4147-A177-3AD203B41FA5}">
                          <a16:colId xmlns:a16="http://schemas.microsoft.com/office/drawing/2014/main" val="21198731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161274486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467458206"/>
                        </a:ext>
                      </a:extLst>
                    </a:gridCol>
                    <a:gridCol w="443215">
                      <a:extLst>
                        <a:ext uri="{9D8B030D-6E8A-4147-A177-3AD203B41FA5}">
                          <a16:colId xmlns:a16="http://schemas.microsoft.com/office/drawing/2014/main" val="660411794"/>
                        </a:ext>
                      </a:extLst>
                    </a:gridCol>
                    <a:gridCol w="999281">
                      <a:extLst>
                        <a:ext uri="{9D8B030D-6E8A-4147-A177-3AD203B41FA5}">
                          <a16:colId xmlns:a16="http://schemas.microsoft.com/office/drawing/2014/main" val="787635511"/>
                        </a:ext>
                      </a:extLst>
                    </a:gridCol>
                    <a:gridCol w="999281">
                      <a:extLst>
                        <a:ext uri="{9D8B030D-6E8A-4147-A177-3AD203B41FA5}">
                          <a16:colId xmlns:a16="http://schemas.microsoft.com/office/drawing/2014/main" val="1210014072"/>
                        </a:ext>
                      </a:extLst>
                    </a:gridCol>
                    <a:gridCol w="834823">
                      <a:extLst>
                        <a:ext uri="{9D8B030D-6E8A-4147-A177-3AD203B41FA5}">
                          <a16:colId xmlns:a16="http://schemas.microsoft.com/office/drawing/2014/main" val="3403652858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27843055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789926030"/>
                        </a:ext>
                      </a:extLst>
                    </a:gridCol>
                    <a:gridCol w="1104901">
                      <a:extLst>
                        <a:ext uri="{9D8B030D-6E8A-4147-A177-3AD203B41FA5}">
                          <a16:colId xmlns:a16="http://schemas.microsoft.com/office/drawing/2014/main" val="2824649080"/>
                        </a:ext>
                      </a:extLst>
                    </a:gridCol>
                  </a:tblGrid>
                  <a:tr h="3878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Shape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Area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8000" t="-6250" r="-1412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0822" t="-6250" r="-1350685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8537" t="-6250" r="-5012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8537" t="-6250" r="-4012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8905" t="-6250" r="-38029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2667" t="-6250" r="-24733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2660" t="-6250" r="-9734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7901" t="-6250" r="-1105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471017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6583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72544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1764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697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766993C-DDAA-475E-A9E6-95D36586A572}"/>
                  </a:ext>
                </a:extLst>
              </p:cNvPr>
              <p:cNvSpPr/>
              <p:nvPr/>
            </p:nvSpPr>
            <p:spPr>
              <a:xfrm>
                <a:off x="6019800" y="2209800"/>
                <a:ext cx="2612189" cy="4988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𝑥𝐶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i="1">
                          <a:latin typeface="Cambria Math"/>
                        </a:rPr>
                        <m:t>𝐴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766993C-DDAA-475E-A9E6-95D36586A5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2209800"/>
                <a:ext cx="2612189" cy="498855"/>
              </a:xfrm>
              <a:prstGeom prst="rect">
                <a:avLst/>
              </a:prstGeom>
              <a:blipFill>
                <a:blip r:embed="rId3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99FBCE4-44BC-4237-82DC-232AEA514035}"/>
                  </a:ext>
                </a:extLst>
              </p:cNvPr>
              <p:cNvSpPr/>
              <p:nvPr/>
            </p:nvSpPr>
            <p:spPr>
              <a:xfrm>
                <a:off x="6001141" y="3124200"/>
                <a:ext cx="2630848" cy="4988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i="1">
                          <a:latin typeface="Cambria Math"/>
                        </a:rPr>
                        <m:t>𝐴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99FBCE4-44BC-4237-82DC-232AEA5140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141" y="3124200"/>
                <a:ext cx="2630848" cy="498855"/>
              </a:xfrm>
              <a:prstGeom prst="rect">
                <a:avLst/>
              </a:prstGeom>
              <a:blipFill>
                <a:blip r:embed="rId4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25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Watching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See other engineering mechanics videos and access the full tool at…</a:t>
            </a:r>
          </a:p>
        </p:txBody>
      </p:sp>
    </p:spTree>
    <p:extLst>
      <p:ext uri="{BB962C8B-B14F-4D97-AF65-F5344CB8AC3E}">
        <p14:creationId xmlns:p14="http://schemas.microsoft.com/office/powerpoint/2010/main" val="3129637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31F7-2BDE-4B63-9437-67B91D14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Area Moment of Inertia Worked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43E21-6455-49E4-9FD7-EE8B1B69B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343400" cy="475614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beam is made by connecting two 2 in by 4 in beams in a T pattern with the cross section as shown below. Determine the location of the centroid of this combined cross section and then find the rectangular area moment of inertia about the x axis through the centroid point.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015A0-DA88-47FA-A1D8-57B06B02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908DD-CEAC-4B5B-BFC6-67F7D4F079E6}"/>
              </a:ext>
            </a:extLst>
          </p:cNvPr>
          <p:cNvSpPr/>
          <p:nvPr/>
        </p:nvSpPr>
        <p:spPr>
          <a:xfrm>
            <a:off x="5638800" y="2514600"/>
            <a:ext cx="1828800" cy="6858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793E5-C27F-4BA3-842C-0E2A5CDBC9D2}"/>
              </a:ext>
            </a:extLst>
          </p:cNvPr>
          <p:cNvSpPr/>
          <p:nvPr/>
        </p:nvSpPr>
        <p:spPr>
          <a:xfrm rot="5400000">
            <a:off x="5638800" y="3771900"/>
            <a:ext cx="1828800" cy="6858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54F8DC-3792-4DB1-8A64-BEC3A9949661}"/>
              </a:ext>
            </a:extLst>
          </p:cNvPr>
          <p:cNvCxnSpPr/>
          <p:nvPr/>
        </p:nvCxnSpPr>
        <p:spPr>
          <a:xfrm>
            <a:off x="7581900" y="2514600"/>
            <a:ext cx="87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0C94B9-A956-41E6-AAEF-E6C1F8868FE5}"/>
              </a:ext>
            </a:extLst>
          </p:cNvPr>
          <p:cNvCxnSpPr/>
          <p:nvPr/>
        </p:nvCxnSpPr>
        <p:spPr>
          <a:xfrm>
            <a:off x="7581900" y="3190009"/>
            <a:ext cx="87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BB867F-0063-4C44-BA72-6644BB579CB2}"/>
              </a:ext>
            </a:extLst>
          </p:cNvPr>
          <p:cNvCxnSpPr/>
          <p:nvPr/>
        </p:nvCxnSpPr>
        <p:spPr>
          <a:xfrm>
            <a:off x="6972300" y="5018809"/>
            <a:ext cx="1485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B4417A-2E25-424D-821E-B55FEF53C6C2}"/>
              </a:ext>
            </a:extLst>
          </p:cNvPr>
          <p:cNvCxnSpPr/>
          <p:nvPr/>
        </p:nvCxnSpPr>
        <p:spPr>
          <a:xfrm>
            <a:off x="6199909" y="5095009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A53078-9ADA-4A89-9306-36439D6553FE}"/>
              </a:ext>
            </a:extLst>
          </p:cNvPr>
          <p:cNvCxnSpPr/>
          <p:nvPr/>
        </p:nvCxnSpPr>
        <p:spPr>
          <a:xfrm>
            <a:off x="6896100" y="5095009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069AE6-E9DB-4FEF-B5F5-8B14EDCB4C8F}"/>
              </a:ext>
            </a:extLst>
          </p:cNvPr>
          <p:cNvCxnSpPr/>
          <p:nvPr/>
        </p:nvCxnSpPr>
        <p:spPr>
          <a:xfrm>
            <a:off x="5642264" y="2057400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AF5DC7-6C25-451D-B796-671CDEDA659B}"/>
              </a:ext>
            </a:extLst>
          </p:cNvPr>
          <p:cNvCxnSpPr/>
          <p:nvPr/>
        </p:nvCxnSpPr>
        <p:spPr>
          <a:xfrm>
            <a:off x="7453745" y="2047009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478A52-BCD3-4978-8C72-551036FB62DD}"/>
              </a:ext>
            </a:extLst>
          </p:cNvPr>
          <p:cNvCxnSpPr/>
          <p:nvPr/>
        </p:nvCxnSpPr>
        <p:spPr>
          <a:xfrm flipH="1">
            <a:off x="6210300" y="5247409"/>
            <a:ext cx="68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B98EF3-4175-413E-8ECC-3A92E3B3D1BB}"/>
              </a:ext>
            </a:extLst>
          </p:cNvPr>
          <p:cNvCxnSpPr/>
          <p:nvPr/>
        </p:nvCxnSpPr>
        <p:spPr>
          <a:xfrm flipV="1">
            <a:off x="8115300" y="2514601"/>
            <a:ext cx="0" cy="2504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76180F-DB97-4086-B0BC-EEEADB595FDF}"/>
              </a:ext>
            </a:extLst>
          </p:cNvPr>
          <p:cNvCxnSpPr/>
          <p:nvPr/>
        </p:nvCxnSpPr>
        <p:spPr>
          <a:xfrm flipH="1">
            <a:off x="5638800" y="2237509"/>
            <a:ext cx="18288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6FF5431-DD31-4AD1-886C-D045E44DDC3A}"/>
              </a:ext>
            </a:extLst>
          </p:cNvPr>
          <p:cNvSpPr txBox="1"/>
          <p:nvPr/>
        </p:nvSpPr>
        <p:spPr>
          <a:xfrm>
            <a:off x="7850644" y="2672834"/>
            <a:ext cx="5293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2 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90583D-5B96-43B5-A1D5-5B4551A1458E}"/>
              </a:ext>
            </a:extLst>
          </p:cNvPr>
          <p:cNvSpPr txBox="1"/>
          <p:nvPr/>
        </p:nvSpPr>
        <p:spPr>
          <a:xfrm>
            <a:off x="7850644" y="4028209"/>
            <a:ext cx="5293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4 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8EEB4B-4C9A-4B7C-BD63-AE7EC6C1FC61}"/>
              </a:ext>
            </a:extLst>
          </p:cNvPr>
          <p:cNvSpPr txBox="1"/>
          <p:nvPr/>
        </p:nvSpPr>
        <p:spPr>
          <a:xfrm>
            <a:off x="6288544" y="2051750"/>
            <a:ext cx="5293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4 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BB1686-C913-4CD0-BB90-678545711F26}"/>
              </a:ext>
            </a:extLst>
          </p:cNvPr>
          <p:cNvSpPr txBox="1"/>
          <p:nvPr/>
        </p:nvSpPr>
        <p:spPr>
          <a:xfrm>
            <a:off x="6298935" y="5075504"/>
            <a:ext cx="5293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2 in</a:t>
            </a:r>
          </a:p>
        </p:txBody>
      </p:sp>
    </p:spTree>
    <p:extLst>
      <p:ext uri="{BB962C8B-B14F-4D97-AF65-F5344CB8AC3E}">
        <p14:creationId xmlns:p14="http://schemas.microsoft.com/office/powerpoint/2010/main" val="1018648014"/>
      </p:ext>
    </p:extLst>
  </p:cSld>
  <p:clrMapOvr>
    <a:masterClrMapping/>
  </p:clrMapOvr>
</p:sld>
</file>

<file path=ppt/theme/theme1.xml><?xml version="1.0" encoding="utf-8"?>
<a:theme xmlns:a="http://schemas.openxmlformats.org/drawingml/2006/main" name="MA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6DF21F5BB2734A800ED30F3F452129" ma:contentTypeVersion="12" ma:contentTypeDescription="Create a new document." ma:contentTypeScope="" ma:versionID="544d96a5fbac5de9d5d902b535c73fb2">
  <xsd:schema xmlns:xsd="http://www.w3.org/2001/XMLSchema" xmlns:xs="http://www.w3.org/2001/XMLSchema" xmlns:p="http://schemas.microsoft.com/office/2006/metadata/properties" xmlns:ns3="90d05cb5-950f-4f68-bc2c-e17794455b92" xmlns:ns4="b4eab9fa-dbb0-4082-8491-8bd54207a265" targetNamespace="http://schemas.microsoft.com/office/2006/metadata/properties" ma:root="true" ma:fieldsID="7a710efc71c2169bf9c05e5a40dddf12" ns3:_="" ns4:_="">
    <xsd:import namespace="90d05cb5-950f-4f68-bc2c-e17794455b92"/>
    <xsd:import namespace="b4eab9fa-dbb0-4082-8491-8bd54207a26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d05cb5-950f-4f68-bc2c-e17794455b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ab9fa-dbb0-4082-8491-8bd54207a2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3B8A4B-79FE-4529-931C-D64224FA7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d05cb5-950f-4f68-bc2c-e17794455b92"/>
    <ds:schemaRef ds:uri="b4eab9fa-dbb0-4082-8491-8bd54207a2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EB1464-66D1-425A-BBB5-7A9312BBE9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5CF5F32-56DC-4068-8B04-457CF34A96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MA_Template</Template>
  <TotalTime>2915</TotalTime>
  <Words>747</Words>
  <Application>Microsoft Office PowerPoint</Application>
  <PresentationFormat>On-screen Show (4:3)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MA_Template</vt:lpstr>
      <vt:lpstr>Area Moments of Inertia via The Method of Composite Parts</vt:lpstr>
      <vt:lpstr>Finding Moments of Inertia for Composite Areas or Bodies</vt:lpstr>
      <vt:lpstr>Finding Moments of Inertia for Composite Bodies or Areas</vt:lpstr>
      <vt:lpstr>Method of Composite Parts</vt:lpstr>
      <vt:lpstr>Method of Composite Parts</vt:lpstr>
      <vt:lpstr>Method of Composite Parts</vt:lpstr>
      <vt:lpstr>Method of Composite Parts</vt:lpstr>
      <vt:lpstr>The Parallel Axis Theorem</vt:lpstr>
      <vt:lpstr>The Parallel Axis Theorem</vt:lpstr>
      <vt:lpstr>The Parallel Axis Theorem</vt:lpstr>
      <vt:lpstr>Method of Composite Parts</vt:lpstr>
      <vt:lpstr>Thanks for Watching</vt:lpstr>
      <vt:lpstr>Area Moment of Inertia Worked Example</vt:lpstr>
    </vt:vector>
  </TitlesOfParts>
  <Company>The Pennsylvania State University at Mont 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MCH 212 (Dynamics)</dc:title>
  <dc:creator>Jacob Moore</dc:creator>
  <cp:lastModifiedBy>Moore, Jacob Preston</cp:lastModifiedBy>
  <cp:revision>135</cp:revision>
  <cp:lastPrinted>2021-09-24T23:18:29Z</cp:lastPrinted>
  <dcterms:created xsi:type="dcterms:W3CDTF">2014-01-09T21:04:08Z</dcterms:created>
  <dcterms:modified xsi:type="dcterms:W3CDTF">2025-08-20T18:52:39Z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0x010100A06DF21F5BB2734A800ED30F3F452129</vt:lpwstr>
  </property>
</Properties>
</file>