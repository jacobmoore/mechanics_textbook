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5"/>
  </p:notesMasterIdLst>
  <p:sldIdLst>
    <p:sldId id="256" r:id="rId5"/>
    <p:sldId id="301" r:id="rId6"/>
    <p:sldId id="296" r:id="rId7"/>
    <p:sldId id="320" r:id="rId8"/>
    <p:sldId id="299" r:id="rId9"/>
    <p:sldId id="322" r:id="rId10"/>
    <p:sldId id="287" r:id="rId11"/>
    <p:sldId id="298" r:id="rId12"/>
    <p:sldId id="321" r:id="rId13"/>
    <p:sldId id="30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54101" autoAdjust="0"/>
  </p:normalViewPr>
  <p:slideViewPr>
    <p:cSldViewPr>
      <p:cViewPr varScale="1">
        <p:scale>
          <a:sx n="111" d="100"/>
          <a:sy n="111" d="100"/>
        </p:scale>
        <p:origin x="1086"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0" d="100"/>
          <a:sy n="70" d="100"/>
        </p:scale>
        <p:origin x="-329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A1AB63-216F-4D5B-8811-CCB935E98D4A}" type="datetimeFigureOut">
              <a:rPr lang="en-US" smtClean="0"/>
              <a:t>7/24/2025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8" name="Slide Number Placeholder 7"/>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71503E-B3EF-424C-B3CC-B319B8E34A61}" type="slidenum">
              <a:rPr lang="en-US" smtClean="0"/>
              <a:t>‹#›</a:t>
            </a:fld>
            <a:endParaRPr lang="en-US"/>
          </a:p>
        </p:txBody>
      </p:sp>
    </p:spTree>
    <p:extLst>
      <p:ext uri="{BB962C8B-B14F-4D97-AF65-F5344CB8AC3E}">
        <p14:creationId xmlns:p14="http://schemas.microsoft.com/office/powerpoint/2010/main" val="1919846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DDDDD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0"/>
            <a:ext cx="7772400" cy="1470025"/>
          </a:xfrm>
        </p:spPr>
        <p:txBody>
          <a:bodyPr/>
          <a:lstStyle>
            <a:lvl1pPr>
              <a:defRPr>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371600" y="3051175"/>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4" name="Picture 2" descr="Adaptive Map Logo">
            <a:extLst>
              <a:ext uri="{FF2B5EF4-FFF2-40B4-BE49-F238E27FC236}">
                <a16:creationId xmlns:a16="http://schemas.microsoft.com/office/drawing/2014/main" id="{47EE881C-8EE7-446C-91D5-BB734D80EE0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48000" y="5089525"/>
            <a:ext cx="3048000" cy="76200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EDE0CC1-27C1-4221-84FE-9FC7EEBDE843}"/>
              </a:ext>
            </a:extLst>
          </p:cNvPr>
          <p:cNvSpPr txBox="1">
            <a:spLocks/>
          </p:cNvSpPr>
          <p:nvPr userDrawn="1"/>
        </p:nvSpPr>
        <p:spPr>
          <a:xfrm>
            <a:off x="2019300" y="5943600"/>
            <a:ext cx="5105400" cy="762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2400" dirty="0"/>
              <a:t>mechanicsmap.psu.edu</a:t>
            </a:r>
          </a:p>
        </p:txBody>
      </p:sp>
    </p:spTree>
    <p:extLst>
      <p:ext uri="{BB962C8B-B14F-4D97-AF65-F5344CB8AC3E}">
        <p14:creationId xmlns:p14="http://schemas.microsoft.com/office/powerpoint/2010/main" val="250904800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accent1">
                    <a:lumMod val="50000"/>
                  </a:schemeClr>
                </a:solidFill>
              </a:defRPr>
            </a:lvl1pPr>
          </a:lstStyle>
          <a:p>
            <a:fld id="{929262FE-7F58-4A1E-8AF3-5A510A86DEBD}" type="slidenum">
              <a:rPr lang="en-US" smtClean="0"/>
              <a:t>‹#›</a:t>
            </a:fld>
            <a:endParaRPr lang="en-US"/>
          </a:p>
        </p:txBody>
      </p:sp>
    </p:spTree>
    <p:extLst>
      <p:ext uri="{BB962C8B-B14F-4D97-AF65-F5344CB8AC3E}">
        <p14:creationId xmlns:p14="http://schemas.microsoft.com/office/powerpoint/2010/main" val="744047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164321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213380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428517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124642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308501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317707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7316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3085812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061013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262FE-7F58-4A1E-8AF3-5A510A86DEBD}" type="slidenum">
              <a:rPr lang="en-US" smtClean="0"/>
              <a:t>‹#›</a:t>
            </a:fld>
            <a:endParaRPr lang="en-US"/>
          </a:p>
        </p:txBody>
      </p:sp>
    </p:spTree>
    <p:extLst>
      <p:ext uri="{BB962C8B-B14F-4D97-AF65-F5344CB8AC3E}">
        <p14:creationId xmlns:p14="http://schemas.microsoft.com/office/powerpoint/2010/main" val="3784105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accent1">
              <a:lumMod val="50000"/>
            </a:schemeClr>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50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1">
              <a:lumMod val="50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1">
              <a:lumMod val="50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1">
              <a:lumMod val="50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accent1">
              <a:lumMod val="50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Centroids of Volumes and the Center of Mass via Composite Parts</a:t>
            </a:r>
          </a:p>
        </p:txBody>
      </p:sp>
      <p:sp>
        <p:nvSpPr>
          <p:cNvPr id="3" name="Subtitle 2"/>
          <p:cNvSpPr>
            <a:spLocks noGrp="1"/>
          </p:cNvSpPr>
          <p:nvPr>
            <p:ph type="subTitle" idx="1"/>
          </p:nvPr>
        </p:nvSpPr>
        <p:spPr/>
        <p:txBody>
          <a:bodyPr>
            <a:noAutofit/>
          </a:bodyPr>
          <a:lstStyle/>
          <a:p>
            <a:r>
              <a:rPr lang="en-US" sz="2400" dirty="0"/>
              <a:t>Dr. Jacob Moore</a:t>
            </a:r>
          </a:p>
          <a:p>
            <a:r>
              <a:rPr lang="en-US" sz="2400" dirty="0"/>
              <a:t>Associate Professor of Mechanical Engineering</a:t>
            </a:r>
          </a:p>
          <a:p>
            <a:r>
              <a:rPr lang="en-US" sz="2400" dirty="0"/>
              <a:t>Penn State Mont Alto</a:t>
            </a:r>
          </a:p>
        </p:txBody>
      </p:sp>
    </p:spTree>
    <p:extLst>
      <p:ext uri="{BB962C8B-B14F-4D97-AF65-F5344CB8AC3E}">
        <p14:creationId xmlns:p14="http://schemas.microsoft.com/office/powerpoint/2010/main" val="3080430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7B0B-0075-4196-9260-73162A8C2F86}"/>
              </a:ext>
            </a:extLst>
          </p:cNvPr>
          <p:cNvSpPr>
            <a:spLocks noGrp="1"/>
          </p:cNvSpPr>
          <p:nvPr>
            <p:ph type="title"/>
          </p:nvPr>
        </p:nvSpPr>
        <p:spPr/>
        <p:txBody>
          <a:bodyPr>
            <a:normAutofit fontScale="90000"/>
          </a:bodyPr>
          <a:lstStyle/>
          <a:p>
            <a:r>
              <a:rPr lang="en-US" dirty="0"/>
              <a:t>Centroid of a Volume via Composite Parts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4721989-AC98-4A20-B590-A5C51A1FBFEF}"/>
                  </a:ext>
                </a:extLst>
              </p:cNvPr>
              <p:cNvSpPr>
                <a:spLocks noGrp="1"/>
              </p:cNvSpPr>
              <p:nvPr>
                <p:ph idx="1"/>
              </p:nvPr>
            </p:nvSpPr>
            <p:spPr/>
            <p:txBody>
              <a:bodyPr>
                <a:normAutofit/>
              </a:bodyPr>
              <a:lstStyle/>
              <a:p>
                <a:r>
                  <a:rPr lang="en-US" sz="3600" dirty="0"/>
                  <a:t>The centroid calculation for a volume follows the same process as for areas except we will use </a:t>
                </a:r>
                <a:r>
                  <a:rPr lang="en-US" sz="3600" b="1" dirty="0"/>
                  <a:t>volumes</a:t>
                </a:r>
                <a:r>
                  <a:rPr lang="en-US" sz="3600" dirty="0"/>
                  <a:t> in place of the areas, and we will be finding coordinates in </a:t>
                </a:r>
                <a:r>
                  <a:rPr lang="en-US" sz="3600" b="1" dirty="0"/>
                  <a:t>three dimensions</a:t>
                </a:r>
                <a:r>
                  <a:rPr lang="en-US" sz="3600" dirty="0"/>
                  <a:t> </a:t>
                </a:r>
                <a:r>
                  <a:rPr lang="en-US" sz="3200" dirty="0"/>
                  <a:t>(</a:t>
                </a:r>
                <a14:m>
                  <m:oMath xmlns:m="http://schemas.openxmlformats.org/officeDocument/2006/math">
                    <m:acc>
                      <m:accPr>
                        <m:chr m:val="̅"/>
                        <m:ctrlPr>
                          <a:rPr lang="en-US" sz="3200" i="1" smtClean="0">
                            <a:latin typeface="Cambria Math" panose="02040503050406030204" pitchFamily="18" charset="0"/>
                          </a:rPr>
                        </m:ctrlPr>
                      </m:accPr>
                      <m:e>
                        <m:r>
                          <a:rPr lang="en-US" sz="3200" b="0" i="1" smtClean="0">
                            <a:latin typeface="Cambria Math" panose="02040503050406030204" pitchFamily="18" charset="0"/>
                          </a:rPr>
                          <m:t>𝑥</m:t>
                        </m:r>
                      </m:e>
                    </m:acc>
                  </m:oMath>
                </a14:m>
                <a:r>
                  <a:rPr lang="en-US" sz="3200" dirty="0"/>
                  <a:t>, </a:t>
                </a:r>
                <a14:m>
                  <m:oMath xmlns:m="http://schemas.openxmlformats.org/officeDocument/2006/math">
                    <m:acc>
                      <m:accPr>
                        <m:chr m:val="̅"/>
                        <m:ctrlPr>
                          <a:rPr lang="en-US" sz="3200" i="1">
                            <a:latin typeface="Cambria Math" panose="02040503050406030204" pitchFamily="18" charset="0"/>
                          </a:rPr>
                        </m:ctrlPr>
                      </m:accPr>
                      <m:e>
                        <m:r>
                          <a:rPr lang="en-US" sz="3200" b="0" i="1" smtClean="0">
                            <a:latin typeface="Cambria Math" panose="02040503050406030204" pitchFamily="18" charset="0"/>
                          </a:rPr>
                          <m:t>𝑦</m:t>
                        </m:r>
                      </m:e>
                    </m:acc>
                  </m:oMath>
                </a14:m>
                <a:r>
                  <a:rPr lang="en-US" sz="3200" dirty="0"/>
                  <a:t>, and </a:t>
                </a:r>
                <a14:m>
                  <m:oMath xmlns:m="http://schemas.openxmlformats.org/officeDocument/2006/math">
                    <m:acc>
                      <m:accPr>
                        <m:chr m:val="̅"/>
                        <m:ctrlPr>
                          <a:rPr lang="en-US" sz="3200" i="1">
                            <a:latin typeface="Cambria Math" panose="02040503050406030204" pitchFamily="18" charset="0"/>
                          </a:rPr>
                        </m:ctrlPr>
                      </m:accPr>
                      <m:e>
                        <m:r>
                          <a:rPr lang="en-US" sz="3200" b="0" i="1" smtClean="0">
                            <a:latin typeface="Cambria Math" panose="02040503050406030204" pitchFamily="18" charset="0"/>
                          </a:rPr>
                          <m:t>𝑧</m:t>
                        </m:r>
                      </m:e>
                    </m:acc>
                  </m:oMath>
                </a14:m>
                <a:r>
                  <a:rPr lang="en-US" sz="3200" dirty="0"/>
                  <a:t>).</a:t>
                </a:r>
              </a:p>
              <a:p>
                <a:pPr lvl="1"/>
                <a:endParaRPr lang="en-US" sz="3200" dirty="0"/>
              </a:p>
            </p:txBody>
          </p:sp>
        </mc:Choice>
        <mc:Fallback>
          <p:sp>
            <p:nvSpPr>
              <p:cNvPr id="3" name="Content Placeholder 2">
                <a:extLst>
                  <a:ext uri="{FF2B5EF4-FFF2-40B4-BE49-F238E27FC236}">
                    <a16:creationId xmlns:a16="http://schemas.microsoft.com/office/drawing/2014/main" id="{84721989-AC98-4A20-B590-A5C51A1FBFEF}"/>
                  </a:ext>
                </a:extLst>
              </p:cNvPr>
              <p:cNvSpPr>
                <a:spLocks noGrp="1" noRot="1" noChangeAspect="1" noMove="1" noResize="1" noEditPoints="1" noAdjustHandles="1" noChangeArrowheads="1" noChangeShapeType="1" noTextEdit="1"/>
              </p:cNvSpPr>
              <p:nvPr>
                <p:ph idx="1"/>
              </p:nvPr>
            </p:nvSpPr>
            <p:spPr>
              <a:blipFill>
                <a:blip r:embed="rId2"/>
                <a:stretch>
                  <a:fillRect l="-2000" t="-2156"/>
                </a:stretch>
              </a:blipFill>
            </p:spPr>
            <p:txBody>
              <a:bodyPr/>
              <a:lstStyle/>
              <a:p>
                <a:r>
                  <a:rPr lang="en-US">
                    <a:noFill/>
                  </a:rPr>
                  <a:t> </a:t>
                </a:r>
              </a:p>
            </p:txBody>
          </p:sp>
        </mc:Fallback>
      </mc:AlternateContent>
    </p:spTree>
    <p:extLst>
      <p:ext uri="{BB962C8B-B14F-4D97-AF65-F5344CB8AC3E}">
        <p14:creationId xmlns:p14="http://schemas.microsoft.com/office/powerpoint/2010/main" val="1820117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1837317"/>
          </a:xfrm>
        </p:spPr>
        <p:txBody>
          <a:bodyPr>
            <a:normAutofit fontScale="77500" lnSpcReduction="20000"/>
          </a:bodyPr>
          <a:lstStyle/>
          <a:p>
            <a:r>
              <a:rPr lang="en-US" b="1" dirty="0"/>
              <a:t>Identify an origin point and axes </a:t>
            </a:r>
            <a:r>
              <a:rPr lang="en-US" dirty="0"/>
              <a:t>then </a:t>
            </a:r>
            <a:r>
              <a:rPr lang="en-US" b="1" dirty="0"/>
              <a:t>break the volume dow</a:t>
            </a:r>
            <a:r>
              <a:rPr lang="en-US" dirty="0"/>
              <a:t>n into shapes we can look up in our centroid tables.</a:t>
            </a:r>
          </a:p>
          <a:p>
            <a:pPr lvl="1"/>
            <a:r>
              <a:rPr lang="en-US" dirty="0"/>
              <a:t>Remember to take into account the orientation and placement of the different pieces.</a:t>
            </a:r>
          </a:p>
          <a:p>
            <a:pPr lvl="1"/>
            <a:r>
              <a:rPr lang="en-US" dirty="0"/>
              <a:t>Remember that cutouts are represented by negative volumes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457200" lvl="1" indent="0">
              <a:buNone/>
            </a:pPr>
            <a:endParaRPr lang="en-US" dirty="0"/>
          </a:p>
        </p:txBody>
      </p:sp>
      <p:sp>
        <p:nvSpPr>
          <p:cNvPr id="2" name="Title 1"/>
          <p:cNvSpPr>
            <a:spLocks noGrp="1"/>
          </p:cNvSpPr>
          <p:nvPr>
            <p:ph type="title"/>
          </p:nvPr>
        </p:nvSpPr>
        <p:spPr/>
        <p:txBody>
          <a:bodyPr/>
          <a:lstStyle/>
          <a:p>
            <a:r>
              <a:rPr lang="en-US" dirty="0"/>
              <a:t>Centroids in 3D</a:t>
            </a:r>
          </a:p>
        </p:txBody>
      </p:sp>
      <p:sp>
        <p:nvSpPr>
          <p:cNvPr id="4" name="Slide Number Placeholder 3"/>
          <p:cNvSpPr>
            <a:spLocks noGrp="1"/>
          </p:cNvSpPr>
          <p:nvPr>
            <p:ph type="sldNum" sz="quarter" idx="12"/>
          </p:nvPr>
        </p:nvSpPr>
        <p:spPr/>
        <p:txBody>
          <a:bodyPr/>
          <a:lstStyle/>
          <a:p>
            <a:fld id="{929262FE-7F58-4A1E-8AF3-5A510A86DEBD}" type="slidenum">
              <a:rPr lang="en-US" smtClean="0"/>
              <a:t>3</a:t>
            </a:fld>
            <a:endParaRPr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506276643"/>
                  </p:ext>
                </p:extLst>
              </p:nvPr>
            </p:nvGraphicFramePr>
            <p:xfrm>
              <a:off x="4267200" y="3581400"/>
              <a:ext cx="4430490" cy="2026920"/>
            </p:xfrm>
            <a:graphic>
              <a:graphicData uri="http://schemas.openxmlformats.org/drawingml/2006/table">
                <a:tbl>
                  <a:tblPr firstRow="1" bandRow="1">
                    <a:tableStyleId>{5C22544A-7EE6-4342-B048-85BDC9FD1C3A}</a:tableStyleId>
                  </a:tblPr>
                  <a:tblGrid>
                    <a:gridCol w="886098">
                      <a:extLst>
                        <a:ext uri="{9D8B030D-6E8A-4147-A177-3AD203B41FA5}">
                          <a16:colId xmlns:a16="http://schemas.microsoft.com/office/drawing/2014/main" val="20000"/>
                        </a:ext>
                      </a:extLst>
                    </a:gridCol>
                    <a:gridCol w="1018902">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49090">
                      <a:extLst>
                        <a:ext uri="{9D8B030D-6E8A-4147-A177-3AD203B41FA5}">
                          <a16:colId xmlns:a16="http://schemas.microsoft.com/office/drawing/2014/main" val="20004"/>
                        </a:ext>
                      </a:extLst>
                    </a:gridCol>
                  </a:tblGrid>
                  <a:tr h="662940">
                    <a:tc>
                      <a:txBody>
                        <a:bodyPr/>
                        <a:lstStyle/>
                        <a:p>
                          <a:pPr algn="ctr"/>
                          <a:r>
                            <a:rPr lang="en-US" sz="2000" dirty="0"/>
                            <a:t>Shape</a:t>
                          </a:r>
                        </a:p>
                      </a:txBody>
                      <a:tcPr anchor="ctr"/>
                    </a:tc>
                    <a:tc>
                      <a:txBody>
                        <a:bodyPr/>
                        <a:lstStyle/>
                        <a:p>
                          <a:pPr algn="ctr"/>
                          <a:r>
                            <a:rPr lang="en-US" sz="2000" dirty="0"/>
                            <a:t>Volu</a:t>
                          </a:r>
                          <a:r>
                            <a:rPr lang="en-US" sz="2000" baseline="0" dirty="0"/>
                            <a:t>me</a:t>
                          </a:r>
                        </a:p>
                        <a:p>
                          <a:pPr algn="ctr"/>
                          <a:r>
                            <a:rPr lang="en-US" sz="2000" baseline="0" dirty="0"/>
                            <a:t>(</a:t>
                          </a:r>
                          <a14:m>
                            <m:oMath xmlns:m="http://schemas.openxmlformats.org/officeDocument/2006/math">
                              <m:r>
                                <a:rPr lang="en-US" sz="2000" b="1" i="1" baseline="0" smtClean="0">
                                  <a:latin typeface="Cambria Math" panose="02040503050406030204" pitchFamily="18" charset="0"/>
                                </a:rPr>
                                <m:t>𝑽</m:t>
                              </m:r>
                            </m:oMath>
                          </a14:m>
                          <a:r>
                            <a:rPr lang="en-US" sz="2000" baseline="0" dirty="0"/>
                            <a:t>)</a:t>
                          </a:r>
                          <a:endParaRPr 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800" b="0" i="1" dirty="0" smtClean="0">
                                        <a:latin typeface="Cambria Math" panose="02040503050406030204" pitchFamily="18" charset="0"/>
                                      </a:rPr>
                                    </m:ctrlPr>
                                  </m:accPr>
                                  <m:e>
                                    <m:r>
                                      <m:rPr>
                                        <m:sty m:val="p"/>
                                      </m:rPr>
                                      <a:rPr lang="en-US" sz="2800" b="0" i="0" dirty="0" smtClean="0">
                                        <a:latin typeface="Cambria Math" panose="02040503050406030204" pitchFamily="18" charset="0"/>
                                      </a:rPr>
                                      <m:t>X</m:t>
                                    </m:r>
                                  </m:e>
                                </m:acc>
                              </m:oMath>
                            </m:oMathPara>
                          </a14:m>
                          <a:endParaRPr lang="en-US" b="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800" b="0" i="1" dirty="0" smtClean="0">
                                        <a:latin typeface="Cambria Math" panose="02040503050406030204" pitchFamily="18" charset="0"/>
                                      </a:rPr>
                                    </m:ctrlPr>
                                  </m:accPr>
                                  <m:e>
                                    <m:r>
                                      <m:rPr>
                                        <m:sty m:val="p"/>
                                      </m:rPr>
                                      <a:rPr lang="en-US" sz="2800" b="0" i="0" dirty="0" smtClean="0">
                                        <a:latin typeface="Cambria Math"/>
                                      </a:rPr>
                                      <m:t>Y</m:t>
                                    </m:r>
                                  </m:e>
                                </m:acc>
                              </m:oMath>
                            </m:oMathPara>
                          </a14:m>
                          <a:endParaRPr lang="en-US" b="0" i="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800" b="0" i="1" dirty="0" smtClean="0">
                                        <a:latin typeface="Cambria Math" panose="02040503050406030204" pitchFamily="18" charset="0"/>
                                      </a:rPr>
                                    </m:ctrlPr>
                                  </m:accPr>
                                  <m:e>
                                    <m:r>
                                      <m:rPr>
                                        <m:sty m:val="p"/>
                                      </m:rPr>
                                      <a:rPr lang="en-US" sz="2800" b="0" i="0" dirty="0" smtClean="0">
                                        <a:latin typeface="Cambria Math"/>
                                      </a:rPr>
                                      <m:t>Z</m:t>
                                    </m:r>
                                  </m:e>
                                </m:acc>
                              </m:oMath>
                            </m:oMathPara>
                          </a14:m>
                          <a:endParaRPr lang="en-US" b="0" i="0" dirty="0"/>
                        </a:p>
                      </a:txBody>
                      <a:tcPr anchor="ctr"/>
                    </a:tc>
                    <a:extLst>
                      <a:ext uri="{0D108BD9-81ED-4DB2-BD59-A6C34878D82A}">
                        <a16:rowId xmlns:a16="http://schemas.microsoft.com/office/drawing/2014/main" val="10000"/>
                      </a:ext>
                    </a:extLst>
                  </a:tr>
                  <a:tr h="662940">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0001"/>
                      </a:ext>
                    </a:extLst>
                  </a:tr>
                  <a:tr h="662940">
                    <a:tc>
                      <a:txBody>
                        <a:bodyPr/>
                        <a:lstStyle/>
                        <a:p>
                          <a:pPr algn="ctr"/>
                          <a:r>
                            <a:rPr lang="en-US" dirty="0"/>
                            <a:t>2</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2"/>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506276643"/>
                  </p:ext>
                </p:extLst>
              </p:nvPr>
            </p:nvGraphicFramePr>
            <p:xfrm>
              <a:off x="4267200" y="3581400"/>
              <a:ext cx="4430490" cy="2026920"/>
            </p:xfrm>
            <a:graphic>
              <a:graphicData uri="http://schemas.openxmlformats.org/drawingml/2006/table">
                <a:tbl>
                  <a:tblPr firstRow="1" bandRow="1">
                    <a:tableStyleId>{5C22544A-7EE6-4342-B048-85BDC9FD1C3A}</a:tableStyleId>
                  </a:tblPr>
                  <a:tblGrid>
                    <a:gridCol w="886098">
                      <a:extLst>
                        <a:ext uri="{9D8B030D-6E8A-4147-A177-3AD203B41FA5}">
                          <a16:colId xmlns:a16="http://schemas.microsoft.com/office/drawing/2014/main" val="20000"/>
                        </a:ext>
                      </a:extLst>
                    </a:gridCol>
                    <a:gridCol w="1018902">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49090">
                      <a:extLst>
                        <a:ext uri="{9D8B030D-6E8A-4147-A177-3AD203B41FA5}">
                          <a16:colId xmlns:a16="http://schemas.microsoft.com/office/drawing/2014/main" val="20004"/>
                        </a:ext>
                      </a:extLst>
                    </a:gridCol>
                  </a:tblGrid>
                  <a:tr h="701040">
                    <a:tc>
                      <a:txBody>
                        <a:bodyPr/>
                        <a:lstStyle/>
                        <a:p>
                          <a:pPr algn="ctr"/>
                          <a:r>
                            <a:rPr lang="en-US" sz="2000" dirty="0"/>
                            <a:t>Shape</a:t>
                          </a:r>
                        </a:p>
                      </a:txBody>
                      <a:tcPr anchor="ctr"/>
                    </a:tc>
                    <a:tc>
                      <a:txBody>
                        <a:bodyPr/>
                        <a:lstStyle/>
                        <a:p>
                          <a:endParaRPr lang="en-US"/>
                        </a:p>
                      </a:txBody>
                      <a:tcPr anchor="ctr">
                        <a:blipFill>
                          <a:blip r:embed="rId2"/>
                          <a:stretch>
                            <a:fillRect l="-87500" t="-4348" r="-248810" b="-192174"/>
                          </a:stretch>
                        </a:blipFill>
                      </a:tcPr>
                    </a:tc>
                    <a:tc>
                      <a:txBody>
                        <a:bodyPr/>
                        <a:lstStyle/>
                        <a:p>
                          <a:endParaRPr lang="en-US"/>
                        </a:p>
                      </a:txBody>
                      <a:tcPr anchor="ctr">
                        <a:blipFill>
                          <a:blip r:embed="rId2"/>
                          <a:stretch>
                            <a:fillRect l="-229927" t="-4348" r="-205109" b="-192174"/>
                          </a:stretch>
                        </a:blipFill>
                      </a:tcPr>
                    </a:tc>
                    <a:tc>
                      <a:txBody>
                        <a:bodyPr/>
                        <a:lstStyle/>
                        <a:p>
                          <a:endParaRPr lang="en-US"/>
                        </a:p>
                      </a:txBody>
                      <a:tcPr anchor="ctr">
                        <a:blipFill>
                          <a:blip r:embed="rId2"/>
                          <a:stretch>
                            <a:fillRect l="-327536" t="-4348" r="-103623" b="-192174"/>
                          </a:stretch>
                        </a:blipFill>
                      </a:tcPr>
                    </a:tc>
                    <a:tc>
                      <a:txBody>
                        <a:bodyPr/>
                        <a:lstStyle/>
                        <a:p>
                          <a:endParaRPr lang="en-US"/>
                        </a:p>
                      </a:txBody>
                      <a:tcPr anchor="ctr">
                        <a:blipFill>
                          <a:blip r:embed="rId2"/>
                          <a:stretch>
                            <a:fillRect l="-424460" t="-4348" r="-2878" b="-192174"/>
                          </a:stretch>
                        </a:blipFill>
                      </a:tcPr>
                    </a:tc>
                    <a:extLst>
                      <a:ext uri="{0D108BD9-81ED-4DB2-BD59-A6C34878D82A}">
                        <a16:rowId xmlns:a16="http://schemas.microsoft.com/office/drawing/2014/main" val="10000"/>
                      </a:ext>
                    </a:extLst>
                  </a:tr>
                  <a:tr h="662940">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0001"/>
                      </a:ext>
                    </a:extLst>
                  </a:tr>
                  <a:tr h="662940">
                    <a:tc>
                      <a:txBody>
                        <a:bodyPr/>
                        <a:lstStyle/>
                        <a:p>
                          <a:pPr algn="ctr"/>
                          <a:r>
                            <a:rPr lang="en-US" dirty="0"/>
                            <a:t>2</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2"/>
                      </a:ext>
                    </a:extLst>
                  </a:tr>
                </a:tbl>
              </a:graphicData>
            </a:graphic>
          </p:graphicFrame>
        </mc:Fallback>
      </mc:AlternateContent>
      <p:grpSp>
        <p:nvGrpSpPr>
          <p:cNvPr id="26" name="Group 25">
            <a:extLst>
              <a:ext uri="{FF2B5EF4-FFF2-40B4-BE49-F238E27FC236}">
                <a16:creationId xmlns:a16="http://schemas.microsoft.com/office/drawing/2014/main" id="{58A931BC-3711-11B3-C072-9B707880F41F}"/>
              </a:ext>
            </a:extLst>
          </p:cNvPr>
          <p:cNvGrpSpPr/>
          <p:nvPr/>
        </p:nvGrpSpPr>
        <p:grpSpPr>
          <a:xfrm>
            <a:off x="2057400" y="3429000"/>
            <a:ext cx="1066800" cy="2026920"/>
            <a:chOff x="2057400" y="3429000"/>
            <a:chExt cx="1066800" cy="2026920"/>
          </a:xfrm>
        </p:grpSpPr>
        <p:sp>
          <p:nvSpPr>
            <p:cNvPr id="8" name="Can 7"/>
            <p:cNvSpPr/>
            <p:nvPr/>
          </p:nvSpPr>
          <p:spPr>
            <a:xfrm>
              <a:off x="2066290" y="4144384"/>
              <a:ext cx="1057910" cy="1311536"/>
            </a:xfrm>
            <a:prstGeom prst="can">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flipV="1">
              <a:off x="2057400" y="3437517"/>
              <a:ext cx="528955" cy="834614"/>
            </a:xfrm>
            <a:prstGeom prst="line">
              <a:avLst/>
            </a:prstGeom>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flipV="1">
              <a:off x="2595245" y="3429000"/>
              <a:ext cx="528955" cy="834614"/>
            </a:xfrm>
            <a:prstGeom prst="line">
              <a:avLst/>
            </a:prstGeom>
            <a:ln/>
            <a:effectLst/>
          </p:spPr>
          <p:style>
            <a:lnRef idx="2">
              <a:schemeClr val="accent1"/>
            </a:lnRef>
            <a:fillRef idx="0">
              <a:schemeClr val="accent1"/>
            </a:fillRef>
            <a:effectRef idx="1">
              <a:schemeClr val="accent1"/>
            </a:effectRef>
            <a:fontRef idx="minor">
              <a:schemeClr val="tx1"/>
            </a:fontRef>
          </p:style>
        </p:cxnSp>
      </p:grpSp>
      <p:sp>
        <p:nvSpPr>
          <p:cNvPr id="13" name="TextBox 12"/>
          <p:cNvSpPr txBox="1"/>
          <p:nvPr/>
        </p:nvSpPr>
        <p:spPr>
          <a:xfrm>
            <a:off x="2475231" y="3727075"/>
            <a:ext cx="344169" cy="369332"/>
          </a:xfrm>
          <a:prstGeom prst="rect">
            <a:avLst/>
          </a:prstGeom>
          <a:noFill/>
        </p:spPr>
        <p:txBody>
          <a:bodyPr wrap="square" rtlCol="0">
            <a:spAutoFit/>
          </a:bodyPr>
          <a:lstStyle/>
          <a:p>
            <a:r>
              <a:rPr lang="en-US" dirty="0"/>
              <a:t>1</a:t>
            </a:r>
          </a:p>
        </p:txBody>
      </p:sp>
      <p:sp>
        <p:nvSpPr>
          <p:cNvPr id="14" name="TextBox 13"/>
          <p:cNvSpPr txBox="1"/>
          <p:nvPr/>
        </p:nvSpPr>
        <p:spPr>
          <a:xfrm>
            <a:off x="2133600" y="4720133"/>
            <a:ext cx="361569" cy="369332"/>
          </a:xfrm>
          <a:prstGeom prst="rect">
            <a:avLst/>
          </a:prstGeom>
          <a:noFill/>
        </p:spPr>
        <p:txBody>
          <a:bodyPr wrap="square" rtlCol="0">
            <a:spAutoFit/>
          </a:bodyPr>
          <a:lstStyle/>
          <a:p>
            <a:r>
              <a:rPr lang="en-US" dirty="0"/>
              <a:t>2</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699F74B-623A-4633-82BC-59A35ED8C793}"/>
                  </a:ext>
                </a:extLst>
              </p:cNvPr>
              <p:cNvSpPr/>
              <p:nvPr/>
            </p:nvSpPr>
            <p:spPr>
              <a:xfrm>
                <a:off x="1439701" y="5748350"/>
                <a:ext cx="1719445" cy="9572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r>
                            <m:rPr>
                              <m:sty m:val="p"/>
                            </m:rPr>
                            <a:rPr lang="en-US" sz="2400" b="0" i="0" smtClean="0">
                              <a:latin typeface="Cambria Math"/>
                            </a:rPr>
                            <m:t>x</m:t>
                          </m:r>
                        </m:e>
                      </m:acc>
                      <m:r>
                        <a:rPr lang="en-US" sz="2400" i="1">
                          <a:latin typeface="Cambria Math"/>
                        </a:rPr>
                        <m:t>=</m:t>
                      </m:r>
                      <m:f>
                        <m:fPr>
                          <m:ctrlPr>
                            <a:rPr lang="en-US" sz="2400" i="1">
                              <a:latin typeface="Cambria Math" panose="02040503050406030204" pitchFamily="18" charset="0"/>
                            </a:rPr>
                          </m:ctrlPr>
                        </m:fPr>
                        <m:num>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panose="02040503050406030204" pitchFamily="18" charset="0"/>
                                    </a:rPr>
                                    <m:t>V</m:t>
                                  </m:r>
                                </m:e>
                                <m:sub>
                                  <m:r>
                                    <a:rPr lang="en-US" sz="2400" i="1">
                                      <a:latin typeface="Cambria Math"/>
                                    </a:rPr>
                                    <m:t>𝑖</m:t>
                                  </m:r>
                                </m:sub>
                              </m:sSub>
                              <m:acc>
                                <m:accPr>
                                  <m:chr m:val="̅"/>
                                  <m:ctrlPr>
                                    <a:rPr lang="en-US" sz="2400" i="1" smtClean="0">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𝑖</m:t>
                                      </m:r>
                                    </m:sub>
                                  </m:sSub>
                                </m:e>
                              </m:acc>
                            </m:e>
                          </m:nary>
                        </m:num>
                        <m:den>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panose="02040503050406030204" pitchFamily="18" charset="0"/>
                                    </a:rPr>
                                    <m:t>V</m:t>
                                  </m:r>
                                </m:e>
                                <m:sub>
                                  <m:r>
                                    <a:rPr lang="en-US" sz="2400" i="1">
                                      <a:latin typeface="Cambria Math"/>
                                    </a:rPr>
                                    <m:t>𝑖</m:t>
                                  </m:r>
                                </m:sub>
                              </m:sSub>
                            </m:e>
                          </m:nary>
                        </m:den>
                      </m:f>
                    </m:oMath>
                  </m:oMathPara>
                </a14:m>
                <a:endParaRPr lang="en-US" sz="2400" dirty="0"/>
              </a:p>
            </p:txBody>
          </p:sp>
        </mc:Choice>
        <mc:Fallback xmlns="">
          <p:sp>
            <p:nvSpPr>
              <p:cNvPr id="15" name="Rectangle 14">
                <a:extLst>
                  <a:ext uri="{FF2B5EF4-FFF2-40B4-BE49-F238E27FC236}">
                    <a16:creationId xmlns:a16="http://schemas.microsoft.com/office/drawing/2014/main" id="{6699F74B-623A-4633-82BC-59A35ED8C793}"/>
                  </a:ext>
                </a:extLst>
              </p:cNvPr>
              <p:cNvSpPr>
                <a:spLocks noRot="1" noChangeAspect="1" noMove="1" noResize="1" noEditPoints="1" noAdjustHandles="1" noChangeArrowheads="1" noChangeShapeType="1" noTextEdit="1"/>
              </p:cNvSpPr>
              <p:nvPr/>
            </p:nvSpPr>
            <p:spPr>
              <a:xfrm>
                <a:off x="1439701" y="5748350"/>
                <a:ext cx="1719445" cy="95725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D4F383F-0EB1-4626-BFA9-41CB98487382}"/>
                  </a:ext>
                </a:extLst>
              </p:cNvPr>
              <p:cNvSpPr/>
              <p:nvPr/>
            </p:nvSpPr>
            <p:spPr>
              <a:xfrm>
                <a:off x="3794623" y="5747658"/>
                <a:ext cx="1727588" cy="9572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r>
                            <m:rPr>
                              <m:sty m:val="p"/>
                            </m:rPr>
                            <a:rPr lang="en-US" sz="2400" b="0" i="0" smtClean="0">
                              <a:latin typeface="Cambria Math"/>
                            </a:rPr>
                            <m:t>y</m:t>
                          </m:r>
                        </m:e>
                      </m:acc>
                      <m:r>
                        <a:rPr lang="en-US" sz="2400" i="1">
                          <a:latin typeface="Cambria Math"/>
                        </a:rPr>
                        <m:t>=</m:t>
                      </m:r>
                      <m:f>
                        <m:fPr>
                          <m:ctrlPr>
                            <a:rPr lang="en-US" sz="2400" i="1">
                              <a:latin typeface="Cambria Math" panose="02040503050406030204" pitchFamily="18" charset="0"/>
                            </a:rPr>
                          </m:ctrlPr>
                        </m:fPr>
                        <m:num>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panose="02040503050406030204" pitchFamily="18" charset="0"/>
                                    </a:rPr>
                                    <m:t>V</m:t>
                                  </m:r>
                                </m:e>
                                <m:sub>
                                  <m:r>
                                    <a:rPr lang="en-US" sz="2400" i="1">
                                      <a:latin typeface="Cambria Math"/>
                                    </a:rPr>
                                    <m:t>𝑖</m:t>
                                  </m:r>
                                </m:sub>
                              </m:sSub>
                              <m:acc>
                                <m:accPr>
                                  <m:chr m:val="̅"/>
                                  <m:ctrlPr>
                                    <a:rPr lang="en-US" sz="2400" i="1" smtClean="0">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a:rPr>
                                        <m:t>𝑦</m:t>
                                      </m:r>
                                    </m:e>
                                    <m:sub>
                                      <m:r>
                                        <a:rPr lang="en-US" sz="2400" i="1">
                                          <a:latin typeface="Cambria Math"/>
                                        </a:rPr>
                                        <m:t>𝑖</m:t>
                                      </m:r>
                                    </m:sub>
                                  </m:sSub>
                                </m:e>
                              </m:acc>
                            </m:e>
                          </m:nary>
                        </m:num>
                        <m:den>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panose="02040503050406030204" pitchFamily="18" charset="0"/>
                                    </a:rPr>
                                    <m:t>V</m:t>
                                  </m:r>
                                </m:e>
                                <m:sub>
                                  <m:r>
                                    <a:rPr lang="en-US" sz="2400" i="1">
                                      <a:latin typeface="Cambria Math"/>
                                    </a:rPr>
                                    <m:t>𝑖</m:t>
                                  </m:r>
                                </m:sub>
                              </m:sSub>
                            </m:e>
                          </m:nary>
                        </m:den>
                      </m:f>
                    </m:oMath>
                  </m:oMathPara>
                </a14:m>
                <a:endParaRPr lang="en-US" sz="2400" dirty="0"/>
              </a:p>
            </p:txBody>
          </p:sp>
        </mc:Choice>
        <mc:Fallback xmlns="">
          <p:sp>
            <p:nvSpPr>
              <p:cNvPr id="16" name="Rectangle 15">
                <a:extLst>
                  <a:ext uri="{FF2B5EF4-FFF2-40B4-BE49-F238E27FC236}">
                    <a16:creationId xmlns:a16="http://schemas.microsoft.com/office/drawing/2014/main" id="{7D4F383F-0EB1-4626-BFA9-41CB98487382}"/>
                  </a:ext>
                </a:extLst>
              </p:cNvPr>
              <p:cNvSpPr>
                <a:spLocks noRot="1" noChangeAspect="1" noMove="1" noResize="1" noEditPoints="1" noAdjustHandles="1" noChangeArrowheads="1" noChangeShapeType="1" noTextEdit="1"/>
              </p:cNvSpPr>
              <p:nvPr/>
            </p:nvSpPr>
            <p:spPr>
              <a:xfrm>
                <a:off x="3794623" y="5747658"/>
                <a:ext cx="1727588" cy="95725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4A278577-2A19-4002-8D07-62D0552271E2}"/>
                  </a:ext>
                </a:extLst>
              </p:cNvPr>
              <p:cNvSpPr/>
              <p:nvPr/>
            </p:nvSpPr>
            <p:spPr>
              <a:xfrm>
                <a:off x="6157689" y="5746173"/>
                <a:ext cx="1690911" cy="9572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r>
                            <m:rPr>
                              <m:sty m:val="p"/>
                            </m:rPr>
                            <a:rPr lang="en-US" sz="2400" b="0" i="0" smtClean="0">
                              <a:latin typeface="Cambria Math"/>
                            </a:rPr>
                            <m:t>z</m:t>
                          </m:r>
                        </m:e>
                      </m:acc>
                      <m:r>
                        <a:rPr lang="en-US" sz="2400" i="1">
                          <a:latin typeface="Cambria Math"/>
                        </a:rPr>
                        <m:t>=</m:t>
                      </m:r>
                      <m:f>
                        <m:fPr>
                          <m:ctrlPr>
                            <a:rPr lang="en-US" sz="2400" i="1">
                              <a:latin typeface="Cambria Math" panose="02040503050406030204" pitchFamily="18" charset="0"/>
                            </a:rPr>
                          </m:ctrlPr>
                        </m:fPr>
                        <m:num>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panose="02040503050406030204" pitchFamily="18" charset="0"/>
                                    </a:rPr>
                                    <m:t>V</m:t>
                                  </m:r>
                                </m:e>
                                <m:sub>
                                  <m:r>
                                    <a:rPr lang="en-US" sz="2400" i="1">
                                      <a:latin typeface="Cambria Math"/>
                                    </a:rPr>
                                    <m:t>𝑖</m:t>
                                  </m:r>
                                </m:sub>
                              </m:sSub>
                              <m:acc>
                                <m:accPr>
                                  <m:chr m:val="̅"/>
                                  <m:ctrlPr>
                                    <a:rPr lang="en-US" sz="2400" i="1" smtClean="0">
                                      <a:latin typeface="Cambria Math" panose="02040503050406030204" pitchFamily="18" charset="0"/>
                                    </a:rPr>
                                  </m:ctrlPr>
                                </m:accPr>
                                <m:e>
                                  <m:sSub>
                                    <m:sSubPr>
                                      <m:ctrlPr>
                                        <a:rPr lang="en-US" sz="2400" i="1">
                                          <a:latin typeface="Cambria Math" panose="02040503050406030204" pitchFamily="18" charset="0"/>
                                        </a:rPr>
                                      </m:ctrlPr>
                                    </m:sSubPr>
                                    <m:e>
                                      <m:r>
                                        <a:rPr lang="en-US" sz="2400" b="0" i="1" smtClean="0">
                                          <a:latin typeface="Cambria Math"/>
                                        </a:rPr>
                                        <m:t>𝑧</m:t>
                                      </m:r>
                                    </m:e>
                                    <m:sub>
                                      <m:r>
                                        <a:rPr lang="en-US" sz="2400" i="1">
                                          <a:latin typeface="Cambria Math"/>
                                        </a:rPr>
                                        <m:t>𝑖</m:t>
                                      </m:r>
                                    </m:sub>
                                  </m:sSub>
                                </m:e>
                              </m:acc>
                            </m:e>
                          </m:nary>
                        </m:num>
                        <m:den>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panose="02040503050406030204" pitchFamily="18" charset="0"/>
                                    </a:rPr>
                                    <m:t>V</m:t>
                                  </m:r>
                                </m:e>
                                <m:sub>
                                  <m:r>
                                    <a:rPr lang="en-US" sz="2400" i="1">
                                      <a:latin typeface="Cambria Math"/>
                                    </a:rPr>
                                    <m:t>𝑖</m:t>
                                  </m:r>
                                </m:sub>
                              </m:sSub>
                            </m:e>
                          </m:nary>
                        </m:den>
                      </m:f>
                    </m:oMath>
                  </m:oMathPara>
                </a14:m>
                <a:endParaRPr lang="en-US" sz="2400" dirty="0"/>
              </a:p>
            </p:txBody>
          </p:sp>
        </mc:Choice>
        <mc:Fallback xmlns="">
          <p:sp>
            <p:nvSpPr>
              <p:cNvPr id="17" name="Rectangle 16">
                <a:extLst>
                  <a:ext uri="{FF2B5EF4-FFF2-40B4-BE49-F238E27FC236}">
                    <a16:creationId xmlns:a16="http://schemas.microsoft.com/office/drawing/2014/main" id="{4A278577-2A19-4002-8D07-62D0552271E2}"/>
                  </a:ext>
                </a:extLst>
              </p:cNvPr>
              <p:cNvSpPr>
                <a:spLocks noRot="1" noChangeAspect="1" noMove="1" noResize="1" noEditPoints="1" noAdjustHandles="1" noChangeArrowheads="1" noChangeShapeType="1" noTextEdit="1"/>
              </p:cNvSpPr>
              <p:nvPr/>
            </p:nvSpPr>
            <p:spPr>
              <a:xfrm>
                <a:off x="6157689" y="5746173"/>
                <a:ext cx="1690911" cy="957250"/>
              </a:xfrm>
              <a:prstGeom prst="rect">
                <a:avLst/>
              </a:prstGeom>
              <a:blipFill>
                <a:blip r:embed="rId5"/>
                <a:stretch>
                  <a:fillRect/>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FB004402-1407-2500-B916-354F9B3BE705}"/>
              </a:ext>
            </a:extLst>
          </p:cNvPr>
          <p:cNvGrpSpPr/>
          <p:nvPr/>
        </p:nvGrpSpPr>
        <p:grpSpPr>
          <a:xfrm>
            <a:off x="1848465" y="4329235"/>
            <a:ext cx="2026775" cy="1457566"/>
            <a:chOff x="1848465" y="4329235"/>
            <a:chExt cx="2026775" cy="1457566"/>
          </a:xfrm>
        </p:grpSpPr>
        <p:cxnSp>
          <p:nvCxnSpPr>
            <p:cNvPr id="9" name="Straight Arrow Connector 8">
              <a:extLst>
                <a:ext uri="{FF2B5EF4-FFF2-40B4-BE49-F238E27FC236}">
                  <a16:creationId xmlns:a16="http://schemas.microsoft.com/office/drawing/2014/main" id="{D801D697-00FD-47C7-B064-74CCA22D35C6}"/>
                </a:ext>
              </a:extLst>
            </p:cNvPr>
            <p:cNvCxnSpPr/>
            <p:nvPr/>
          </p:nvCxnSpPr>
          <p:spPr>
            <a:xfrm>
              <a:off x="2585770" y="5334000"/>
              <a:ext cx="9906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09612D16-F644-1A8D-102F-E1997C94165A}"/>
                </a:ext>
              </a:extLst>
            </p:cNvPr>
            <p:cNvCxnSpPr>
              <a:cxnSpLocks/>
            </p:cNvCxnSpPr>
            <p:nvPr/>
          </p:nvCxnSpPr>
          <p:spPr>
            <a:xfrm flipH="1" flipV="1">
              <a:off x="2585770" y="4690050"/>
              <a:ext cx="4444" cy="6439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89773E71-9F0C-3961-63D1-E0F42219CA18}"/>
                </a:ext>
              </a:extLst>
            </p:cNvPr>
            <p:cNvCxnSpPr>
              <a:cxnSpLocks/>
            </p:cNvCxnSpPr>
            <p:nvPr/>
          </p:nvCxnSpPr>
          <p:spPr>
            <a:xfrm flipH="1">
              <a:off x="2165032" y="5321193"/>
              <a:ext cx="416293" cy="2597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FAA726B4-F6A4-B4A4-9E58-0420E53F9C7A}"/>
                </a:ext>
              </a:extLst>
            </p:cNvPr>
            <p:cNvSpPr txBox="1"/>
            <p:nvPr/>
          </p:nvSpPr>
          <p:spPr>
            <a:xfrm>
              <a:off x="3591188" y="5136527"/>
              <a:ext cx="284052" cy="369332"/>
            </a:xfrm>
            <a:prstGeom prst="rect">
              <a:avLst/>
            </a:prstGeom>
            <a:noFill/>
          </p:spPr>
          <p:txBody>
            <a:bodyPr wrap="none" rtlCol="0">
              <a:spAutoFit/>
            </a:bodyPr>
            <a:lstStyle/>
            <a:p>
              <a:r>
                <a:rPr lang="en-US" dirty="0"/>
                <a:t>x</a:t>
              </a:r>
            </a:p>
          </p:txBody>
        </p:sp>
        <p:sp>
          <p:nvSpPr>
            <p:cNvPr id="23" name="TextBox 22">
              <a:extLst>
                <a:ext uri="{FF2B5EF4-FFF2-40B4-BE49-F238E27FC236}">
                  <a16:creationId xmlns:a16="http://schemas.microsoft.com/office/drawing/2014/main" id="{9152EA77-9A8D-78B2-1B54-049C5E588483}"/>
                </a:ext>
              </a:extLst>
            </p:cNvPr>
            <p:cNvSpPr txBox="1"/>
            <p:nvPr/>
          </p:nvSpPr>
          <p:spPr>
            <a:xfrm>
              <a:off x="2450814" y="4329235"/>
              <a:ext cx="288862" cy="369332"/>
            </a:xfrm>
            <a:prstGeom prst="rect">
              <a:avLst/>
            </a:prstGeom>
            <a:noFill/>
          </p:spPr>
          <p:txBody>
            <a:bodyPr wrap="none" rtlCol="0">
              <a:spAutoFit/>
            </a:bodyPr>
            <a:lstStyle/>
            <a:p>
              <a:r>
                <a:rPr lang="en-US" dirty="0"/>
                <a:t>y</a:t>
              </a:r>
            </a:p>
          </p:txBody>
        </p:sp>
        <p:sp>
          <p:nvSpPr>
            <p:cNvPr id="24" name="TextBox 23">
              <a:extLst>
                <a:ext uri="{FF2B5EF4-FFF2-40B4-BE49-F238E27FC236}">
                  <a16:creationId xmlns:a16="http://schemas.microsoft.com/office/drawing/2014/main" id="{8025DA3F-FC9E-7972-B5FF-3A585DA85E94}"/>
                </a:ext>
              </a:extLst>
            </p:cNvPr>
            <p:cNvSpPr txBox="1"/>
            <p:nvPr/>
          </p:nvSpPr>
          <p:spPr>
            <a:xfrm>
              <a:off x="1848465" y="5417469"/>
              <a:ext cx="276038" cy="369332"/>
            </a:xfrm>
            <a:prstGeom prst="rect">
              <a:avLst/>
            </a:prstGeom>
            <a:noFill/>
          </p:spPr>
          <p:txBody>
            <a:bodyPr wrap="none" rtlCol="0">
              <a:spAutoFit/>
            </a:bodyPr>
            <a:lstStyle/>
            <a:p>
              <a:r>
                <a:rPr lang="en-US" dirty="0"/>
                <a:t>z</a:t>
              </a:r>
            </a:p>
          </p:txBody>
        </p:sp>
      </p:grpSp>
    </p:spTree>
    <p:extLst>
      <p:ext uri="{BB962C8B-B14F-4D97-AF65-F5344CB8AC3E}">
        <p14:creationId xmlns:p14="http://schemas.microsoft.com/office/powerpoint/2010/main" val="4067583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P spid="14" grpId="0"/>
      <p:bldP spid="15" grpId="0"/>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3AF3F-AEBA-4BF5-89B4-448FB4845214}"/>
              </a:ext>
            </a:extLst>
          </p:cNvPr>
          <p:cNvSpPr>
            <a:spLocks noGrp="1"/>
          </p:cNvSpPr>
          <p:nvPr>
            <p:ph type="title"/>
          </p:nvPr>
        </p:nvSpPr>
        <p:spPr/>
        <p:txBody>
          <a:bodyPr/>
          <a:lstStyle/>
          <a:p>
            <a:r>
              <a:rPr lang="en-US" dirty="0"/>
              <a:t>Center of Mass</a:t>
            </a:r>
          </a:p>
        </p:txBody>
      </p:sp>
      <p:sp>
        <p:nvSpPr>
          <p:cNvPr id="3" name="Content Placeholder 2">
            <a:extLst>
              <a:ext uri="{FF2B5EF4-FFF2-40B4-BE49-F238E27FC236}">
                <a16:creationId xmlns:a16="http://schemas.microsoft.com/office/drawing/2014/main" id="{F51E7A3A-A353-4DB6-BE43-9DA2FC8D8982}"/>
              </a:ext>
            </a:extLst>
          </p:cNvPr>
          <p:cNvSpPr>
            <a:spLocks noGrp="1"/>
          </p:cNvSpPr>
          <p:nvPr>
            <p:ph idx="1"/>
          </p:nvPr>
        </p:nvSpPr>
        <p:spPr/>
        <p:txBody>
          <a:bodyPr/>
          <a:lstStyle/>
          <a:p>
            <a:r>
              <a:rPr lang="en-US" dirty="0"/>
              <a:t>The center of mass calculation with the method of composite parts is the same as the centroid of a volume calculation, except we will be using </a:t>
            </a:r>
            <a:r>
              <a:rPr lang="en-US" b="1" dirty="0"/>
              <a:t>mass</a:t>
            </a:r>
            <a:r>
              <a:rPr lang="en-US" dirty="0"/>
              <a:t> in place of the </a:t>
            </a:r>
            <a:r>
              <a:rPr lang="en-US" b="1" dirty="0"/>
              <a:t>volume</a:t>
            </a:r>
            <a:r>
              <a:rPr lang="en-US" dirty="0"/>
              <a:t>.</a:t>
            </a:r>
          </a:p>
        </p:txBody>
      </p:sp>
      <p:sp>
        <p:nvSpPr>
          <p:cNvPr id="4" name="Slide Number Placeholder 3">
            <a:extLst>
              <a:ext uri="{FF2B5EF4-FFF2-40B4-BE49-F238E27FC236}">
                <a16:creationId xmlns:a16="http://schemas.microsoft.com/office/drawing/2014/main" id="{AA5F8D82-4EAF-4C31-89B5-CC2652C1F611}"/>
              </a:ext>
            </a:extLst>
          </p:cNvPr>
          <p:cNvSpPr>
            <a:spLocks noGrp="1"/>
          </p:cNvSpPr>
          <p:nvPr>
            <p:ph type="sldNum" sz="quarter" idx="12"/>
          </p:nvPr>
        </p:nvSpPr>
        <p:spPr/>
        <p:txBody>
          <a:bodyPr/>
          <a:lstStyle/>
          <a:p>
            <a:fld id="{929262FE-7F58-4A1E-8AF3-5A510A86DEBD}" type="slidenum">
              <a:rPr lang="en-US" smtClean="0"/>
              <a:t>4</a:t>
            </a:fld>
            <a:endParaRPr lang="en-US"/>
          </a:p>
        </p:txBody>
      </p:sp>
    </p:spTree>
    <p:extLst>
      <p:ext uri="{BB962C8B-B14F-4D97-AF65-F5344CB8AC3E}">
        <p14:creationId xmlns:p14="http://schemas.microsoft.com/office/powerpoint/2010/main" val="4271657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 of Mass</a:t>
            </a:r>
          </a:p>
        </p:txBody>
      </p:sp>
      <p:sp>
        <p:nvSpPr>
          <p:cNvPr id="3" name="Content Placeholder 2"/>
          <p:cNvSpPr>
            <a:spLocks noGrp="1"/>
          </p:cNvSpPr>
          <p:nvPr>
            <p:ph idx="1"/>
          </p:nvPr>
        </p:nvSpPr>
        <p:spPr>
          <a:xfrm>
            <a:off x="457200" y="1219200"/>
            <a:ext cx="8229600" cy="1752599"/>
          </a:xfrm>
        </p:spPr>
        <p:txBody>
          <a:bodyPr>
            <a:normAutofit fontScale="70000" lnSpcReduction="20000"/>
          </a:bodyPr>
          <a:lstStyle/>
          <a:p>
            <a:r>
              <a:rPr lang="en-US" dirty="0"/>
              <a:t>For the center of mass, we will use pretty much the same process except...</a:t>
            </a:r>
          </a:p>
          <a:p>
            <a:pPr lvl="1"/>
            <a:r>
              <a:rPr lang="en-US" dirty="0"/>
              <a:t>We will use the mass of each part in our table, which may be calculated as density times volume.</a:t>
            </a:r>
          </a:p>
          <a:p>
            <a:pPr lvl="1"/>
            <a:r>
              <a:rPr lang="en-US" dirty="0"/>
              <a:t>The mass of a cutout is the mass of material that would be removed.</a:t>
            </a:r>
          </a:p>
        </p:txBody>
      </p:sp>
      <p:sp>
        <p:nvSpPr>
          <p:cNvPr id="4" name="Slide Number Placeholder 3"/>
          <p:cNvSpPr>
            <a:spLocks noGrp="1"/>
          </p:cNvSpPr>
          <p:nvPr>
            <p:ph type="sldNum" sz="quarter" idx="12"/>
          </p:nvPr>
        </p:nvSpPr>
        <p:spPr>
          <a:xfrm>
            <a:off x="6553200" y="5365750"/>
            <a:ext cx="2133600" cy="365125"/>
          </a:xfrm>
        </p:spPr>
        <p:txBody>
          <a:bodyPr/>
          <a:lstStyle/>
          <a:p>
            <a:fld id="{929262FE-7F58-4A1E-8AF3-5A510A86DEBD}" type="slidenum">
              <a:rPr lang="en-US" smtClean="0"/>
              <a:t>5</a:t>
            </a:fld>
            <a:endParaRPr lang="en-US"/>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4220635804"/>
                  </p:ext>
                </p:extLst>
              </p:nvPr>
            </p:nvGraphicFramePr>
            <p:xfrm>
              <a:off x="4267200" y="3333206"/>
              <a:ext cx="4430490" cy="2026920"/>
            </p:xfrm>
            <a:graphic>
              <a:graphicData uri="http://schemas.openxmlformats.org/drawingml/2006/table">
                <a:tbl>
                  <a:tblPr firstRow="1" bandRow="1">
                    <a:tableStyleId>{5C22544A-7EE6-4342-B048-85BDC9FD1C3A}</a:tableStyleId>
                  </a:tblPr>
                  <a:tblGrid>
                    <a:gridCol w="886098">
                      <a:extLst>
                        <a:ext uri="{9D8B030D-6E8A-4147-A177-3AD203B41FA5}">
                          <a16:colId xmlns:a16="http://schemas.microsoft.com/office/drawing/2014/main" val="20000"/>
                        </a:ext>
                      </a:extLst>
                    </a:gridCol>
                    <a:gridCol w="1018902">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49090">
                      <a:extLst>
                        <a:ext uri="{9D8B030D-6E8A-4147-A177-3AD203B41FA5}">
                          <a16:colId xmlns:a16="http://schemas.microsoft.com/office/drawing/2014/main" val="20004"/>
                        </a:ext>
                      </a:extLst>
                    </a:gridCol>
                  </a:tblGrid>
                  <a:tr h="662940">
                    <a:tc>
                      <a:txBody>
                        <a:bodyPr/>
                        <a:lstStyle/>
                        <a:p>
                          <a:pPr algn="ctr"/>
                          <a:r>
                            <a:rPr lang="en-US" sz="2000" dirty="0"/>
                            <a:t>Shape</a:t>
                          </a:r>
                        </a:p>
                      </a:txBody>
                      <a:tcPr anchor="ctr"/>
                    </a:tc>
                    <a:tc>
                      <a:txBody>
                        <a:bodyPr/>
                        <a:lstStyle/>
                        <a:p>
                          <a:pPr algn="ctr"/>
                          <a:r>
                            <a:rPr lang="en-US" sz="2000" dirty="0"/>
                            <a:t>Mass</a:t>
                          </a:r>
                          <a:endParaRPr lang="en-US" sz="2000" baseline="0" dirty="0"/>
                        </a:p>
                        <a:p>
                          <a:pPr algn="ctr"/>
                          <a:r>
                            <a:rPr lang="en-US" sz="2000" baseline="0" dirty="0"/>
                            <a:t>(</a:t>
                          </a:r>
                          <a14:m>
                            <m:oMath xmlns:m="http://schemas.openxmlformats.org/officeDocument/2006/math">
                              <m:r>
                                <a:rPr lang="en-US" sz="2000" b="1" i="1" baseline="0" smtClean="0">
                                  <a:latin typeface="Cambria Math" panose="02040503050406030204" pitchFamily="18" charset="0"/>
                                </a:rPr>
                                <m:t>𝒎</m:t>
                              </m:r>
                            </m:oMath>
                          </a14:m>
                          <a:r>
                            <a:rPr lang="en-US" sz="2000" baseline="0" dirty="0"/>
                            <a:t>)</a:t>
                          </a:r>
                          <a:endParaRPr 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800" b="0" i="1" dirty="0" smtClean="0">
                                        <a:latin typeface="Cambria Math" panose="02040503050406030204" pitchFamily="18" charset="0"/>
                                      </a:rPr>
                                    </m:ctrlPr>
                                  </m:accPr>
                                  <m:e>
                                    <m:r>
                                      <m:rPr>
                                        <m:sty m:val="p"/>
                                      </m:rPr>
                                      <a:rPr lang="en-US" sz="2800" b="0" i="0" dirty="0" smtClean="0">
                                        <a:latin typeface="Cambria Math"/>
                                      </a:rPr>
                                      <m:t>X</m:t>
                                    </m:r>
                                  </m:e>
                                </m:acc>
                              </m:oMath>
                            </m:oMathPara>
                          </a14:m>
                          <a:endParaRPr lang="en-US" b="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800" b="0" i="1" dirty="0" smtClean="0">
                                        <a:latin typeface="Cambria Math" panose="02040503050406030204" pitchFamily="18" charset="0"/>
                                      </a:rPr>
                                    </m:ctrlPr>
                                  </m:accPr>
                                  <m:e>
                                    <m:r>
                                      <m:rPr>
                                        <m:sty m:val="p"/>
                                      </m:rPr>
                                      <a:rPr lang="en-US" sz="2800" b="0" i="0" dirty="0" smtClean="0">
                                        <a:latin typeface="Cambria Math"/>
                                      </a:rPr>
                                      <m:t>Y</m:t>
                                    </m:r>
                                  </m:e>
                                </m:acc>
                              </m:oMath>
                            </m:oMathPara>
                          </a14:m>
                          <a:endParaRPr lang="en-US" b="0" i="0" dirty="0"/>
                        </a:p>
                      </a:txBody>
                      <a:tcPr anchor="ct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2800" b="0" i="1" dirty="0" smtClean="0">
                                        <a:latin typeface="Cambria Math" panose="02040503050406030204" pitchFamily="18" charset="0"/>
                                      </a:rPr>
                                    </m:ctrlPr>
                                  </m:accPr>
                                  <m:e>
                                    <m:r>
                                      <m:rPr>
                                        <m:sty m:val="p"/>
                                      </m:rPr>
                                      <a:rPr lang="en-US" sz="2800" b="0" i="0" dirty="0" smtClean="0">
                                        <a:latin typeface="Cambria Math"/>
                                      </a:rPr>
                                      <m:t>Z</m:t>
                                    </m:r>
                                  </m:e>
                                </m:acc>
                              </m:oMath>
                            </m:oMathPara>
                          </a14:m>
                          <a:endParaRPr lang="en-US" b="0" i="0" dirty="0"/>
                        </a:p>
                      </a:txBody>
                      <a:tcPr anchor="ctr"/>
                    </a:tc>
                    <a:extLst>
                      <a:ext uri="{0D108BD9-81ED-4DB2-BD59-A6C34878D82A}">
                        <a16:rowId xmlns:a16="http://schemas.microsoft.com/office/drawing/2014/main" val="10000"/>
                      </a:ext>
                    </a:extLst>
                  </a:tr>
                  <a:tr h="662940">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r h="662940">
                    <a:tc>
                      <a:txBody>
                        <a:bodyPr/>
                        <a:lstStyle/>
                        <a:p>
                          <a:pPr algn="ctr"/>
                          <a:r>
                            <a:rPr lang="en-US" dirty="0"/>
                            <a:t>2</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2"/>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4220635804"/>
                  </p:ext>
                </p:extLst>
              </p:nvPr>
            </p:nvGraphicFramePr>
            <p:xfrm>
              <a:off x="4267200" y="3333206"/>
              <a:ext cx="4430490" cy="2026920"/>
            </p:xfrm>
            <a:graphic>
              <a:graphicData uri="http://schemas.openxmlformats.org/drawingml/2006/table">
                <a:tbl>
                  <a:tblPr firstRow="1" bandRow="1">
                    <a:tableStyleId>{5C22544A-7EE6-4342-B048-85BDC9FD1C3A}</a:tableStyleId>
                  </a:tblPr>
                  <a:tblGrid>
                    <a:gridCol w="886098">
                      <a:extLst>
                        <a:ext uri="{9D8B030D-6E8A-4147-A177-3AD203B41FA5}">
                          <a16:colId xmlns:a16="http://schemas.microsoft.com/office/drawing/2014/main" val="20000"/>
                        </a:ext>
                      </a:extLst>
                    </a:gridCol>
                    <a:gridCol w="1018902">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49090">
                      <a:extLst>
                        <a:ext uri="{9D8B030D-6E8A-4147-A177-3AD203B41FA5}">
                          <a16:colId xmlns:a16="http://schemas.microsoft.com/office/drawing/2014/main" val="20004"/>
                        </a:ext>
                      </a:extLst>
                    </a:gridCol>
                  </a:tblGrid>
                  <a:tr h="701040">
                    <a:tc>
                      <a:txBody>
                        <a:bodyPr/>
                        <a:lstStyle/>
                        <a:p>
                          <a:pPr algn="ctr"/>
                          <a:r>
                            <a:rPr lang="en-US" sz="2000" dirty="0"/>
                            <a:t>Shape</a:t>
                          </a:r>
                        </a:p>
                      </a:txBody>
                      <a:tcPr anchor="ctr"/>
                    </a:tc>
                    <a:tc>
                      <a:txBody>
                        <a:bodyPr/>
                        <a:lstStyle/>
                        <a:p>
                          <a:endParaRPr lang="en-US"/>
                        </a:p>
                      </a:txBody>
                      <a:tcPr anchor="ctr">
                        <a:blipFill>
                          <a:blip r:embed="rId2"/>
                          <a:stretch>
                            <a:fillRect l="-87500" t="-4310" r="-248810" b="-189655"/>
                          </a:stretch>
                        </a:blipFill>
                      </a:tcPr>
                    </a:tc>
                    <a:tc>
                      <a:txBody>
                        <a:bodyPr/>
                        <a:lstStyle/>
                        <a:p>
                          <a:endParaRPr lang="en-US"/>
                        </a:p>
                      </a:txBody>
                      <a:tcPr anchor="ctr">
                        <a:blipFill>
                          <a:blip r:embed="rId2"/>
                          <a:stretch>
                            <a:fillRect l="-229927" t="-4310" r="-205109" b="-189655"/>
                          </a:stretch>
                        </a:blipFill>
                      </a:tcPr>
                    </a:tc>
                    <a:tc>
                      <a:txBody>
                        <a:bodyPr/>
                        <a:lstStyle/>
                        <a:p>
                          <a:endParaRPr lang="en-US"/>
                        </a:p>
                      </a:txBody>
                      <a:tcPr anchor="ctr">
                        <a:blipFill>
                          <a:blip r:embed="rId2"/>
                          <a:stretch>
                            <a:fillRect l="-327536" t="-4310" r="-103623" b="-189655"/>
                          </a:stretch>
                        </a:blipFill>
                      </a:tcPr>
                    </a:tc>
                    <a:tc>
                      <a:txBody>
                        <a:bodyPr/>
                        <a:lstStyle/>
                        <a:p>
                          <a:endParaRPr lang="en-US"/>
                        </a:p>
                      </a:txBody>
                      <a:tcPr anchor="ctr">
                        <a:blipFill>
                          <a:blip r:embed="rId2"/>
                          <a:stretch>
                            <a:fillRect l="-424460" t="-4310" r="-2878" b="-189655"/>
                          </a:stretch>
                        </a:blipFill>
                      </a:tcPr>
                    </a:tc>
                    <a:extLst>
                      <a:ext uri="{0D108BD9-81ED-4DB2-BD59-A6C34878D82A}">
                        <a16:rowId xmlns:a16="http://schemas.microsoft.com/office/drawing/2014/main" val="10000"/>
                      </a:ext>
                    </a:extLst>
                  </a:tr>
                  <a:tr h="662940">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r h="662940">
                    <a:tc>
                      <a:txBody>
                        <a:bodyPr/>
                        <a:lstStyle/>
                        <a:p>
                          <a:pPr algn="ctr"/>
                          <a:r>
                            <a:rPr lang="en-US" dirty="0"/>
                            <a:t>2</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2"/>
                      </a:ext>
                    </a:extLst>
                  </a:tr>
                </a:tbl>
              </a:graphicData>
            </a:graphic>
          </p:graphicFrame>
        </mc:Fallback>
      </mc:AlternateContent>
      <p:grpSp>
        <p:nvGrpSpPr>
          <p:cNvPr id="24" name="Group 23">
            <a:extLst>
              <a:ext uri="{FF2B5EF4-FFF2-40B4-BE49-F238E27FC236}">
                <a16:creationId xmlns:a16="http://schemas.microsoft.com/office/drawing/2014/main" id="{BBF3903D-4917-9715-97F7-C551DA3F83B8}"/>
              </a:ext>
            </a:extLst>
          </p:cNvPr>
          <p:cNvGrpSpPr/>
          <p:nvPr/>
        </p:nvGrpSpPr>
        <p:grpSpPr>
          <a:xfrm>
            <a:off x="1735901" y="3040808"/>
            <a:ext cx="1306286" cy="2590800"/>
            <a:chOff x="1741714" y="3048000"/>
            <a:chExt cx="1306286" cy="2590800"/>
          </a:xfrm>
        </p:grpSpPr>
        <p:sp>
          <p:nvSpPr>
            <p:cNvPr id="8" name="Can 7"/>
            <p:cNvSpPr/>
            <p:nvPr/>
          </p:nvSpPr>
          <p:spPr>
            <a:xfrm>
              <a:off x="1752600" y="3962400"/>
              <a:ext cx="1295400" cy="1676400"/>
            </a:xfrm>
            <a:prstGeom prst="can">
              <a:avLst/>
            </a:prstGeom>
            <a:solidFill>
              <a:schemeClr val="bg2">
                <a:lumMod val="9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747316" y="3057498"/>
              <a:ext cx="1300684" cy="1243044"/>
            </a:xfrm>
            <a:custGeom>
              <a:avLst/>
              <a:gdLst>
                <a:gd name="connsiteX0" fmla="*/ 652984 w 1300684"/>
                <a:gd name="connsiteY0" fmla="*/ 27 h 1243044"/>
                <a:gd name="connsiteX1" fmla="*/ 633934 w 1300684"/>
                <a:gd name="connsiteY1" fmla="*/ 23840 h 1243044"/>
                <a:gd name="connsiteX2" fmla="*/ 624409 w 1300684"/>
                <a:gd name="connsiteY2" fmla="*/ 38127 h 1243044"/>
                <a:gd name="connsiteX3" fmla="*/ 610122 w 1300684"/>
                <a:gd name="connsiteY3" fmla="*/ 47652 h 1243044"/>
                <a:gd name="connsiteX4" fmla="*/ 605359 w 1300684"/>
                <a:gd name="connsiteY4" fmla="*/ 61940 h 1243044"/>
                <a:gd name="connsiteX5" fmla="*/ 595834 w 1300684"/>
                <a:gd name="connsiteY5" fmla="*/ 100040 h 1243044"/>
                <a:gd name="connsiteX6" fmla="*/ 576784 w 1300684"/>
                <a:gd name="connsiteY6" fmla="*/ 133377 h 1243044"/>
                <a:gd name="connsiteX7" fmla="*/ 562497 w 1300684"/>
                <a:gd name="connsiteY7" fmla="*/ 161952 h 1243044"/>
                <a:gd name="connsiteX8" fmla="*/ 557734 w 1300684"/>
                <a:gd name="connsiteY8" fmla="*/ 176240 h 1243044"/>
                <a:gd name="connsiteX9" fmla="*/ 524397 w 1300684"/>
                <a:gd name="connsiteY9" fmla="*/ 209577 h 1243044"/>
                <a:gd name="connsiteX10" fmla="*/ 495822 w 1300684"/>
                <a:gd name="connsiteY10" fmla="*/ 257202 h 1243044"/>
                <a:gd name="connsiteX11" fmla="*/ 481534 w 1300684"/>
                <a:gd name="connsiteY11" fmla="*/ 281015 h 1243044"/>
                <a:gd name="connsiteX12" fmla="*/ 472009 w 1300684"/>
                <a:gd name="connsiteY12" fmla="*/ 295302 h 1243044"/>
                <a:gd name="connsiteX13" fmla="*/ 457722 w 1300684"/>
                <a:gd name="connsiteY13" fmla="*/ 304827 h 1243044"/>
                <a:gd name="connsiteX14" fmla="*/ 452959 w 1300684"/>
                <a:gd name="connsiteY14" fmla="*/ 323877 h 1243044"/>
                <a:gd name="connsiteX15" fmla="*/ 438672 w 1300684"/>
                <a:gd name="connsiteY15" fmla="*/ 338165 h 1243044"/>
                <a:gd name="connsiteX16" fmla="*/ 424384 w 1300684"/>
                <a:gd name="connsiteY16" fmla="*/ 357215 h 1243044"/>
                <a:gd name="connsiteX17" fmla="*/ 414859 w 1300684"/>
                <a:gd name="connsiteY17" fmla="*/ 376265 h 1243044"/>
                <a:gd name="connsiteX18" fmla="*/ 395809 w 1300684"/>
                <a:gd name="connsiteY18" fmla="*/ 404840 h 1243044"/>
                <a:gd name="connsiteX19" fmla="*/ 386284 w 1300684"/>
                <a:gd name="connsiteY19" fmla="*/ 419127 h 1243044"/>
                <a:gd name="connsiteX20" fmla="*/ 371997 w 1300684"/>
                <a:gd name="connsiteY20" fmla="*/ 442940 h 1243044"/>
                <a:gd name="connsiteX21" fmla="*/ 357709 w 1300684"/>
                <a:gd name="connsiteY21" fmla="*/ 481040 h 1243044"/>
                <a:gd name="connsiteX22" fmla="*/ 352947 w 1300684"/>
                <a:gd name="connsiteY22" fmla="*/ 500090 h 1243044"/>
                <a:gd name="connsiteX23" fmla="*/ 338659 w 1300684"/>
                <a:gd name="connsiteY23" fmla="*/ 514377 h 1243044"/>
                <a:gd name="connsiteX24" fmla="*/ 329134 w 1300684"/>
                <a:gd name="connsiteY24" fmla="*/ 533427 h 1243044"/>
                <a:gd name="connsiteX25" fmla="*/ 319609 w 1300684"/>
                <a:gd name="connsiteY25" fmla="*/ 557240 h 1243044"/>
                <a:gd name="connsiteX26" fmla="*/ 310084 w 1300684"/>
                <a:gd name="connsiteY26" fmla="*/ 571527 h 1243044"/>
                <a:gd name="connsiteX27" fmla="*/ 276747 w 1300684"/>
                <a:gd name="connsiteY27" fmla="*/ 623915 h 1243044"/>
                <a:gd name="connsiteX28" fmla="*/ 257697 w 1300684"/>
                <a:gd name="connsiteY28" fmla="*/ 647727 h 1243044"/>
                <a:gd name="connsiteX29" fmla="*/ 238647 w 1300684"/>
                <a:gd name="connsiteY29" fmla="*/ 676302 h 1243044"/>
                <a:gd name="connsiteX30" fmla="*/ 219597 w 1300684"/>
                <a:gd name="connsiteY30" fmla="*/ 695352 h 1243044"/>
                <a:gd name="connsiteX31" fmla="*/ 205309 w 1300684"/>
                <a:gd name="connsiteY31" fmla="*/ 714402 h 1243044"/>
                <a:gd name="connsiteX32" fmla="*/ 186259 w 1300684"/>
                <a:gd name="connsiteY32" fmla="*/ 733452 h 1243044"/>
                <a:gd name="connsiteX33" fmla="*/ 176734 w 1300684"/>
                <a:gd name="connsiteY33" fmla="*/ 752502 h 1243044"/>
                <a:gd name="connsiteX34" fmla="*/ 167209 w 1300684"/>
                <a:gd name="connsiteY34" fmla="*/ 766790 h 1243044"/>
                <a:gd name="connsiteX35" fmla="*/ 143397 w 1300684"/>
                <a:gd name="connsiteY35" fmla="*/ 800127 h 1243044"/>
                <a:gd name="connsiteX36" fmla="*/ 119584 w 1300684"/>
                <a:gd name="connsiteY36" fmla="*/ 828702 h 1243044"/>
                <a:gd name="connsiteX37" fmla="*/ 100534 w 1300684"/>
                <a:gd name="connsiteY37" fmla="*/ 857277 h 1243044"/>
                <a:gd name="connsiteX38" fmla="*/ 91009 w 1300684"/>
                <a:gd name="connsiteY38" fmla="*/ 871565 h 1243044"/>
                <a:gd name="connsiteX39" fmla="*/ 81484 w 1300684"/>
                <a:gd name="connsiteY39" fmla="*/ 885852 h 1243044"/>
                <a:gd name="connsiteX40" fmla="*/ 71959 w 1300684"/>
                <a:gd name="connsiteY40" fmla="*/ 900140 h 1243044"/>
                <a:gd name="connsiteX41" fmla="*/ 57672 w 1300684"/>
                <a:gd name="connsiteY41" fmla="*/ 933477 h 1243044"/>
                <a:gd name="connsiteX42" fmla="*/ 48147 w 1300684"/>
                <a:gd name="connsiteY42" fmla="*/ 962052 h 1243044"/>
                <a:gd name="connsiteX43" fmla="*/ 43384 w 1300684"/>
                <a:gd name="connsiteY43" fmla="*/ 976340 h 1243044"/>
                <a:gd name="connsiteX44" fmla="*/ 29097 w 1300684"/>
                <a:gd name="connsiteY44" fmla="*/ 1023965 h 1243044"/>
                <a:gd name="connsiteX45" fmla="*/ 10047 w 1300684"/>
                <a:gd name="connsiteY45" fmla="*/ 1057302 h 1243044"/>
                <a:gd name="connsiteX46" fmla="*/ 5284 w 1300684"/>
                <a:gd name="connsiteY46" fmla="*/ 1076352 h 1243044"/>
                <a:gd name="connsiteX47" fmla="*/ 522 w 1300684"/>
                <a:gd name="connsiteY47" fmla="*/ 1090640 h 1243044"/>
                <a:gd name="connsiteX48" fmla="*/ 14809 w 1300684"/>
                <a:gd name="connsiteY48" fmla="*/ 1095402 h 1243044"/>
                <a:gd name="connsiteX49" fmla="*/ 38622 w 1300684"/>
                <a:gd name="connsiteY49" fmla="*/ 1114452 h 1243044"/>
                <a:gd name="connsiteX50" fmla="*/ 48147 w 1300684"/>
                <a:gd name="connsiteY50" fmla="*/ 1128740 h 1243044"/>
                <a:gd name="connsiteX51" fmla="*/ 62434 w 1300684"/>
                <a:gd name="connsiteY51" fmla="*/ 1133502 h 1243044"/>
                <a:gd name="connsiteX52" fmla="*/ 105297 w 1300684"/>
                <a:gd name="connsiteY52" fmla="*/ 1152552 h 1243044"/>
                <a:gd name="connsiteX53" fmla="*/ 124347 w 1300684"/>
                <a:gd name="connsiteY53" fmla="*/ 1162077 h 1243044"/>
                <a:gd name="connsiteX54" fmla="*/ 152922 w 1300684"/>
                <a:gd name="connsiteY54" fmla="*/ 1171602 h 1243044"/>
                <a:gd name="connsiteX55" fmla="*/ 233884 w 1300684"/>
                <a:gd name="connsiteY55" fmla="*/ 1181127 h 1243044"/>
                <a:gd name="connsiteX56" fmla="*/ 238647 w 1300684"/>
                <a:gd name="connsiteY56" fmla="*/ 1195415 h 1243044"/>
                <a:gd name="connsiteX57" fmla="*/ 281509 w 1300684"/>
                <a:gd name="connsiteY57" fmla="*/ 1219227 h 1243044"/>
                <a:gd name="connsiteX58" fmla="*/ 300559 w 1300684"/>
                <a:gd name="connsiteY58" fmla="*/ 1223990 h 1243044"/>
                <a:gd name="connsiteX59" fmla="*/ 314847 w 1300684"/>
                <a:gd name="connsiteY59" fmla="*/ 1228752 h 1243044"/>
                <a:gd name="connsiteX60" fmla="*/ 552972 w 1300684"/>
                <a:gd name="connsiteY60" fmla="*/ 1233515 h 1243044"/>
                <a:gd name="connsiteX61" fmla="*/ 676797 w 1300684"/>
                <a:gd name="connsiteY61" fmla="*/ 1243040 h 1243044"/>
                <a:gd name="connsiteX62" fmla="*/ 933972 w 1300684"/>
                <a:gd name="connsiteY62" fmla="*/ 1238277 h 1243044"/>
                <a:gd name="connsiteX63" fmla="*/ 976834 w 1300684"/>
                <a:gd name="connsiteY63" fmla="*/ 1223990 h 1243044"/>
                <a:gd name="connsiteX64" fmla="*/ 991122 w 1300684"/>
                <a:gd name="connsiteY64" fmla="*/ 1219227 h 1243044"/>
                <a:gd name="connsiteX65" fmla="*/ 1019697 w 1300684"/>
                <a:gd name="connsiteY65" fmla="*/ 1214465 h 1243044"/>
                <a:gd name="connsiteX66" fmla="*/ 1048272 w 1300684"/>
                <a:gd name="connsiteY66" fmla="*/ 1204940 h 1243044"/>
                <a:gd name="connsiteX67" fmla="*/ 1081609 w 1300684"/>
                <a:gd name="connsiteY67" fmla="*/ 1185890 h 1243044"/>
                <a:gd name="connsiteX68" fmla="*/ 1095897 w 1300684"/>
                <a:gd name="connsiteY68" fmla="*/ 1176365 h 1243044"/>
                <a:gd name="connsiteX69" fmla="*/ 1114947 w 1300684"/>
                <a:gd name="connsiteY69" fmla="*/ 1171602 h 1243044"/>
                <a:gd name="connsiteX70" fmla="*/ 1195909 w 1300684"/>
                <a:gd name="connsiteY70" fmla="*/ 1166840 h 1243044"/>
                <a:gd name="connsiteX71" fmla="*/ 1224484 w 1300684"/>
                <a:gd name="connsiteY71" fmla="*/ 1162077 h 1243044"/>
                <a:gd name="connsiteX72" fmla="*/ 1257822 w 1300684"/>
                <a:gd name="connsiteY72" fmla="*/ 1152552 h 1243044"/>
                <a:gd name="connsiteX73" fmla="*/ 1267347 w 1300684"/>
                <a:gd name="connsiteY73" fmla="*/ 1138265 h 1243044"/>
                <a:gd name="connsiteX74" fmla="*/ 1272109 w 1300684"/>
                <a:gd name="connsiteY74" fmla="*/ 1119215 h 1243044"/>
                <a:gd name="connsiteX75" fmla="*/ 1286397 w 1300684"/>
                <a:gd name="connsiteY75" fmla="*/ 1109690 h 1243044"/>
                <a:gd name="connsiteX76" fmla="*/ 1295922 w 1300684"/>
                <a:gd name="connsiteY76" fmla="*/ 1095402 h 1243044"/>
                <a:gd name="connsiteX77" fmla="*/ 1300684 w 1300684"/>
                <a:gd name="connsiteY77" fmla="*/ 1076352 h 1243044"/>
                <a:gd name="connsiteX78" fmla="*/ 1286397 w 1300684"/>
                <a:gd name="connsiteY78" fmla="*/ 1043015 h 1243044"/>
                <a:gd name="connsiteX79" fmla="*/ 1272109 w 1300684"/>
                <a:gd name="connsiteY79" fmla="*/ 1033490 h 1243044"/>
                <a:gd name="connsiteX80" fmla="*/ 1257822 w 1300684"/>
                <a:gd name="connsiteY80" fmla="*/ 990627 h 1243044"/>
                <a:gd name="connsiteX81" fmla="*/ 1253059 w 1300684"/>
                <a:gd name="connsiteY81" fmla="*/ 976340 h 1243044"/>
                <a:gd name="connsiteX82" fmla="*/ 1243534 w 1300684"/>
                <a:gd name="connsiteY82" fmla="*/ 943002 h 1243044"/>
                <a:gd name="connsiteX83" fmla="*/ 1219722 w 1300684"/>
                <a:gd name="connsiteY83" fmla="*/ 914427 h 1243044"/>
                <a:gd name="connsiteX84" fmla="*/ 1205434 w 1300684"/>
                <a:gd name="connsiteY84" fmla="*/ 909665 h 1243044"/>
                <a:gd name="connsiteX85" fmla="*/ 1172097 w 1300684"/>
                <a:gd name="connsiteY85" fmla="*/ 876327 h 1243044"/>
                <a:gd name="connsiteX86" fmla="*/ 1162572 w 1300684"/>
                <a:gd name="connsiteY86" fmla="*/ 828702 h 1243044"/>
                <a:gd name="connsiteX87" fmla="*/ 1157809 w 1300684"/>
                <a:gd name="connsiteY87" fmla="*/ 814415 h 1243044"/>
                <a:gd name="connsiteX88" fmla="*/ 1153047 w 1300684"/>
                <a:gd name="connsiteY88" fmla="*/ 795365 h 1243044"/>
                <a:gd name="connsiteX89" fmla="*/ 1143522 w 1300684"/>
                <a:gd name="connsiteY89" fmla="*/ 766790 h 1243044"/>
                <a:gd name="connsiteX90" fmla="*/ 1124472 w 1300684"/>
                <a:gd name="connsiteY90" fmla="*/ 738215 h 1243044"/>
                <a:gd name="connsiteX91" fmla="*/ 1076847 w 1300684"/>
                <a:gd name="connsiteY91" fmla="*/ 738215 h 1243044"/>
                <a:gd name="connsiteX92" fmla="*/ 1062559 w 1300684"/>
                <a:gd name="connsiteY92" fmla="*/ 685827 h 1243044"/>
                <a:gd name="connsiteX93" fmla="*/ 1057797 w 1300684"/>
                <a:gd name="connsiteY93" fmla="*/ 671540 h 1243044"/>
                <a:gd name="connsiteX94" fmla="*/ 1043509 w 1300684"/>
                <a:gd name="connsiteY94" fmla="*/ 662015 h 1243044"/>
                <a:gd name="connsiteX95" fmla="*/ 1033984 w 1300684"/>
                <a:gd name="connsiteY95" fmla="*/ 633440 h 1243044"/>
                <a:gd name="connsiteX96" fmla="*/ 1014934 w 1300684"/>
                <a:gd name="connsiteY96" fmla="*/ 604865 h 1243044"/>
                <a:gd name="connsiteX97" fmla="*/ 1000647 w 1300684"/>
                <a:gd name="connsiteY97" fmla="*/ 571527 h 1243044"/>
                <a:gd name="connsiteX98" fmla="*/ 986359 w 1300684"/>
                <a:gd name="connsiteY98" fmla="*/ 562002 h 1243044"/>
                <a:gd name="connsiteX99" fmla="*/ 972072 w 1300684"/>
                <a:gd name="connsiteY99" fmla="*/ 519140 h 1243044"/>
                <a:gd name="connsiteX100" fmla="*/ 967309 w 1300684"/>
                <a:gd name="connsiteY100" fmla="*/ 504852 h 1243044"/>
                <a:gd name="connsiteX101" fmla="*/ 957784 w 1300684"/>
                <a:gd name="connsiteY101" fmla="*/ 490565 h 1243044"/>
                <a:gd name="connsiteX102" fmla="*/ 948259 w 1300684"/>
                <a:gd name="connsiteY102" fmla="*/ 457227 h 1243044"/>
                <a:gd name="connsiteX103" fmla="*/ 919684 w 1300684"/>
                <a:gd name="connsiteY103" fmla="*/ 433415 h 1243044"/>
                <a:gd name="connsiteX104" fmla="*/ 910159 w 1300684"/>
                <a:gd name="connsiteY104" fmla="*/ 414365 h 1243044"/>
                <a:gd name="connsiteX105" fmla="*/ 886347 w 1300684"/>
                <a:gd name="connsiteY105" fmla="*/ 385790 h 1243044"/>
                <a:gd name="connsiteX106" fmla="*/ 876822 w 1300684"/>
                <a:gd name="connsiteY106" fmla="*/ 357215 h 1243044"/>
                <a:gd name="connsiteX107" fmla="*/ 872059 w 1300684"/>
                <a:gd name="connsiteY107" fmla="*/ 342927 h 1243044"/>
                <a:gd name="connsiteX108" fmla="*/ 867297 w 1300684"/>
                <a:gd name="connsiteY108" fmla="*/ 328640 h 1243044"/>
                <a:gd name="connsiteX109" fmla="*/ 848247 w 1300684"/>
                <a:gd name="connsiteY109" fmla="*/ 300065 h 1243044"/>
                <a:gd name="connsiteX110" fmla="*/ 833959 w 1300684"/>
                <a:gd name="connsiteY110" fmla="*/ 271490 h 1243044"/>
                <a:gd name="connsiteX111" fmla="*/ 819672 w 1300684"/>
                <a:gd name="connsiteY111" fmla="*/ 266727 h 1243044"/>
                <a:gd name="connsiteX112" fmla="*/ 810147 w 1300684"/>
                <a:gd name="connsiteY112" fmla="*/ 252440 h 1243044"/>
                <a:gd name="connsiteX113" fmla="*/ 791097 w 1300684"/>
                <a:gd name="connsiteY113" fmla="*/ 238152 h 1243044"/>
                <a:gd name="connsiteX114" fmla="*/ 781572 w 1300684"/>
                <a:gd name="connsiteY114" fmla="*/ 204815 h 1243044"/>
                <a:gd name="connsiteX115" fmla="*/ 752997 w 1300684"/>
                <a:gd name="connsiteY115" fmla="*/ 147665 h 1243044"/>
                <a:gd name="connsiteX116" fmla="*/ 738709 w 1300684"/>
                <a:gd name="connsiteY116" fmla="*/ 138140 h 1243044"/>
                <a:gd name="connsiteX117" fmla="*/ 710134 w 1300684"/>
                <a:gd name="connsiteY117" fmla="*/ 104802 h 1243044"/>
                <a:gd name="connsiteX118" fmla="*/ 695847 w 1300684"/>
                <a:gd name="connsiteY118" fmla="*/ 90515 h 1243044"/>
                <a:gd name="connsiteX119" fmla="*/ 691084 w 1300684"/>
                <a:gd name="connsiteY119" fmla="*/ 76227 h 1243044"/>
                <a:gd name="connsiteX120" fmla="*/ 681559 w 1300684"/>
                <a:gd name="connsiteY120" fmla="*/ 61940 h 1243044"/>
                <a:gd name="connsiteX121" fmla="*/ 672034 w 1300684"/>
                <a:gd name="connsiteY121" fmla="*/ 28602 h 1243044"/>
                <a:gd name="connsiteX122" fmla="*/ 652984 w 1300684"/>
                <a:gd name="connsiteY122" fmla="*/ 27 h 124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300684" h="1243044">
                  <a:moveTo>
                    <a:pt x="652984" y="27"/>
                  </a:moveTo>
                  <a:cubicBezTo>
                    <a:pt x="646634" y="-767"/>
                    <a:pt x="640033" y="15708"/>
                    <a:pt x="633934" y="23840"/>
                  </a:cubicBezTo>
                  <a:cubicBezTo>
                    <a:pt x="630500" y="28419"/>
                    <a:pt x="628456" y="34080"/>
                    <a:pt x="624409" y="38127"/>
                  </a:cubicBezTo>
                  <a:cubicBezTo>
                    <a:pt x="620362" y="42174"/>
                    <a:pt x="614884" y="44477"/>
                    <a:pt x="610122" y="47652"/>
                  </a:cubicBezTo>
                  <a:cubicBezTo>
                    <a:pt x="608534" y="52415"/>
                    <a:pt x="606577" y="57070"/>
                    <a:pt x="605359" y="61940"/>
                  </a:cubicBezTo>
                  <a:cubicBezTo>
                    <a:pt x="600885" y="79837"/>
                    <a:pt x="602368" y="84795"/>
                    <a:pt x="595834" y="100040"/>
                  </a:cubicBezTo>
                  <a:cubicBezTo>
                    <a:pt x="588582" y="116960"/>
                    <a:pt x="586351" y="119028"/>
                    <a:pt x="576784" y="133377"/>
                  </a:cubicBezTo>
                  <a:cubicBezTo>
                    <a:pt x="564817" y="169284"/>
                    <a:pt x="580958" y="125030"/>
                    <a:pt x="562497" y="161952"/>
                  </a:cubicBezTo>
                  <a:cubicBezTo>
                    <a:pt x="560252" y="166442"/>
                    <a:pt x="560870" y="172320"/>
                    <a:pt x="557734" y="176240"/>
                  </a:cubicBezTo>
                  <a:cubicBezTo>
                    <a:pt x="547917" y="188512"/>
                    <a:pt x="532482" y="196101"/>
                    <a:pt x="524397" y="209577"/>
                  </a:cubicBezTo>
                  <a:lnTo>
                    <a:pt x="495822" y="257202"/>
                  </a:lnTo>
                  <a:cubicBezTo>
                    <a:pt x="491059" y="265140"/>
                    <a:pt x="486669" y="273313"/>
                    <a:pt x="481534" y="281015"/>
                  </a:cubicBezTo>
                  <a:cubicBezTo>
                    <a:pt x="478359" y="285777"/>
                    <a:pt x="476056" y="291255"/>
                    <a:pt x="472009" y="295302"/>
                  </a:cubicBezTo>
                  <a:cubicBezTo>
                    <a:pt x="467962" y="299349"/>
                    <a:pt x="462484" y="301652"/>
                    <a:pt x="457722" y="304827"/>
                  </a:cubicBezTo>
                  <a:cubicBezTo>
                    <a:pt x="456134" y="311177"/>
                    <a:pt x="456206" y="318194"/>
                    <a:pt x="452959" y="323877"/>
                  </a:cubicBezTo>
                  <a:cubicBezTo>
                    <a:pt x="449617" y="329725"/>
                    <a:pt x="443055" y="333051"/>
                    <a:pt x="438672" y="338165"/>
                  </a:cubicBezTo>
                  <a:cubicBezTo>
                    <a:pt x="433506" y="344192"/>
                    <a:pt x="428591" y="350484"/>
                    <a:pt x="424384" y="357215"/>
                  </a:cubicBezTo>
                  <a:cubicBezTo>
                    <a:pt x="420621" y="363235"/>
                    <a:pt x="418512" y="370177"/>
                    <a:pt x="414859" y="376265"/>
                  </a:cubicBezTo>
                  <a:cubicBezTo>
                    <a:pt x="408969" y="386081"/>
                    <a:pt x="402159" y="395315"/>
                    <a:pt x="395809" y="404840"/>
                  </a:cubicBezTo>
                  <a:cubicBezTo>
                    <a:pt x="392634" y="409602"/>
                    <a:pt x="389229" y="414219"/>
                    <a:pt x="386284" y="419127"/>
                  </a:cubicBezTo>
                  <a:lnTo>
                    <a:pt x="371997" y="442940"/>
                  </a:lnTo>
                  <a:cubicBezTo>
                    <a:pt x="359769" y="491848"/>
                    <a:pt x="376391" y="431221"/>
                    <a:pt x="357709" y="481040"/>
                  </a:cubicBezTo>
                  <a:cubicBezTo>
                    <a:pt x="355411" y="487169"/>
                    <a:pt x="356194" y="494407"/>
                    <a:pt x="352947" y="500090"/>
                  </a:cubicBezTo>
                  <a:cubicBezTo>
                    <a:pt x="349605" y="505938"/>
                    <a:pt x="343422" y="509615"/>
                    <a:pt x="338659" y="514377"/>
                  </a:cubicBezTo>
                  <a:cubicBezTo>
                    <a:pt x="335484" y="520727"/>
                    <a:pt x="332017" y="526939"/>
                    <a:pt x="329134" y="533427"/>
                  </a:cubicBezTo>
                  <a:cubicBezTo>
                    <a:pt x="325662" y="541239"/>
                    <a:pt x="323432" y="549593"/>
                    <a:pt x="319609" y="557240"/>
                  </a:cubicBezTo>
                  <a:cubicBezTo>
                    <a:pt x="317049" y="562359"/>
                    <a:pt x="313117" y="566673"/>
                    <a:pt x="310084" y="571527"/>
                  </a:cubicBezTo>
                  <a:cubicBezTo>
                    <a:pt x="294789" y="596000"/>
                    <a:pt x="294895" y="598961"/>
                    <a:pt x="276747" y="623915"/>
                  </a:cubicBezTo>
                  <a:cubicBezTo>
                    <a:pt x="270768" y="632136"/>
                    <a:pt x="263676" y="639506"/>
                    <a:pt x="257697" y="647727"/>
                  </a:cubicBezTo>
                  <a:cubicBezTo>
                    <a:pt x="250964" y="656985"/>
                    <a:pt x="245798" y="667363"/>
                    <a:pt x="238647" y="676302"/>
                  </a:cubicBezTo>
                  <a:cubicBezTo>
                    <a:pt x="233037" y="683314"/>
                    <a:pt x="225511" y="688594"/>
                    <a:pt x="219597" y="695352"/>
                  </a:cubicBezTo>
                  <a:cubicBezTo>
                    <a:pt x="214370" y="701326"/>
                    <a:pt x="210536" y="708428"/>
                    <a:pt x="205309" y="714402"/>
                  </a:cubicBezTo>
                  <a:cubicBezTo>
                    <a:pt x="199395" y="721160"/>
                    <a:pt x="191647" y="726268"/>
                    <a:pt x="186259" y="733452"/>
                  </a:cubicBezTo>
                  <a:cubicBezTo>
                    <a:pt x="181999" y="739132"/>
                    <a:pt x="180256" y="746338"/>
                    <a:pt x="176734" y="752502"/>
                  </a:cubicBezTo>
                  <a:cubicBezTo>
                    <a:pt x="173894" y="757472"/>
                    <a:pt x="170384" y="762027"/>
                    <a:pt x="167209" y="766790"/>
                  </a:cubicBezTo>
                  <a:cubicBezTo>
                    <a:pt x="156097" y="800127"/>
                    <a:pt x="167209" y="792190"/>
                    <a:pt x="143397" y="800127"/>
                  </a:cubicBezTo>
                  <a:cubicBezTo>
                    <a:pt x="119954" y="815755"/>
                    <a:pt x="135697" y="801847"/>
                    <a:pt x="119584" y="828702"/>
                  </a:cubicBezTo>
                  <a:cubicBezTo>
                    <a:pt x="113694" y="838518"/>
                    <a:pt x="106884" y="847752"/>
                    <a:pt x="100534" y="857277"/>
                  </a:cubicBezTo>
                  <a:lnTo>
                    <a:pt x="91009" y="871565"/>
                  </a:lnTo>
                  <a:lnTo>
                    <a:pt x="81484" y="885852"/>
                  </a:lnTo>
                  <a:lnTo>
                    <a:pt x="71959" y="900140"/>
                  </a:lnTo>
                  <a:cubicBezTo>
                    <a:pt x="56633" y="946120"/>
                    <a:pt x="81207" y="874640"/>
                    <a:pt x="57672" y="933477"/>
                  </a:cubicBezTo>
                  <a:cubicBezTo>
                    <a:pt x="53943" y="942799"/>
                    <a:pt x="51322" y="952527"/>
                    <a:pt x="48147" y="962052"/>
                  </a:cubicBezTo>
                  <a:lnTo>
                    <a:pt x="43384" y="976340"/>
                  </a:lnTo>
                  <a:cubicBezTo>
                    <a:pt x="32298" y="1053949"/>
                    <a:pt x="47660" y="980651"/>
                    <a:pt x="29097" y="1023965"/>
                  </a:cubicBezTo>
                  <a:cubicBezTo>
                    <a:pt x="14706" y="1057543"/>
                    <a:pt x="37188" y="1030161"/>
                    <a:pt x="10047" y="1057302"/>
                  </a:cubicBezTo>
                  <a:cubicBezTo>
                    <a:pt x="8459" y="1063652"/>
                    <a:pt x="7082" y="1070058"/>
                    <a:pt x="5284" y="1076352"/>
                  </a:cubicBezTo>
                  <a:cubicBezTo>
                    <a:pt x="3905" y="1081179"/>
                    <a:pt x="-1723" y="1086150"/>
                    <a:pt x="522" y="1090640"/>
                  </a:cubicBezTo>
                  <a:cubicBezTo>
                    <a:pt x="2767" y="1095130"/>
                    <a:pt x="10047" y="1093815"/>
                    <a:pt x="14809" y="1095402"/>
                  </a:cubicBezTo>
                  <a:cubicBezTo>
                    <a:pt x="42106" y="1136350"/>
                    <a:pt x="5759" y="1088162"/>
                    <a:pt x="38622" y="1114452"/>
                  </a:cubicBezTo>
                  <a:cubicBezTo>
                    <a:pt x="43092" y="1118028"/>
                    <a:pt x="43677" y="1125164"/>
                    <a:pt x="48147" y="1128740"/>
                  </a:cubicBezTo>
                  <a:cubicBezTo>
                    <a:pt x="52067" y="1131876"/>
                    <a:pt x="57944" y="1131257"/>
                    <a:pt x="62434" y="1133502"/>
                  </a:cubicBezTo>
                  <a:cubicBezTo>
                    <a:pt x="103630" y="1154100"/>
                    <a:pt x="68944" y="1143465"/>
                    <a:pt x="105297" y="1152552"/>
                  </a:cubicBezTo>
                  <a:cubicBezTo>
                    <a:pt x="111647" y="1155727"/>
                    <a:pt x="117755" y="1159440"/>
                    <a:pt x="124347" y="1162077"/>
                  </a:cubicBezTo>
                  <a:cubicBezTo>
                    <a:pt x="133669" y="1165806"/>
                    <a:pt x="143397" y="1168427"/>
                    <a:pt x="152922" y="1171602"/>
                  </a:cubicBezTo>
                  <a:cubicBezTo>
                    <a:pt x="188351" y="1183412"/>
                    <a:pt x="162183" y="1176006"/>
                    <a:pt x="233884" y="1181127"/>
                  </a:cubicBezTo>
                  <a:cubicBezTo>
                    <a:pt x="235472" y="1185890"/>
                    <a:pt x="235097" y="1191865"/>
                    <a:pt x="238647" y="1195415"/>
                  </a:cubicBezTo>
                  <a:cubicBezTo>
                    <a:pt x="252294" y="1209062"/>
                    <a:pt x="264740" y="1214436"/>
                    <a:pt x="281509" y="1219227"/>
                  </a:cubicBezTo>
                  <a:cubicBezTo>
                    <a:pt x="287803" y="1221025"/>
                    <a:pt x="294265" y="1222192"/>
                    <a:pt x="300559" y="1223990"/>
                  </a:cubicBezTo>
                  <a:cubicBezTo>
                    <a:pt x="305386" y="1225369"/>
                    <a:pt x="309830" y="1228563"/>
                    <a:pt x="314847" y="1228752"/>
                  </a:cubicBezTo>
                  <a:cubicBezTo>
                    <a:pt x="394181" y="1231746"/>
                    <a:pt x="473597" y="1231927"/>
                    <a:pt x="552972" y="1233515"/>
                  </a:cubicBezTo>
                  <a:cubicBezTo>
                    <a:pt x="603268" y="1243573"/>
                    <a:pt x="594441" y="1243040"/>
                    <a:pt x="676797" y="1243040"/>
                  </a:cubicBezTo>
                  <a:cubicBezTo>
                    <a:pt x="762537" y="1243040"/>
                    <a:pt x="848247" y="1239865"/>
                    <a:pt x="933972" y="1238277"/>
                  </a:cubicBezTo>
                  <a:lnTo>
                    <a:pt x="976834" y="1223990"/>
                  </a:lnTo>
                  <a:cubicBezTo>
                    <a:pt x="981597" y="1222402"/>
                    <a:pt x="986170" y="1220052"/>
                    <a:pt x="991122" y="1219227"/>
                  </a:cubicBezTo>
                  <a:lnTo>
                    <a:pt x="1019697" y="1214465"/>
                  </a:lnTo>
                  <a:cubicBezTo>
                    <a:pt x="1029222" y="1211290"/>
                    <a:pt x="1039918" y="1210509"/>
                    <a:pt x="1048272" y="1204940"/>
                  </a:cubicBezTo>
                  <a:cubicBezTo>
                    <a:pt x="1083074" y="1181738"/>
                    <a:pt x="1039321" y="1210054"/>
                    <a:pt x="1081609" y="1185890"/>
                  </a:cubicBezTo>
                  <a:cubicBezTo>
                    <a:pt x="1086579" y="1183050"/>
                    <a:pt x="1090636" y="1178620"/>
                    <a:pt x="1095897" y="1176365"/>
                  </a:cubicBezTo>
                  <a:cubicBezTo>
                    <a:pt x="1101913" y="1173787"/>
                    <a:pt x="1108431" y="1172223"/>
                    <a:pt x="1114947" y="1171602"/>
                  </a:cubicBezTo>
                  <a:cubicBezTo>
                    <a:pt x="1141859" y="1169039"/>
                    <a:pt x="1168922" y="1168427"/>
                    <a:pt x="1195909" y="1166840"/>
                  </a:cubicBezTo>
                  <a:cubicBezTo>
                    <a:pt x="1205434" y="1165252"/>
                    <a:pt x="1215015" y="1163971"/>
                    <a:pt x="1224484" y="1162077"/>
                  </a:cubicBezTo>
                  <a:cubicBezTo>
                    <a:pt x="1239441" y="1159086"/>
                    <a:pt x="1244200" y="1157093"/>
                    <a:pt x="1257822" y="1152552"/>
                  </a:cubicBezTo>
                  <a:cubicBezTo>
                    <a:pt x="1260997" y="1147790"/>
                    <a:pt x="1265092" y="1143526"/>
                    <a:pt x="1267347" y="1138265"/>
                  </a:cubicBezTo>
                  <a:cubicBezTo>
                    <a:pt x="1269925" y="1132249"/>
                    <a:pt x="1268478" y="1124661"/>
                    <a:pt x="1272109" y="1119215"/>
                  </a:cubicBezTo>
                  <a:cubicBezTo>
                    <a:pt x="1275284" y="1114452"/>
                    <a:pt x="1281634" y="1112865"/>
                    <a:pt x="1286397" y="1109690"/>
                  </a:cubicBezTo>
                  <a:cubicBezTo>
                    <a:pt x="1289572" y="1104927"/>
                    <a:pt x="1293667" y="1100663"/>
                    <a:pt x="1295922" y="1095402"/>
                  </a:cubicBezTo>
                  <a:cubicBezTo>
                    <a:pt x="1298500" y="1089386"/>
                    <a:pt x="1300684" y="1082897"/>
                    <a:pt x="1300684" y="1076352"/>
                  </a:cubicBezTo>
                  <a:cubicBezTo>
                    <a:pt x="1300684" y="1065421"/>
                    <a:pt x="1294175" y="1050793"/>
                    <a:pt x="1286397" y="1043015"/>
                  </a:cubicBezTo>
                  <a:cubicBezTo>
                    <a:pt x="1282349" y="1038968"/>
                    <a:pt x="1276872" y="1036665"/>
                    <a:pt x="1272109" y="1033490"/>
                  </a:cubicBezTo>
                  <a:lnTo>
                    <a:pt x="1257822" y="990627"/>
                  </a:lnTo>
                  <a:cubicBezTo>
                    <a:pt x="1256235" y="985865"/>
                    <a:pt x="1254276" y="981210"/>
                    <a:pt x="1253059" y="976340"/>
                  </a:cubicBezTo>
                  <a:cubicBezTo>
                    <a:pt x="1251532" y="970232"/>
                    <a:pt x="1246952" y="949837"/>
                    <a:pt x="1243534" y="943002"/>
                  </a:cubicBezTo>
                  <a:cubicBezTo>
                    <a:pt x="1239142" y="934218"/>
                    <a:pt x="1227620" y="919692"/>
                    <a:pt x="1219722" y="914427"/>
                  </a:cubicBezTo>
                  <a:cubicBezTo>
                    <a:pt x="1215545" y="911642"/>
                    <a:pt x="1210197" y="911252"/>
                    <a:pt x="1205434" y="909665"/>
                  </a:cubicBezTo>
                  <a:cubicBezTo>
                    <a:pt x="1183599" y="876913"/>
                    <a:pt x="1197244" y="884711"/>
                    <a:pt x="1172097" y="876327"/>
                  </a:cubicBezTo>
                  <a:cubicBezTo>
                    <a:pt x="1161336" y="844049"/>
                    <a:pt x="1173517" y="883426"/>
                    <a:pt x="1162572" y="828702"/>
                  </a:cubicBezTo>
                  <a:cubicBezTo>
                    <a:pt x="1161587" y="823779"/>
                    <a:pt x="1159188" y="819242"/>
                    <a:pt x="1157809" y="814415"/>
                  </a:cubicBezTo>
                  <a:cubicBezTo>
                    <a:pt x="1156011" y="808121"/>
                    <a:pt x="1154928" y="801634"/>
                    <a:pt x="1153047" y="795365"/>
                  </a:cubicBezTo>
                  <a:cubicBezTo>
                    <a:pt x="1150162" y="785748"/>
                    <a:pt x="1145957" y="776530"/>
                    <a:pt x="1143522" y="766790"/>
                  </a:cubicBezTo>
                  <a:cubicBezTo>
                    <a:pt x="1137371" y="742187"/>
                    <a:pt x="1144205" y="751371"/>
                    <a:pt x="1124472" y="738215"/>
                  </a:cubicBezTo>
                  <a:cubicBezTo>
                    <a:pt x="1113890" y="740331"/>
                    <a:pt x="1087429" y="748797"/>
                    <a:pt x="1076847" y="738215"/>
                  </a:cubicBezTo>
                  <a:cubicBezTo>
                    <a:pt x="1070037" y="731405"/>
                    <a:pt x="1065039" y="695746"/>
                    <a:pt x="1062559" y="685827"/>
                  </a:cubicBezTo>
                  <a:cubicBezTo>
                    <a:pt x="1061341" y="680957"/>
                    <a:pt x="1060933" y="675460"/>
                    <a:pt x="1057797" y="671540"/>
                  </a:cubicBezTo>
                  <a:cubicBezTo>
                    <a:pt x="1054221" y="667070"/>
                    <a:pt x="1048272" y="665190"/>
                    <a:pt x="1043509" y="662015"/>
                  </a:cubicBezTo>
                  <a:cubicBezTo>
                    <a:pt x="1040334" y="652490"/>
                    <a:pt x="1039553" y="641794"/>
                    <a:pt x="1033984" y="633440"/>
                  </a:cubicBezTo>
                  <a:lnTo>
                    <a:pt x="1014934" y="604865"/>
                  </a:lnTo>
                  <a:cubicBezTo>
                    <a:pt x="1011625" y="594938"/>
                    <a:pt x="1007187" y="579375"/>
                    <a:pt x="1000647" y="571527"/>
                  </a:cubicBezTo>
                  <a:cubicBezTo>
                    <a:pt x="996983" y="567130"/>
                    <a:pt x="991122" y="565177"/>
                    <a:pt x="986359" y="562002"/>
                  </a:cubicBezTo>
                  <a:lnTo>
                    <a:pt x="972072" y="519140"/>
                  </a:lnTo>
                  <a:cubicBezTo>
                    <a:pt x="970484" y="514377"/>
                    <a:pt x="970094" y="509029"/>
                    <a:pt x="967309" y="504852"/>
                  </a:cubicBezTo>
                  <a:lnTo>
                    <a:pt x="957784" y="490565"/>
                  </a:lnTo>
                  <a:cubicBezTo>
                    <a:pt x="957148" y="488021"/>
                    <a:pt x="950993" y="461329"/>
                    <a:pt x="948259" y="457227"/>
                  </a:cubicBezTo>
                  <a:cubicBezTo>
                    <a:pt x="940925" y="446226"/>
                    <a:pt x="930227" y="440443"/>
                    <a:pt x="919684" y="433415"/>
                  </a:cubicBezTo>
                  <a:cubicBezTo>
                    <a:pt x="916509" y="427065"/>
                    <a:pt x="914285" y="420142"/>
                    <a:pt x="910159" y="414365"/>
                  </a:cubicBezTo>
                  <a:cubicBezTo>
                    <a:pt x="896967" y="395896"/>
                    <a:pt x="895238" y="405795"/>
                    <a:pt x="886347" y="385790"/>
                  </a:cubicBezTo>
                  <a:cubicBezTo>
                    <a:pt x="882269" y="376615"/>
                    <a:pt x="879997" y="366740"/>
                    <a:pt x="876822" y="357215"/>
                  </a:cubicBezTo>
                  <a:lnTo>
                    <a:pt x="872059" y="342927"/>
                  </a:lnTo>
                  <a:cubicBezTo>
                    <a:pt x="870472" y="338165"/>
                    <a:pt x="870082" y="332817"/>
                    <a:pt x="867297" y="328640"/>
                  </a:cubicBezTo>
                  <a:cubicBezTo>
                    <a:pt x="860947" y="319115"/>
                    <a:pt x="851867" y="310925"/>
                    <a:pt x="848247" y="300065"/>
                  </a:cubicBezTo>
                  <a:cubicBezTo>
                    <a:pt x="845109" y="290653"/>
                    <a:pt x="842352" y="278205"/>
                    <a:pt x="833959" y="271490"/>
                  </a:cubicBezTo>
                  <a:cubicBezTo>
                    <a:pt x="830039" y="268354"/>
                    <a:pt x="824434" y="268315"/>
                    <a:pt x="819672" y="266727"/>
                  </a:cubicBezTo>
                  <a:cubicBezTo>
                    <a:pt x="816497" y="261965"/>
                    <a:pt x="814194" y="256487"/>
                    <a:pt x="810147" y="252440"/>
                  </a:cubicBezTo>
                  <a:cubicBezTo>
                    <a:pt x="804534" y="246827"/>
                    <a:pt x="796179" y="244250"/>
                    <a:pt x="791097" y="238152"/>
                  </a:cubicBezTo>
                  <a:cubicBezTo>
                    <a:pt x="788594" y="235148"/>
                    <a:pt x="781906" y="205927"/>
                    <a:pt x="781572" y="204815"/>
                  </a:cubicBezTo>
                  <a:cubicBezTo>
                    <a:pt x="776818" y="188968"/>
                    <a:pt x="768049" y="157699"/>
                    <a:pt x="752997" y="147665"/>
                  </a:cubicBezTo>
                  <a:lnTo>
                    <a:pt x="738709" y="138140"/>
                  </a:lnTo>
                  <a:cubicBezTo>
                    <a:pt x="727114" y="103355"/>
                    <a:pt x="738924" y="112000"/>
                    <a:pt x="710134" y="104802"/>
                  </a:cubicBezTo>
                  <a:cubicBezTo>
                    <a:pt x="705372" y="100040"/>
                    <a:pt x="699583" y="96119"/>
                    <a:pt x="695847" y="90515"/>
                  </a:cubicBezTo>
                  <a:cubicBezTo>
                    <a:pt x="693062" y="86338"/>
                    <a:pt x="693329" y="80717"/>
                    <a:pt x="691084" y="76227"/>
                  </a:cubicBezTo>
                  <a:cubicBezTo>
                    <a:pt x="688524" y="71108"/>
                    <a:pt x="684734" y="66702"/>
                    <a:pt x="681559" y="61940"/>
                  </a:cubicBezTo>
                  <a:cubicBezTo>
                    <a:pt x="680032" y="55832"/>
                    <a:pt x="675452" y="35437"/>
                    <a:pt x="672034" y="28602"/>
                  </a:cubicBezTo>
                  <a:cubicBezTo>
                    <a:pt x="661628" y="7791"/>
                    <a:pt x="659334" y="821"/>
                    <a:pt x="652984" y="27"/>
                  </a:cubicBezTo>
                  <a:close/>
                </a:path>
              </a:pathLst>
            </a:custGeom>
            <a:solidFill>
              <a:srgbClr val="FFFF00">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flipV="1">
              <a:off x="1741714" y="3058886"/>
              <a:ext cx="647700" cy="1066800"/>
            </a:xfrm>
            <a:prstGeom prst="line">
              <a:avLst/>
            </a:prstGeom>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flipV="1">
              <a:off x="2400300" y="3048000"/>
              <a:ext cx="647700" cy="1066800"/>
            </a:xfrm>
            <a:prstGeom prst="line">
              <a:avLst/>
            </a:prstGeom>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752600" y="3964768"/>
              <a:ext cx="1295400" cy="3262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6" name="Rectangle 15"/>
              <p:cNvSpPr/>
              <p:nvPr/>
            </p:nvSpPr>
            <p:spPr>
              <a:xfrm>
                <a:off x="1439701" y="5748350"/>
                <a:ext cx="2051010" cy="9572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𝐺</m:t>
                          </m:r>
                        </m:sub>
                      </m:sSub>
                      <m:r>
                        <a:rPr lang="en-US" sz="2400" i="1">
                          <a:latin typeface="Cambria Math"/>
                        </a:rPr>
                        <m:t>=</m:t>
                      </m:r>
                      <m:f>
                        <m:fPr>
                          <m:ctrlPr>
                            <a:rPr lang="en-US" sz="2400" i="1">
                              <a:latin typeface="Cambria Math" panose="02040503050406030204" pitchFamily="18" charset="0"/>
                            </a:rPr>
                          </m:ctrlPr>
                        </m:fPr>
                        <m:num>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a:rPr>
                                    <m:t>m</m:t>
                                  </m:r>
                                </m:e>
                                <m:sub>
                                  <m:r>
                                    <a:rPr lang="en-US" sz="2400" i="1">
                                      <a:latin typeface="Cambria Math"/>
                                    </a:rPr>
                                    <m:t>𝑖</m:t>
                                  </m:r>
                                </m:sub>
                              </m:sSub>
                              <m:acc>
                                <m:accPr>
                                  <m:chr m:val="̅"/>
                                  <m:ctrlPr>
                                    <a:rPr lang="en-US" sz="2400" i="1" smtClean="0">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𝑖</m:t>
                                      </m:r>
                                    </m:sub>
                                  </m:sSub>
                                </m:e>
                              </m:acc>
                            </m:e>
                          </m:nary>
                        </m:num>
                        <m:den>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a:rPr>
                                    <m:t>m</m:t>
                                  </m:r>
                                </m:e>
                                <m:sub>
                                  <m:r>
                                    <a:rPr lang="en-US" sz="2400" i="1">
                                      <a:latin typeface="Cambria Math"/>
                                    </a:rPr>
                                    <m:t>𝑖</m:t>
                                  </m:r>
                                </m:sub>
                              </m:sSub>
                            </m:e>
                          </m:nary>
                        </m:den>
                      </m:f>
                    </m:oMath>
                  </m:oMathPara>
                </a14:m>
                <a:endParaRPr lang="en-US" sz="2400" dirty="0"/>
              </a:p>
            </p:txBody>
          </p:sp>
        </mc:Choice>
        <mc:Fallback xmlns="">
          <p:sp>
            <p:nvSpPr>
              <p:cNvPr id="16" name="Rectangle 15"/>
              <p:cNvSpPr>
                <a:spLocks noRot="1" noChangeAspect="1" noMove="1" noResize="1" noEditPoints="1" noAdjustHandles="1" noChangeArrowheads="1" noChangeShapeType="1" noTextEdit="1"/>
              </p:cNvSpPr>
              <p:nvPr/>
            </p:nvSpPr>
            <p:spPr>
              <a:xfrm>
                <a:off x="1439701" y="5748350"/>
                <a:ext cx="2051010" cy="95725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794623" y="5747658"/>
                <a:ext cx="2002023" cy="9572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i="1">
                              <a:latin typeface="Cambria Math" panose="02040503050406030204" pitchFamily="18" charset="0"/>
                            </a:rPr>
                            <m:t>𝐺</m:t>
                          </m:r>
                        </m:sub>
                      </m:sSub>
                      <m:r>
                        <a:rPr lang="en-US" sz="2400" i="1">
                          <a:latin typeface="Cambria Math"/>
                        </a:rPr>
                        <m:t>=</m:t>
                      </m:r>
                      <m:f>
                        <m:fPr>
                          <m:ctrlPr>
                            <a:rPr lang="en-US" sz="2400" i="1">
                              <a:latin typeface="Cambria Math" panose="02040503050406030204" pitchFamily="18" charset="0"/>
                            </a:rPr>
                          </m:ctrlPr>
                        </m:fPr>
                        <m:num>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a:rPr>
                                    <m:t>m</m:t>
                                  </m:r>
                                </m:e>
                                <m:sub>
                                  <m:r>
                                    <a:rPr lang="en-US" sz="2400" i="1">
                                      <a:latin typeface="Cambria Math"/>
                                    </a:rPr>
                                    <m:t>𝑖</m:t>
                                  </m:r>
                                </m:sub>
                              </m:sSub>
                              <m:acc>
                                <m:accPr>
                                  <m:chr m:val="̅"/>
                                  <m:ctrlPr>
                                    <a:rPr lang="en-US" sz="2400" i="1" smtClean="0">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a:rPr>
                                        <m:t>𝑦</m:t>
                                      </m:r>
                                    </m:e>
                                    <m:sub>
                                      <m:r>
                                        <a:rPr lang="en-US" sz="2400" i="1">
                                          <a:latin typeface="Cambria Math"/>
                                        </a:rPr>
                                        <m:t>𝑖</m:t>
                                      </m:r>
                                    </m:sub>
                                  </m:sSub>
                                </m:e>
                              </m:acc>
                            </m:e>
                          </m:nary>
                        </m:num>
                        <m:den>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a:rPr>
                                    <m:t>m</m:t>
                                  </m:r>
                                </m:e>
                                <m:sub>
                                  <m:r>
                                    <a:rPr lang="en-US" sz="2400" i="1">
                                      <a:latin typeface="Cambria Math"/>
                                    </a:rPr>
                                    <m:t>𝑖</m:t>
                                  </m:r>
                                </m:sub>
                              </m:sSub>
                            </m:e>
                          </m:nary>
                        </m:den>
                      </m:f>
                    </m:oMath>
                  </m:oMathPara>
                </a14:m>
                <a:endParaRPr lang="en-US" sz="2400" dirty="0"/>
              </a:p>
            </p:txBody>
          </p:sp>
        </mc:Choice>
        <mc:Fallback xmlns="">
          <p:sp>
            <p:nvSpPr>
              <p:cNvPr id="17" name="Rectangle 16"/>
              <p:cNvSpPr>
                <a:spLocks noRot="1" noChangeAspect="1" noMove="1" noResize="1" noEditPoints="1" noAdjustHandles="1" noChangeArrowheads="1" noChangeShapeType="1" noTextEdit="1"/>
              </p:cNvSpPr>
              <p:nvPr/>
            </p:nvSpPr>
            <p:spPr>
              <a:xfrm>
                <a:off x="3794623" y="5747658"/>
                <a:ext cx="2002023" cy="95725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6157689" y="5746173"/>
                <a:ext cx="1960730" cy="9572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𝑧</m:t>
                          </m:r>
                        </m:e>
                        <m:sub>
                          <m:r>
                            <a:rPr lang="en-US" sz="2400" i="1">
                              <a:latin typeface="Cambria Math" panose="02040503050406030204" pitchFamily="18" charset="0"/>
                            </a:rPr>
                            <m:t>𝐺</m:t>
                          </m:r>
                        </m:sub>
                      </m:sSub>
                      <m:r>
                        <a:rPr lang="en-US" sz="2400" i="1">
                          <a:latin typeface="Cambria Math"/>
                        </a:rPr>
                        <m:t>=</m:t>
                      </m:r>
                      <m:f>
                        <m:fPr>
                          <m:ctrlPr>
                            <a:rPr lang="en-US" sz="2400" i="1">
                              <a:latin typeface="Cambria Math" panose="02040503050406030204" pitchFamily="18" charset="0"/>
                            </a:rPr>
                          </m:ctrlPr>
                        </m:fPr>
                        <m:num>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a:rPr>
                                    <m:t>m</m:t>
                                  </m:r>
                                </m:e>
                                <m:sub>
                                  <m:r>
                                    <a:rPr lang="en-US" sz="2400" i="1">
                                      <a:latin typeface="Cambria Math"/>
                                    </a:rPr>
                                    <m:t>𝑖</m:t>
                                  </m:r>
                                </m:sub>
                              </m:sSub>
                              <m:acc>
                                <m:accPr>
                                  <m:chr m:val="̅"/>
                                  <m:ctrlPr>
                                    <a:rPr lang="en-US" sz="2400" i="1" smtClean="0">
                                      <a:latin typeface="Cambria Math" panose="02040503050406030204" pitchFamily="18" charset="0"/>
                                    </a:rPr>
                                  </m:ctrlPr>
                                </m:accPr>
                                <m:e>
                                  <m:sSub>
                                    <m:sSubPr>
                                      <m:ctrlPr>
                                        <a:rPr lang="en-US" sz="2400" i="1">
                                          <a:latin typeface="Cambria Math" panose="02040503050406030204" pitchFamily="18" charset="0"/>
                                        </a:rPr>
                                      </m:ctrlPr>
                                    </m:sSubPr>
                                    <m:e>
                                      <m:r>
                                        <a:rPr lang="en-US" sz="2400" b="0" i="1" smtClean="0">
                                          <a:latin typeface="Cambria Math"/>
                                        </a:rPr>
                                        <m:t>𝑧</m:t>
                                      </m:r>
                                    </m:e>
                                    <m:sub>
                                      <m:r>
                                        <a:rPr lang="en-US" sz="2400" i="1">
                                          <a:latin typeface="Cambria Math"/>
                                        </a:rPr>
                                        <m:t>𝑖</m:t>
                                      </m:r>
                                    </m:sub>
                                  </m:sSub>
                                </m:e>
                              </m:acc>
                            </m:e>
                          </m:nary>
                        </m:num>
                        <m:den>
                          <m:nary>
                            <m:naryPr>
                              <m:chr m:val="∑"/>
                              <m:limLoc m:val="subSup"/>
                              <m:ctrlPr>
                                <a:rPr lang="en-US" sz="2400" i="1">
                                  <a:latin typeface="Cambria Math" panose="02040503050406030204" pitchFamily="18" charset="0"/>
                                </a:rPr>
                              </m:ctrlPr>
                            </m:naryPr>
                            <m:sub>
                              <m:r>
                                <m:rPr>
                                  <m:brk m:alnAt="25"/>
                                </m:rPr>
                                <a:rPr lang="en-US" sz="2400" i="1">
                                  <a:latin typeface="Cambria Math"/>
                                </a:rPr>
                                <m:t>1</m:t>
                              </m:r>
                            </m:sub>
                            <m:sup>
                              <m:r>
                                <a:rPr lang="en-US" sz="2400" i="1">
                                  <a:latin typeface="Cambria Math"/>
                                </a:rPr>
                                <m:t>𝑖</m:t>
                              </m:r>
                            </m:sup>
                            <m:e>
                              <m:sSub>
                                <m:sSubPr>
                                  <m:ctrlPr>
                                    <a:rPr lang="en-US" sz="2400" i="1">
                                      <a:latin typeface="Cambria Math" panose="02040503050406030204" pitchFamily="18" charset="0"/>
                                    </a:rPr>
                                  </m:ctrlPr>
                                </m:sSubPr>
                                <m:e>
                                  <m:r>
                                    <m:rPr>
                                      <m:sty m:val="p"/>
                                    </m:rPr>
                                    <a:rPr lang="en-US" sz="2400" b="0" i="0" smtClean="0">
                                      <a:latin typeface="Cambria Math"/>
                                    </a:rPr>
                                    <m:t>m</m:t>
                                  </m:r>
                                </m:e>
                                <m:sub>
                                  <m:r>
                                    <a:rPr lang="en-US" sz="2400" i="1">
                                      <a:latin typeface="Cambria Math"/>
                                    </a:rPr>
                                    <m:t>𝑖</m:t>
                                  </m:r>
                                </m:sub>
                              </m:sSub>
                            </m:e>
                          </m:nary>
                        </m:den>
                      </m:f>
                    </m:oMath>
                  </m:oMathPara>
                </a14:m>
                <a:endParaRPr lang="en-US" sz="2400" dirty="0"/>
              </a:p>
            </p:txBody>
          </p:sp>
        </mc:Choice>
        <mc:Fallback xmlns="">
          <p:sp>
            <p:nvSpPr>
              <p:cNvPr id="18" name="Rectangle 17"/>
              <p:cNvSpPr>
                <a:spLocks noRot="1" noChangeAspect="1" noMove="1" noResize="1" noEditPoints="1" noAdjustHandles="1" noChangeArrowheads="1" noChangeShapeType="1" noTextEdit="1"/>
              </p:cNvSpPr>
              <p:nvPr/>
            </p:nvSpPr>
            <p:spPr>
              <a:xfrm>
                <a:off x="6157689" y="5746173"/>
                <a:ext cx="1960730" cy="957250"/>
              </a:xfrm>
              <a:prstGeom prst="rect">
                <a:avLst/>
              </a:prstGeom>
              <a:blipFill>
                <a:blip r:embed="rId5"/>
                <a:stretch>
                  <a:fillRect/>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179C57C0-F4AC-5CA9-EA2F-61F71BDFFAD9}"/>
              </a:ext>
            </a:extLst>
          </p:cNvPr>
          <p:cNvGrpSpPr/>
          <p:nvPr/>
        </p:nvGrpSpPr>
        <p:grpSpPr>
          <a:xfrm>
            <a:off x="1667774" y="4490296"/>
            <a:ext cx="2026775" cy="1457566"/>
            <a:chOff x="1667774" y="4490296"/>
            <a:chExt cx="2026775" cy="1457566"/>
          </a:xfrm>
        </p:grpSpPr>
        <p:cxnSp>
          <p:nvCxnSpPr>
            <p:cNvPr id="6" name="Straight Arrow Connector 5">
              <a:extLst>
                <a:ext uri="{FF2B5EF4-FFF2-40B4-BE49-F238E27FC236}">
                  <a16:creationId xmlns:a16="http://schemas.microsoft.com/office/drawing/2014/main" id="{2FB7AD33-6F6C-86B2-9288-429246E379A5}"/>
                </a:ext>
              </a:extLst>
            </p:cNvPr>
            <p:cNvCxnSpPr/>
            <p:nvPr/>
          </p:nvCxnSpPr>
          <p:spPr>
            <a:xfrm>
              <a:off x="2405079" y="5495061"/>
              <a:ext cx="9906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A72042B9-FDBA-5FB7-416D-BC85D2D98C0D}"/>
                </a:ext>
              </a:extLst>
            </p:cNvPr>
            <p:cNvCxnSpPr>
              <a:cxnSpLocks/>
            </p:cNvCxnSpPr>
            <p:nvPr/>
          </p:nvCxnSpPr>
          <p:spPr>
            <a:xfrm flipH="1" flipV="1">
              <a:off x="2405079" y="4851111"/>
              <a:ext cx="4444" cy="6439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EA407D6F-FEFC-CA29-5CA1-60CEE2D46A6A}"/>
                </a:ext>
              </a:extLst>
            </p:cNvPr>
            <p:cNvCxnSpPr>
              <a:cxnSpLocks/>
            </p:cNvCxnSpPr>
            <p:nvPr/>
          </p:nvCxnSpPr>
          <p:spPr>
            <a:xfrm flipH="1">
              <a:off x="1984341" y="5482254"/>
              <a:ext cx="416293" cy="2597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7B6B71DC-F742-4BB5-7150-75C8F532C885}"/>
                </a:ext>
              </a:extLst>
            </p:cNvPr>
            <p:cNvSpPr txBox="1"/>
            <p:nvPr/>
          </p:nvSpPr>
          <p:spPr>
            <a:xfrm>
              <a:off x="3410497" y="5297588"/>
              <a:ext cx="284052" cy="369332"/>
            </a:xfrm>
            <a:prstGeom prst="rect">
              <a:avLst/>
            </a:prstGeom>
            <a:noFill/>
          </p:spPr>
          <p:txBody>
            <a:bodyPr wrap="none" rtlCol="0">
              <a:spAutoFit/>
            </a:bodyPr>
            <a:lstStyle/>
            <a:p>
              <a:r>
                <a:rPr lang="en-US" dirty="0"/>
                <a:t>x</a:t>
              </a:r>
            </a:p>
          </p:txBody>
        </p:sp>
        <p:sp>
          <p:nvSpPr>
            <p:cNvPr id="20" name="TextBox 19">
              <a:extLst>
                <a:ext uri="{FF2B5EF4-FFF2-40B4-BE49-F238E27FC236}">
                  <a16:creationId xmlns:a16="http://schemas.microsoft.com/office/drawing/2014/main" id="{F3B8CC69-AEB9-EE76-C74B-C38ADE0CB801}"/>
                </a:ext>
              </a:extLst>
            </p:cNvPr>
            <p:cNvSpPr txBox="1"/>
            <p:nvPr/>
          </p:nvSpPr>
          <p:spPr>
            <a:xfrm>
              <a:off x="2270123" y="4490296"/>
              <a:ext cx="288862" cy="369332"/>
            </a:xfrm>
            <a:prstGeom prst="rect">
              <a:avLst/>
            </a:prstGeom>
            <a:noFill/>
          </p:spPr>
          <p:txBody>
            <a:bodyPr wrap="none" rtlCol="0">
              <a:spAutoFit/>
            </a:bodyPr>
            <a:lstStyle/>
            <a:p>
              <a:r>
                <a:rPr lang="en-US" dirty="0"/>
                <a:t>y</a:t>
              </a:r>
            </a:p>
          </p:txBody>
        </p:sp>
        <p:sp>
          <p:nvSpPr>
            <p:cNvPr id="21" name="TextBox 20">
              <a:extLst>
                <a:ext uri="{FF2B5EF4-FFF2-40B4-BE49-F238E27FC236}">
                  <a16:creationId xmlns:a16="http://schemas.microsoft.com/office/drawing/2014/main" id="{9BB583F9-180B-E3B5-C66C-A072EC7B2873}"/>
                </a:ext>
              </a:extLst>
            </p:cNvPr>
            <p:cNvSpPr txBox="1"/>
            <p:nvPr/>
          </p:nvSpPr>
          <p:spPr>
            <a:xfrm>
              <a:off x="1667774" y="5578530"/>
              <a:ext cx="276038" cy="369332"/>
            </a:xfrm>
            <a:prstGeom prst="rect">
              <a:avLst/>
            </a:prstGeom>
            <a:noFill/>
          </p:spPr>
          <p:txBody>
            <a:bodyPr wrap="none" rtlCol="0">
              <a:spAutoFit/>
            </a:bodyPr>
            <a:lstStyle/>
            <a:p>
              <a:r>
                <a:rPr lang="en-US" dirty="0"/>
                <a:t>z</a:t>
              </a:r>
            </a:p>
          </p:txBody>
        </p:sp>
      </p:grpSp>
      <p:sp>
        <p:nvSpPr>
          <p:cNvPr id="13" name="TextBox 12"/>
          <p:cNvSpPr txBox="1"/>
          <p:nvPr/>
        </p:nvSpPr>
        <p:spPr>
          <a:xfrm>
            <a:off x="2253343" y="3429000"/>
            <a:ext cx="305641" cy="369332"/>
          </a:xfrm>
          <a:prstGeom prst="rect">
            <a:avLst/>
          </a:prstGeom>
          <a:noFill/>
        </p:spPr>
        <p:txBody>
          <a:bodyPr wrap="square" rtlCol="0">
            <a:spAutoFit/>
          </a:bodyPr>
          <a:lstStyle/>
          <a:p>
            <a:r>
              <a:rPr lang="en-US" dirty="0"/>
              <a:t>1</a:t>
            </a:r>
          </a:p>
        </p:txBody>
      </p:sp>
      <p:sp>
        <p:nvSpPr>
          <p:cNvPr id="14" name="TextBox 13"/>
          <p:cNvSpPr txBox="1"/>
          <p:nvPr/>
        </p:nvSpPr>
        <p:spPr>
          <a:xfrm>
            <a:off x="1959429" y="4785202"/>
            <a:ext cx="310694" cy="369332"/>
          </a:xfrm>
          <a:prstGeom prst="rect">
            <a:avLst/>
          </a:prstGeom>
          <a:noFill/>
        </p:spPr>
        <p:txBody>
          <a:bodyPr wrap="square" rtlCol="0">
            <a:spAutoFit/>
          </a:bodyPr>
          <a:lstStyle/>
          <a:p>
            <a:r>
              <a:rPr lang="en-US" dirty="0"/>
              <a:t>2</a:t>
            </a:r>
          </a:p>
        </p:txBody>
      </p:sp>
    </p:spTree>
    <p:extLst>
      <p:ext uri="{BB962C8B-B14F-4D97-AF65-F5344CB8AC3E}">
        <p14:creationId xmlns:p14="http://schemas.microsoft.com/office/powerpoint/2010/main" val="3660748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6" grpId="0"/>
      <p:bldP spid="17" grpId="0"/>
      <p:bldP spid="18" grpId="0"/>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59B2A-B362-3148-8D24-CA9960A7A679}"/>
              </a:ext>
            </a:extLst>
          </p:cNvPr>
          <p:cNvSpPr>
            <a:spLocks noGrp="1"/>
          </p:cNvSpPr>
          <p:nvPr>
            <p:ph type="title"/>
          </p:nvPr>
        </p:nvSpPr>
        <p:spPr/>
        <p:txBody>
          <a:bodyPr>
            <a:normAutofit fontScale="90000"/>
          </a:bodyPr>
          <a:lstStyle/>
          <a:p>
            <a:r>
              <a:rPr lang="en-US" dirty="0"/>
              <a:t>Centroid of a Volume vs Center of Mass</a:t>
            </a:r>
          </a:p>
        </p:txBody>
      </p:sp>
      <p:sp>
        <p:nvSpPr>
          <p:cNvPr id="3" name="Content Placeholder 2">
            <a:extLst>
              <a:ext uri="{FF2B5EF4-FFF2-40B4-BE49-F238E27FC236}">
                <a16:creationId xmlns:a16="http://schemas.microsoft.com/office/drawing/2014/main" id="{E00C8254-17B4-57B4-70DE-4B425A097D50}"/>
              </a:ext>
            </a:extLst>
          </p:cNvPr>
          <p:cNvSpPr>
            <a:spLocks noGrp="1"/>
          </p:cNvSpPr>
          <p:nvPr>
            <p:ph idx="1"/>
          </p:nvPr>
        </p:nvSpPr>
        <p:spPr/>
        <p:txBody>
          <a:bodyPr>
            <a:normAutofit fontScale="92500" lnSpcReduction="20000"/>
          </a:bodyPr>
          <a:lstStyle/>
          <a:p>
            <a:r>
              <a:rPr lang="en-US" dirty="0"/>
              <a:t>Finding the centroid of a volume and the center of mass are similar, but not identical processes.</a:t>
            </a:r>
          </a:p>
          <a:p>
            <a:pPr lvl="1"/>
            <a:r>
              <a:rPr lang="en-US" dirty="0"/>
              <a:t>One is a weighted average by volume, one by mass.</a:t>
            </a:r>
          </a:p>
          <a:p>
            <a:r>
              <a:rPr lang="en-US" dirty="0"/>
              <a:t>If the composite body has a uniform density (usually because it’s all made of one material) then the centroid of the volume and the center of mass will be at the same point, and we can use them interchangeably.</a:t>
            </a:r>
          </a:p>
          <a:p>
            <a:r>
              <a:rPr lang="en-US" dirty="0"/>
              <a:t>If the body is made up of pieces made of different materials, the centroid and center of mass will be different points.</a:t>
            </a:r>
          </a:p>
        </p:txBody>
      </p:sp>
      <p:sp>
        <p:nvSpPr>
          <p:cNvPr id="4" name="Slide Number Placeholder 3">
            <a:extLst>
              <a:ext uri="{FF2B5EF4-FFF2-40B4-BE49-F238E27FC236}">
                <a16:creationId xmlns:a16="http://schemas.microsoft.com/office/drawing/2014/main" id="{3D3EC4A8-E68A-E3AD-C9DA-C57FDD7C52C1}"/>
              </a:ext>
            </a:extLst>
          </p:cNvPr>
          <p:cNvSpPr>
            <a:spLocks noGrp="1"/>
          </p:cNvSpPr>
          <p:nvPr>
            <p:ph type="sldNum" sz="quarter" idx="12"/>
          </p:nvPr>
        </p:nvSpPr>
        <p:spPr/>
        <p:txBody>
          <a:bodyPr/>
          <a:lstStyle/>
          <a:p>
            <a:fld id="{929262FE-7F58-4A1E-8AF3-5A510A86DEBD}" type="slidenum">
              <a:rPr lang="en-US" smtClean="0"/>
              <a:t>6</a:t>
            </a:fld>
            <a:endParaRPr lang="en-US"/>
          </a:p>
        </p:txBody>
      </p:sp>
    </p:spTree>
    <p:extLst>
      <p:ext uri="{BB962C8B-B14F-4D97-AF65-F5344CB8AC3E}">
        <p14:creationId xmlns:p14="http://schemas.microsoft.com/office/powerpoint/2010/main" val="367249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Thanks for Watching</a:t>
            </a:r>
          </a:p>
        </p:txBody>
      </p:sp>
      <p:sp>
        <p:nvSpPr>
          <p:cNvPr id="3" name="Subtitle 2"/>
          <p:cNvSpPr>
            <a:spLocks noGrp="1"/>
          </p:cNvSpPr>
          <p:nvPr>
            <p:ph type="subTitle" idx="1"/>
          </p:nvPr>
        </p:nvSpPr>
        <p:spPr/>
        <p:txBody>
          <a:bodyPr/>
          <a:lstStyle/>
          <a:p>
            <a:r>
              <a:rPr lang="en-US" dirty="0"/>
              <a:t>See other engineering mechanics videos and access the full tool at…</a:t>
            </a:r>
          </a:p>
        </p:txBody>
      </p:sp>
    </p:spTree>
    <p:extLst>
      <p:ext uri="{BB962C8B-B14F-4D97-AF65-F5344CB8AC3E}">
        <p14:creationId xmlns:p14="http://schemas.microsoft.com/office/powerpoint/2010/main" val="3129637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Worked Example</a:t>
            </a:r>
          </a:p>
        </p:txBody>
      </p:sp>
      <p:sp>
        <p:nvSpPr>
          <p:cNvPr id="3" name="Content Placeholder 2"/>
          <p:cNvSpPr>
            <a:spLocks noGrp="1"/>
          </p:cNvSpPr>
          <p:nvPr>
            <p:ph idx="1"/>
          </p:nvPr>
        </p:nvSpPr>
        <p:spPr>
          <a:xfrm>
            <a:off x="457200" y="1600200"/>
            <a:ext cx="4267200" cy="4190999"/>
          </a:xfrm>
        </p:spPr>
        <p:txBody>
          <a:bodyPr/>
          <a:lstStyle/>
          <a:p>
            <a:r>
              <a:rPr lang="en-US" dirty="0"/>
              <a:t>The shape shown to the right consists of a solid hemisphere on top of a hollowed-out cylinder. Determine the centroid coordinates of this volume.</a:t>
            </a:r>
          </a:p>
        </p:txBody>
      </p:sp>
      <p:sp>
        <p:nvSpPr>
          <p:cNvPr id="4" name="Slide Number Placeholder 3"/>
          <p:cNvSpPr>
            <a:spLocks noGrp="1"/>
          </p:cNvSpPr>
          <p:nvPr>
            <p:ph type="sldNum" sz="quarter" idx="12"/>
          </p:nvPr>
        </p:nvSpPr>
        <p:spPr/>
        <p:txBody>
          <a:bodyPr/>
          <a:lstStyle/>
          <a:p>
            <a:fld id="{929262FE-7F58-4A1E-8AF3-5A510A86DEBD}" type="slidenum">
              <a:rPr lang="en-US" smtClean="0"/>
              <a:t>8</a:t>
            </a:fld>
            <a:endParaRPr 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447800"/>
            <a:ext cx="3944387" cy="43956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780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ylinder 8">
            <a:extLst>
              <a:ext uri="{FF2B5EF4-FFF2-40B4-BE49-F238E27FC236}">
                <a16:creationId xmlns:a16="http://schemas.microsoft.com/office/drawing/2014/main" id="{540E369F-17ED-AB25-E695-B76E4B89B3A0}"/>
              </a:ext>
            </a:extLst>
          </p:cNvPr>
          <p:cNvSpPr/>
          <p:nvPr/>
        </p:nvSpPr>
        <p:spPr>
          <a:xfrm rot="16200000">
            <a:off x="3911361" y="2599570"/>
            <a:ext cx="818358" cy="4841240"/>
          </a:xfrm>
          <a:prstGeom prst="can">
            <a:avLst>
              <a:gd name="adj" fmla="val 36173"/>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4C11458F-654C-B16F-BC6E-3630A1ACB9A9}"/>
              </a:ext>
            </a:extLst>
          </p:cNvPr>
          <p:cNvSpPr>
            <a:spLocks noGrp="1"/>
          </p:cNvSpPr>
          <p:nvPr>
            <p:ph type="title"/>
          </p:nvPr>
        </p:nvSpPr>
        <p:spPr/>
        <p:txBody>
          <a:bodyPr/>
          <a:lstStyle/>
          <a:p>
            <a:r>
              <a:rPr lang="en-US" dirty="0"/>
              <a:t>Worked Example</a:t>
            </a:r>
          </a:p>
        </p:txBody>
      </p:sp>
      <p:sp>
        <p:nvSpPr>
          <p:cNvPr id="3" name="Content Placeholder 2">
            <a:extLst>
              <a:ext uri="{FF2B5EF4-FFF2-40B4-BE49-F238E27FC236}">
                <a16:creationId xmlns:a16="http://schemas.microsoft.com/office/drawing/2014/main" id="{FFEAD3D4-532F-0F48-6179-791AAC7C704B}"/>
              </a:ext>
            </a:extLst>
          </p:cNvPr>
          <p:cNvSpPr>
            <a:spLocks noGrp="1"/>
          </p:cNvSpPr>
          <p:nvPr>
            <p:ph idx="1"/>
          </p:nvPr>
        </p:nvSpPr>
        <p:spPr>
          <a:xfrm>
            <a:off x="457200" y="1600201"/>
            <a:ext cx="8229600" cy="1828800"/>
          </a:xfrm>
        </p:spPr>
        <p:txBody>
          <a:bodyPr>
            <a:normAutofit fontScale="85000" lnSpcReduction="20000"/>
          </a:bodyPr>
          <a:lstStyle/>
          <a:p>
            <a:r>
              <a:rPr lang="en-US" dirty="0"/>
              <a:t>A floating raft consists of a rectangular aluminum platform (assume negligible thickness) with a mass of 60 kg, on top of two plastic cylinders, each with a mass of 40 kg. Given the dimensions below, determine the location of the center of mass for the raft.</a:t>
            </a:r>
          </a:p>
        </p:txBody>
      </p:sp>
      <p:sp>
        <p:nvSpPr>
          <p:cNvPr id="4" name="Slide Number Placeholder 3">
            <a:extLst>
              <a:ext uri="{FF2B5EF4-FFF2-40B4-BE49-F238E27FC236}">
                <a16:creationId xmlns:a16="http://schemas.microsoft.com/office/drawing/2014/main" id="{09E51293-7F92-562E-2BC1-AB7314B3EEC5}"/>
              </a:ext>
            </a:extLst>
          </p:cNvPr>
          <p:cNvSpPr>
            <a:spLocks noGrp="1"/>
          </p:cNvSpPr>
          <p:nvPr>
            <p:ph type="sldNum" sz="quarter" idx="12"/>
          </p:nvPr>
        </p:nvSpPr>
        <p:spPr/>
        <p:txBody>
          <a:bodyPr/>
          <a:lstStyle/>
          <a:p>
            <a:fld id="{929262FE-7F58-4A1E-8AF3-5A510A86DEBD}" type="slidenum">
              <a:rPr lang="en-US" smtClean="0"/>
              <a:t>9</a:t>
            </a:fld>
            <a:endParaRPr lang="en-US"/>
          </a:p>
        </p:txBody>
      </p:sp>
      <p:sp>
        <p:nvSpPr>
          <p:cNvPr id="5" name="Cylinder 4">
            <a:extLst>
              <a:ext uri="{FF2B5EF4-FFF2-40B4-BE49-F238E27FC236}">
                <a16:creationId xmlns:a16="http://schemas.microsoft.com/office/drawing/2014/main" id="{970E9363-A95F-783C-C655-3646D66288B4}"/>
              </a:ext>
            </a:extLst>
          </p:cNvPr>
          <p:cNvSpPr/>
          <p:nvPr/>
        </p:nvSpPr>
        <p:spPr>
          <a:xfrm rot="16200000">
            <a:off x="4922280" y="3521470"/>
            <a:ext cx="818358" cy="4902202"/>
          </a:xfrm>
          <a:prstGeom prst="can">
            <a:avLst>
              <a:gd name="adj" fmla="val 36173"/>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8" name="Cube 7">
            <a:extLst>
              <a:ext uri="{FF2B5EF4-FFF2-40B4-BE49-F238E27FC236}">
                <a16:creationId xmlns:a16="http://schemas.microsoft.com/office/drawing/2014/main" id="{6EF36048-6426-83CD-43F1-DB2D9E9EAD44}"/>
              </a:ext>
            </a:extLst>
          </p:cNvPr>
          <p:cNvSpPr/>
          <p:nvPr/>
        </p:nvSpPr>
        <p:spPr>
          <a:xfrm flipH="1">
            <a:off x="2057399" y="4477146"/>
            <a:ext cx="5638799" cy="1085449"/>
          </a:xfrm>
          <a:prstGeom prst="cube">
            <a:avLst>
              <a:gd name="adj" fmla="val 90146"/>
            </a:avLst>
          </a:prstGeom>
          <a:solidFill>
            <a:schemeClr val="bg1">
              <a:lumMod val="50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732D95FA-4A11-1776-6DE0-40628E23A22D}"/>
              </a:ext>
            </a:extLst>
          </p:cNvPr>
          <p:cNvCxnSpPr>
            <a:cxnSpLocks/>
          </p:cNvCxnSpPr>
          <p:nvPr/>
        </p:nvCxnSpPr>
        <p:spPr>
          <a:xfrm flipV="1">
            <a:off x="6720840" y="359156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F2841A5-215F-B163-B069-8B66E40D7F7C}"/>
              </a:ext>
            </a:extLst>
          </p:cNvPr>
          <p:cNvCxnSpPr>
            <a:cxnSpLocks/>
          </p:cNvCxnSpPr>
          <p:nvPr/>
        </p:nvCxnSpPr>
        <p:spPr>
          <a:xfrm flipV="1">
            <a:off x="2067559" y="3664466"/>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37F7780-6297-AC99-16F0-182CA75294FF}"/>
              </a:ext>
            </a:extLst>
          </p:cNvPr>
          <p:cNvCxnSpPr>
            <a:cxnSpLocks/>
          </p:cNvCxnSpPr>
          <p:nvPr/>
        </p:nvCxnSpPr>
        <p:spPr>
          <a:xfrm flipV="1">
            <a:off x="7696198" y="4477146"/>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87C915-0DC7-07EE-23E9-8CBD6600921A}"/>
              </a:ext>
            </a:extLst>
          </p:cNvPr>
          <p:cNvCxnSpPr>
            <a:cxnSpLocks/>
          </p:cNvCxnSpPr>
          <p:nvPr/>
        </p:nvCxnSpPr>
        <p:spPr>
          <a:xfrm flipH="1">
            <a:off x="2057399" y="3962400"/>
            <a:ext cx="46837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8D79F5-F435-2C05-9DAD-ADF3E41F75AA}"/>
              </a:ext>
            </a:extLst>
          </p:cNvPr>
          <p:cNvCxnSpPr>
            <a:cxnSpLocks/>
          </p:cNvCxnSpPr>
          <p:nvPr/>
        </p:nvCxnSpPr>
        <p:spPr>
          <a:xfrm flipH="1" flipV="1">
            <a:off x="6720840" y="3962400"/>
            <a:ext cx="975358" cy="976191"/>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CB7C512-112C-8FCC-1EE6-DFA53D3C9EA4}"/>
              </a:ext>
            </a:extLst>
          </p:cNvPr>
          <p:cNvSpPr/>
          <p:nvPr/>
        </p:nvSpPr>
        <p:spPr>
          <a:xfrm>
            <a:off x="4119655" y="3773348"/>
            <a:ext cx="538930" cy="369332"/>
          </a:xfrm>
          <a:prstGeom prst="rect">
            <a:avLst/>
          </a:prstGeom>
          <a:solidFill>
            <a:schemeClr val="bg1"/>
          </a:solidFill>
        </p:spPr>
        <p:txBody>
          <a:bodyPr wrap="none">
            <a:spAutoFit/>
          </a:bodyPr>
          <a:lstStyle/>
          <a:p>
            <a:r>
              <a:rPr lang="en-US" dirty="0">
                <a:solidFill>
                  <a:srgbClr val="0070C0"/>
                </a:solidFill>
              </a:rPr>
              <a:t>4 m</a:t>
            </a:r>
          </a:p>
        </p:txBody>
      </p:sp>
      <p:sp>
        <p:nvSpPr>
          <p:cNvPr id="28" name="Rectangle 27">
            <a:extLst>
              <a:ext uri="{FF2B5EF4-FFF2-40B4-BE49-F238E27FC236}">
                <a16:creationId xmlns:a16="http://schemas.microsoft.com/office/drawing/2014/main" id="{DE00BADE-47AE-FF13-A860-86D23EFCF803}"/>
              </a:ext>
            </a:extLst>
          </p:cNvPr>
          <p:cNvSpPr/>
          <p:nvPr/>
        </p:nvSpPr>
        <p:spPr>
          <a:xfrm>
            <a:off x="6928443" y="4228346"/>
            <a:ext cx="538930" cy="369332"/>
          </a:xfrm>
          <a:prstGeom prst="rect">
            <a:avLst/>
          </a:prstGeom>
          <a:solidFill>
            <a:schemeClr val="bg1"/>
          </a:solidFill>
        </p:spPr>
        <p:txBody>
          <a:bodyPr wrap="none">
            <a:spAutoFit/>
          </a:bodyPr>
          <a:lstStyle/>
          <a:p>
            <a:r>
              <a:rPr lang="en-US" dirty="0">
                <a:solidFill>
                  <a:srgbClr val="0070C0"/>
                </a:solidFill>
              </a:rPr>
              <a:t>2 m</a:t>
            </a:r>
          </a:p>
        </p:txBody>
      </p:sp>
      <p:cxnSp>
        <p:nvCxnSpPr>
          <p:cNvPr id="31" name="Straight Connector 30">
            <a:extLst>
              <a:ext uri="{FF2B5EF4-FFF2-40B4-BE49-F238E27FC236}">
                <a16:creationId xmlns:a16="http://schemas.microsoft.com/office/drawing/2014/main" id="{8BAFEF55-FE27-4920-5601-AE07E7DB41F0}"/>
              </a:ext>
            </a:extLst>
          </p:cNvPr>
          <p:cNvCxnSpPr>
            <a:cxnSpLocks/>
          </p:cNvCxnSpPr>
          <p:nvPr/>
        </p:nvCxnSpPr>
        <p:spPr>
          <a:xfrm flipH="1">
            <a:off x="1160697" y="4597678"/>
            <a:ext cx="7721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A69BA2E-620B-CE4A-D2BE-0FFB7B2528D1}"/>
              </a:ext>
            </a:extLst>
          </p:cNvPr>
          <p:cNvCxnSpPr>
            <a:cxnSpLocks/>
          </p:cNvCxnSpPr>
          <p:nvPr/>
        </p:nvCxnSpPr>
        <p:spPr>
          <a:xfrm flipH="1">
            <a:off x="1127761" y="5429369"/>
            <a:ext cx="7721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1FAB9F8-50D8-2AC6-73BD-DE4EA2B1D44A}"/>
              </a:ext>
            </a:extLst>
          </p:cNvPr>
          <p:cNvCxnSpPr>
            <a:cxnSpLocks/>
          </p:cNvCxnSpPr>
          <p:nvPr/>
        </p:nvCxnSpPr>
        <p:spPr>
          <a:xfrm>
            <a:off x="1513840" y="4597678"/>
            <a:ext cx="7536" cy="831691"/>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654F3B4-D908-7E2D-4DD9-4B9E5BB54614}"/>
              </a:ext>
            </a:extLst>
          </p:cNvPr>
          <p:cNvSpPr/>
          <p:nvPr/>
        </p:nvSpPr>
        <p:spPr>
          <a:xfrm>
            <a:off x="1127761" y="4835524"/>
            <a:ext cx="713657" cy="369332"/>
          </a:xfrm>
          <a:prstGeom prst="rect">
            <a:avLst/>
          </a:prstGeom>
          <a:solidFill>
            <a:schemeClr val="bg1"/>
          </a:solidFill>
        </p:spPr>
        <p:txBody>
          <a:bodyPr wrap="none">
            <a:spAutoFit/>
          </a:bodyPr>
          <a:lstStyle/>
          <a:p>
            <a:r>
              <a:rPr lang="en-US" dirty="0">
                <a:solidFill>
                  <a:srgbClr val="0070C0"/>
                </a:solidFill>
              </a:rPr>
              <a:t>.75 m</a:t>
            </a:r>
          </a:p>
        </p:txBody>
      </p:sp>
    </p:spTree>
    <p:extLst>
      <p:ext uri="{BB962C8B-B14F-4D97-AF65-F5344CB8AC3E}">
        <p14:creationId xmlns:p14="http://schemas.microsoft.com/office/powerpoint/2010/main" val="3869029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Worked Example</a:t>
            </a:r>
          </a:p>
        </p:txBody>
      </p:sp>
      <p:sp>
        <p:nvSpPr>
          <p:cNvPr id="3" name="Content Placeholder 2"/>
          <p:cNvSpPr>
            <a:spLocks noGrp="1"/>
          </p:cNvSpPr>
          <p:nvPr>
            <p:ph idx="1"/>
          </p:nvPr>
        </p:nvSpPr>
        <p:spPr>
          <a:xfrm>
            <a:off x="457200" y="1600201"/>
            <a:ext cx="8229600" cy="1447800"/>
          </a:xfrm>
        </p:spPr>
        <p:txBody>
          <a:bodyPr>
            <a:normAutofit fontScale="85000" lnSpcReduction="20000"/>
          </a:bodyPr>
          <a:lstStyle/>
          <a:p>
            <a:r>
              <a:rPr lang="en-US" dirty="0"/>
              <a:t>A spherical tank with an outside diameter of two meters and a wall thickness of .01 meters is half filled with water. Determine the mass, and the height of the center of mass, for the half-filled tank as shown below.</a:t>
            </a:r>
          </a:p>
        </p:txBody>
      </p:sp>
      <p:sp>
        <p:nvSpPr>
          <p:cNvPr id="4" name="Slide Number Placeholder 3"/>
          <p:cNvSpPr>
            <a:spLocks noGrp="1"/>
          </p:cNvSpPr>
          <p:nvPr>
            <p:ph type="sldNum" sz="quarter" idx="12"/>
          </p:nvPr>
        </p:nvSpPr>
        <p:spPr/>
        <p:txBody>
          <a:bodyPr/>
          <a:lstStyle/>
          <a:p>
            <a:fld id="{929262FE-7F58-4A1E-8AF3-5A510A86DEBD}" type="slidenum">
              <a:rPr lang="en-US" smtClean="0"/>
              <a:t>10</a:t>
            </a:fld>
            <a:endParaRPr lang="en-US"/>
          </a:p>
        </p:txBody>
      </p:sp>
      <p:sp>
        <p:nvSpPr>
          <p:cNvPr id="5" name="Rectangle 4"/>
          <p:cNvSpPr/>
          <p:nvPr/>
        </p:nvSpPr>
        <p:spPr>
          <a:xfrm>
            <a:off x="5998241" y="3808136"/>
            <a:ext cx="2759986" cy="369332"/>
          </a:xfrm>
          <a:prstGeom prst="rect">
            <a:avLst/>
          </a:prstGeom>
          <a:solidFill>
            <a:schemeClr val="bg1"/>
          </a:solidFill>
        </p:spPr>
        <p:txBody>
          <a:bodyPr wrap="none">
            <a:spAutoFit/>
          </a:bodyPr>
          <a:lstStyle/>
          <a:p>
            <a:r>
              <a:rPr lang="en-US" dirty="0"/>
              <a:t>Steel Density = 8050 kg/m</a:t>
            </a:r>
            <a:r>
              <a:rPr lang="en-US" baseline="30000" dirty="0"/>
              <a:t>3</a:t>
            </a:r>
          </a:p>
        </p:txBody>
      </p:sp>
      <p:sp>
        <p:nvSpPr>
          <p:cNvPr id="6" name="Rectangle 5"/>
          <p:cNvSpPr/>
          <p:nvPr/>
        </p:nvSpPr>
        <p:spPr>
          <a:xfrm>
            <a:off x="5913899" y="4278266"/>
            <a:ext cx="2833211" cy="369332"/>
          </a:xfrm>
          <a:prstGeom prst="rect">
            <a:avLst/>
          </a:prstGeom>
          <a:solidFill>
            <a:schemeClr val="bg1"/>
          </a:solidFill>
        </p:spPr>
        <p:txBody>
          <a:bodyPr wrap="none">
            <a:spAutoFit/>
          </a:bodyPr>
          <a:lstStyle/>
          <a:p>
            <a:r>
              <a:rPr lang="en-US" dirty="0"/>
              <a:t>Water Density = 1000 kg/m</a:t>
            </a:r>
            <a:r>
              <a:rPr lang="en-US" baseline="30000" dirty="0"/>
              <a:t>3</a:t>
            </a:r>
            <a:endParaRPr lang="en-US" dirty="0"/>
          </a:p>
        </p:txBody>
      </p:sp>
      <p:sp>
        <p:nvSpPr>
          <p:cNvPr id="7" name="Rectangle 6"/>
          <p:cNvSpPr/>
          <p:nvPr/>
        </p:nvSpPr>
        <p:spPr>
          <a:xfrm>
            <a:off x="346376" y="4139767"/>
            <a:ext cx="1388522" cy="646331"/>
          </a:xfrm>
          <a:prstGeom prst="rect">
            <a:avLst/>
          </a:prstGeom>
          <a:solidFill>
            <a:schemeClr val="bg1"/>
          </a:solidFill>
        </p:spPr>
        <p:txBody>
          <a:bodyPr wrap="none">
            <a:spAutoFit/>
          </a:bodyPr>
          <a:lstStyle/>
          <a:p>
            <a:r>
              <a:rPr lang="en-US" dirty="0">
                <a:solidFill>
                  <a:srgbClr val="0070C0"/>
                </a:solidFill>
              </a:rPr>
              <a:t>Thickness of </a:t>
            </a:r>
          </a:p>
          <a:p>
            <a:r>
              <a:rPr lang="en-US" dirty="0">
                <a:solidFill>
                  <a:srgbClr val="0070C0"/>
                </a:solidFill>
              </a:rPr>
              <a:t>tank = .01 m</a:t>
            </a:r>
          </a:p>
        </p:txBody>
      </p:sp>
      <p:sp>
        <p:nvSpPr>
          <p:cNvPr id="8" name="Oval 7"/>
          <p:cNvSpPr/>
          <p:nvPr/>
        </p:nvSpPr>
        <p:spPr>
          <a:xfrm>
            <a:off x="3170699" y="3657600"/>
            <a:ext cx="2743200" cy="2743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9" name="Oval 8"/>
          <p:cNvSpPr/>
          <p:nvPr/>
        </p:nvSpPr>
        <p:spPr>
          <a:xfrm>
            <a:off x="3216419" y="3703320"/>
            <a:ext cx="2651760" cy="2651760"/>
          </a:xfrm>
          <a:prstGeom prst="ellipse">
            <a:avLst/>
          </a:prstGeom>
          <a:solidFill>
            <a:schemeClr val="bg1"/>
          </a:solidFill>
          <a:ln>
            <a:prstDash val="lgDash"/>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0" name="Chord 9"/>
          <p:cNvSpPr/>
          <p:nvPr/>
        </p:nvSpPr>
        <p:spPr>
          <a:xfrm>
            <a:off x="3216419" y="3703320"/>
            <a:ext cx="2651760" cy="2651760"/>
          </a:xfrm>
          <a:prstGeom prst="chord">
            <a:avLst>
              <a:gd name="adj1" fmla="val 21520887"/>
              <a:gd name="adj2" fmla="val 10906445"/>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3170699" y="3352800"/>
            <a:ext cx="274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261670" y="3168134"/>
            <a:ext cx="538930" cy="369332"/>
          </a:xfrm>
          <a:prstGeom prst="rect">
            <a:avLst/>
          </a:prstGeom>
          <a:solidFill>
            <a:schemeClr val="bg1"/>
          </a:solidFill>
        </p:spPr>
        <p:txBody>
          <a:bodyPr wrap="none">
            <a:spAutoFit/>
          </a:bodyPr>
          <a:lstStyle/>
          <a:p>
            <a:r>
              <a:rPr lang="en-US" dirty="0">
                <a:solidFill>
                  <a:srgbClr val="0070C0"/>
                </a:solidFill>
              </a:rPr>
              <a:t>2 m</a:t>
            </a:r>
          </a:p>
        </p:txBody>
      </p:sp>
      <p:cxnSp>
        <p:nvCxnSpPr>
          <p:cNvPr id="13" name="Straight Connector 12"/>
          <p:cNvCxnSpPr/>
          <p:nvPr/>
        </p:nvCxnSpPr>
        <p:spPr>
          <a:xfrm>
            <a:off x="3170699" y="3022193"/>
            <a:ext cx="0" cy="1763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913899" y="3022193"/>
            <a:ext cx="0" cy="17639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4542299" y="6400800"/>
            <a:ext cx="609600" cy="583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5185652" y="6428303"/>
            <a:ext cx="338554" cy="369332"/>
          </a:xfrm>
          <a:prstGeom prst="rect">
            <a:avLst/>
          </a:prstGeom>
          <a:noFill/>
        </p:spPr>
        <p:txBody>
          <a:bodyPr wrap="none" rtlCol="0">
            <a:spAutoFit/>
          </a:bodyPr>
          <a:lstStyle/>
          <a:p>
            <a:r>
              <a:rPr lang="en-US" b="1" dirty="0"/>
              <a:t>X</a:t>
            </a:r>
            <a:endParaRPr lang="en-US" dirty="0"/>
          </a:p>
        </p:txBody>
      </p:sp>
      <p:cxnSp>
        <p:nvCxnSpPr>
          <p:cNvPr id="17" name="Straight Arrow Connector 16"/>
          <p:cNvCxnSpPr/>
          <p:nvPr/>
        </p:nvCxnSpPr>
        <p:spPr>
          <a:xfrm flipV="1">
            <a:off x="4531413" y="5679817"/>
            <a:ext cx="0" cy="72098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4362136" y="5194087"/>
            <a:ext cx="338554" cy="369332"/>
          </a:xfrm>
          <a:prstGeom prst="rect">
            <a:avLst/>
          </a:prstGeom>
          <a:noFill/>
        </p:spPr>
        <p:txBody>
          <a:bodyPr wrap="none" rtlCol="0">
            <a:spAutoFit/>
          </a:bodyPr>
          <a:lstStyle/>
          <a:p>
            <a:r>
              <a:rPr lang="en-US" b="1" dirty="0"/>
              <a:t>Z</a:t>
            </a:r>
            <a:endParaRPr lang="en-US" dirty="0"/>
          </a:p>
        </p:txBody>
      </p:sp>
    </p:spTree>
    <p:extLst>
      <p:ext uri="{BB962C8B-B14F-4D97-AF65-F5344CB8AC3E}">
        <p14:creationId xmlns:p14="http://schemas.microsoft.com/office/powerpoint/2010/main" val="1486813351"/>
      </p:ext>
    </p:extLst>
  </p:cSld>
  <p:clrMapOvr>
    <a:masterClrMapping/>
  </p:clrMapOvr>
</p:sld>
</file>

<file path=ppt/theme/theme1.xml><?xml version="1.0" encoding="utf-8"?>
<a:theme xmlns:a="http://schemas.openxmlformats.org/drawingml/2006/main" name="MA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06DF21F5BB2734A800ED30F3F452129" ma:contentTypeVersion="12" ma:contentTypeDescription="Create a new document." ma:contentTypeScope="" ma:versionID="544d96a5fbac5de9d5d902b535c73fb2">
  <xsd:schema xmlns:xsd="http://www.w3.org/2001/XMLSchema" xmlns:xs="http://www.w3.org/2001/XMLSchema" xmlns:p="http://schemas.microsoft.com/office/2006/metadata/properties" xmlns:ns3="90d05cb5-950f-4f68-bc2c-e17794455b92" xmlns:ns4="b4eab9fa-dbb0-4082-8491-8bd54207a265" targetNamespace="http://schemas.microsoft.com/office/2006/metadata/properties" ma:root="true" ma:fieldsID="7a710efc71c2169bf9c05e5a40dddf12" ns3:_="" ns4:_="">
    <xsd:import namespace="90d05cb5-950f-4f68-bc2c-e17794455b92"/>
    <xsd:import namespace="b4eab9fa-dbb0-4082-8491-8bd54207a26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DateTaken"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d05cb5-950f-4f68-bc2c-e1779445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eab9fa-dbb0-4082-8491-8bd54207a26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EB1464-66D1-425A-BBB5-7A9312BBE9C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5CF5F32-56DC-4068-8B04-457CF34A96F3}">
  <ds:schemaRefs>
    <ds:schemaRef ds:uri="http://schemas.microsoft.com/sharepoint/v3/contenttype/forms"/>
  </ds:schemaRefs>
</ds:datastoreItem>
</file>

<file path=customXml/itemProps3.xml><?xml version="1.0" encoding="utf-8"?>
<ds:datastoreItem xmlns:ds="http://schemas.openxmlformats.org/officeDocument/2006/customXml" ds:itemID="{A43B8A4B-79FE-4529-931C-D64224FA70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d05cb5-950f-4f68-bc2c-e17794455b92"/>
    <ds:schemaRef ds:uri="b4eab9fa-dbb0-4082-8491-8bd54207a2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MA_Template</Template>
  <TotalTime>2565</TotalTime>
  <Words>549</Words>
  <Application>Microsoft Office PowerPoint</Application>
  <PresentationFormat>On-screen Show (4:3)</PresentationFormat>
  <Paragraphs>86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 Math</vt:lpstr>
      <vt:lpstr>MA_Template</vt:lpstr>
      <vt:lpstr>Centroids of Volumes and the Center of Mass via Composite Parts</vt:lpstr>
      <vt:lpstr>Centroid of a Volume via Composite Parts</vt:lpstr>
      <vt:lpstr>Centroids in 3D</vt:lpstr>
      <vt:lpstr>Center of Mass</vt:lpstr>
      <vt:lpstr>Center of Mass</vt:lpstr>
      <vt:lpstr>Centroid of a Volume vs Center of Mass</vt:lpstr>
      <vt:lpstr>Thanks for Watching</vt:lpstr>
      <vt:lpstr>Worked Example</vt:lpstr>
      <vt:lpstr>Worked Example</vt:lpstr>
      <vt:lpstr>Worked Example</vt:lpstr>
    </vt:vector>
  </TitlesOfParts>
  <Company>The Pennsylvania State University at Mont Alto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 MCH 212 (Dynamics)</dc:title>
  <dc:creator>Jacob Moore</dc:creator>
  <cp:lastModifiedBy>Moore, Jacob Preston</cp:lastModifiedBy>
  <cp:revision>133</cp:revision>
  <dcterms:created xsi:type="dcterms:W3CDTF">2014-01-09T21:04:08Z</dcterms:created>
  <dcterms:modified xsi:type="dcterms:W3CDTF">2025-07-24T19:45:51Z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0x010100A06DF21F5BB2734A800ED30F3F452129</vt:lpwstr>
  </property>
</Properties>
</file>